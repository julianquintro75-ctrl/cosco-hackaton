
<file path=[Content_Types].xml><?xml version="1.0" encoding="utf-8"?>
<Types xmlns="http://schemas.openxmlformats.org/package/2006/content-types">
  <Default Extension="gif" ContentType="image/gif"/>
  <Default Extension="jpg" ContentType="image/jpeg"/>
  <Default Extension="odttf" ContentType="application/vnd.openxmlformats-officedocument.obfuscatedFont"/>
  <Default Extension="png" ContentType="image/png"/>
  <Default Extension="rels" ContentType="application/vnd.openxmlformats-package.relationships+xml"/>
  <Default Extension="xml" ContentType="application/xml"/>
  <Override PartName="/ppt/theme/theme1.xml" ContentType="application/vnd.openxmlformats-officedocument.theme+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tableStyles.xml" ContentType="application/vnd.openxmlformats-officedocument.presentationml.tableStyles+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2" Type="http://schemas.openxmlformats.org/officeDocument/2006/relationships/custom-properties" Target="docProps/custom.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1"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54399A4E-D85B-4455-A2F1-B83CA0E6E0C5}">
  <a:tblStyle styleId="{54399A4E-D85B-4455-A2F1-B83CA0E6E0C5}"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9EFF7"/>
          </a:solidFill>
        </a:fill>
      </a:tcStyle>
    </a:wholeTbl>
    <a:band1H>
      <a:tcTxStyle/>
      <a:tcStyle>
        <a:fill>
          <a:solidFill>
            <a:srgbClr val="D0DEEF"/>
          </a:solidFill>
        </a:fill>
      </a:tcStyle>
    </a:band1H>
    <a:band2H>
      <a:tcTxStyle/>
    </a:band2H>
    <a:band1V>
      <a:tcTxStyle/>
      <a:tcStyle>
        <a:fill>
          <a:solidFill>
            <a:srgbClr val="D0DEEF"/>
          </a:solidFill>
        </a:fill>
      </a:tcStyle>
    </a:band1V>
    <a:band2V>
      <a:tcTxStyle/>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 styleId="{6BB7EA19-134A-4353-B84C-D1BC6A298CFA}" styleName="Table_1">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customXml" Target="../customXml/item1.xml"/><Relationship Id="rId21" Type="http://schemas.openxmlformats.org/officeDocument/2006/relationships/slide" Target="slides/slide16.xml"/><Relationship Id="rId3" Type="http://schemas.openxmlformats.org/officeDocument/2006/relationships/tableStyles" Target="tableStyles.xml"/><Relationship Id="rId25" Type="http://schemas.openxmlformats.org/officeDocument/2006/relationships/slide" Target="slides/slide20.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0" Type="http://schemas.openxmlformats.org/officeDocument/2006/relationships/slide" Target="slides/slide15.xml"/><Relationship Id="rId2" Type="http://schemas.openxmlformats.org/officeDocument/2006/relationships/presProps" Target="presProps.xml"/><Relationship Id="rId16" Type="http://schemas.openxmlformats.org/officeDocument/2006/relationships/slide" Target="slides/slide11.xml"/><Relationship Id="rId24" Type="http://schemas.openxmlformats.org/officeDocument/2006/relationships/slide" Target="slides/slide19.xml"/><Relationship Id="rId1" Type="http://schemas.openxmlformats.org/officeDocument/2006/relationships/theme" Target="theme/theme1.xml"/><Relationship Id="rId6" Type="http://schemas.openxmlformats.org/officeDocument/2006/relationships/slide" Target="slides/slide1.xml"/><Relationship Id="rId11" Type="http://schemas.openxmlformats.org/officeDocument/2006/relationships/slide" Target="slides/slide6.xml"/><Relationship Id="rId23" Type="http://schemas.openxmlformats.org/officeDocument/2006/relationships/slide" Target="slides/slide18.xml"/><Relationship Id="rId5" Type="http://schemas.openxmlformats.org/officeDocument/2006/relationships/notesMaster" Target="notesMasters/notesMaster1.xml"/><Relationship Id="rId15" Type="http://schemas.openxmlformats.org/officeDocument/2006/relationships/slide" Target="slides/slide10.xml"/><Relationship Id="rId28" Type="http://schemas.openxmlformats.org/officeDocument/2006/relationships/customXml" Target="../customXml/item3.xml"/><Relationship Id="rId10" Type="http://schemas.openxmlformats.org/officeDocument/2006/relationships/slide" Target="slides/slide5.xml"/><Relationship Id="rId19" Type="http://schemas.openxmlformats.org/officeDocument/2006/relationships/slide" Target="slides/slide14.xml"/><Relationship Id="rId22" Type="http://schemas.openxmlformats.org/officeDocument/2006/relationships/slide" Target="slides/slide17.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7" Type="http://schemas.openxmlformats.org/officeDocument/2006/relationships/customXml" Target="../customXml/item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2" name="Google Shape;52;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 name="Google Shape;53;p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6" name="Google Shape;66;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7" name="Google Shape;67;p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7" name="Google Shape;117;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8" name="Google Shape;118;p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1" name="Google Shape;141;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2" name="Google Shape;142;p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8" name="Google Shape;188;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9" name="Google Shape;189;p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2" name="Google Shape;232;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3" name="Google Shape;233;p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5" name="Google Shape;285;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6" name="Google Shape;286;p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46" name="Google Shape;346;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7" name="Google Shape;347;p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6" name="Shape 396"/>
        <p:cNvGrpSpPr/>
        <p:nvPr/>
      </p:nvGrpSpPr>
      <p:grpSpPr>
        <a:xfrm>
          <a:off x="0" y="0"/>
          <a:ext cx="0" cy="0"/>
          <a:chOff x="0" y="0"/>
          <a:chExt cx="0" cy="0"/>
        </a:xfrm>
      </p:grpSpPr>
      <p:sp>
        <p:nvSpPr>
          <p:cNvPr id="397" name="Google Shape;397;p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98" name="Google Shape;398;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9" name="Google Shape;399;p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p1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36" name="Google Shape;436;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7" name="Google Shape;437;p1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1" name="Shape 451"/>
        <p:cNvGrpSpPr/>
        <p:nvPr/>
      </p:nvGrpSpPr>
      <p:grpSpPr>
        <a:xfrm>
          <a:off x="0" y="0"/>
          <a:ext cx="0" cy="0"/>
          <a:chOff x="0" y="0"/>
          <a:chExt cx="0" cy="0"/>
        </a:xfrm>
      </p:grpSpPr>
      <p:sp>
        <p:nvSpPr>
          <p:cNvPr id="452" name="Google Shape;452;j1_slide: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53" name="Google Shape;453;j1_slide: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454" name="Google Shape;454;j1_slide: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9" name="Shape 469"/>
        <p:cNvGrpSpPr/>
        <p:nvPr/>
      </p:nvGrpSpPr>
      <p:grpSpPr>
        <a:xfrm>
          <a:off x="0" y="0"/>
          <a:ext cx="0" cy="0"/>
          <a:chOff x="0" y="0"/>
          <a:chExt cx="0" cy="0"/>
        </a:xfrm>
      </p:grpSpPr>
      <p:sp>
        <p:nvSpPr>
          <p:cNvPr id="470" name="Google Shape;470;j2_slide: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71" name="Google Shape;471;j2_slide: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472" name="Google Shape;472;j2_slide: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0" name="Shape 500"/>
        <p:cNvGrpSpPr/>
        <p:nvPr/>
      </p:nvGrpSpPr>
      <p:grpSpPr>
        <a:xfrm>
          <a:off x="0" y="0"/>
          <a:ext cx="0" cy="0"/>
          <a:chOff x="0" y="0"/>
          <a:chExt cx="0" cy="0"/>
        </a:xfrm>
      </p:grpSpPr>
      <p:sp>
        <p:nvSpPr>
          <p:cNvPr id="501" name="Google Shape;501;p1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02" name="Google Shape;502;p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3" name="Google Shape;503;p1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6" name="Shape 516"/>
        <p:cNvGrpSpPr/>
        <p:nvPr/>
      </p:nvGrpSpPr>
      <p:grpSpPr>
        <a:xfrm>
          <a:off x="0" y="0"/>
          <a:ext cx="0" cy="0"/>
          <a:chOff x="0" y="0"/>
          <a:chExt cx="0" cy="0"/>
        </a:xfrm>
      </p:grpSpPr>
      <p:sp>
        <p:nvSpPr>
          <p:cNvPr id="517" name="Google Shape;517;p1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18" name="Google Shape;518;p1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9" name="Google Shape;519;p1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5" name="Shape 535"/>
        <p:cNvGrpSpPr/>
        <p:nvPr/>
      </p:nvGrpSpPr>
      <p:grpSpPr>
        <a:xfrm>
          <a:off x="0" y="0"/>
          <a:ext cx="0" cy="0"/>
          <a:chOff x="0" y="0"/>
          <a:chExt cx="0" cy="0"/>
        </a:xfrm>
      </p:grpSpPr>
      <p:sp>
        <p:nvSpPr>
          <p:cNvPr id="536" name="Google Shape;536;j3_slide: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37" name="Google Shape;537;j3_slide: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538" name="Google Shape;538;j3_slide: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8" name="Shape 568"/>
        <p:cNvGrpSpPr/>
        <p:nvPr/>
      </p:nvGrpSpPr>
      <p:grpSpPr>
        <a:xfrm>
          <a:off x="0" y="0"/>
          <a:ext cx="0" cy="0"/>
          <a:chOff x="0" y="0"/>
          <a:chExt cx="0" cy="0"/>
        </a:xfrm>
      </p:grpSpPr>
      <p:sp>
        <p:nvSpPr>
          <p:cNvPr id="569" name="Google Shape;569;p1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70" name="Google Shape;570;p1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571" name="Google Shape;571;p1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2" name="Shape 612"/>
        <p:cNvGrpSpPr/>
        <p:nvPr/>
      </p:nvGrpSpPr>
      <p:grpSpPr>
        <a:xfrm>
          <a:off x="0" y="0"/>
          <a:ext cx="0" cy="0"/>
          <a:chOff x="0" y="0"/>
          <a:chExt cx="0" cy="0"/>
        </a:xfrm>
      </p:grpSpPr>
      <p:sp>
        <p:nvSpPr>
          <p:cNvPr id="613" name="Google Shape;613;p1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14" name="Google Shape;614;p1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615" name="Google Shape;615;p1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6" name="Shape 656"/>
        <p:cNvGrpSpPr/>
        <p:nvPr/>
      </p:nvGrpSpPr>
      <p:grpSpPr>
        <a:xfrm>
          <a:off x="0" y="0"/>
          <a:ext cx="0" cy="0"/>
          <a:chOff x="0" y="0"/>
          <a:chExt cx="0" cy="0"/>
        </a:xfrm>
      </p:grpSpPr>
      <p:sp>
        <p:nvSpPr>
          <p:cNvPr id="657" name="Google Shape;657;ref_slide: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58" name="Google Shape;658;ref_slide: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659" name="Google Shape;659;ref_slide: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1" name="Shape 671"/>
        <p:cNvGrpSpPr/>
        <p:nvPr/>
      </p:nvGrpSpPr>
      <p:grpSpPr>
        <a:xfrm>
          <a:off x="0" y="0"/>
          <a:ext cx="0" cy="0"/>
          <a:chOff x="0" y="0"/>
          <a:chExt cx="0" cy="0"/>
        </a:xfrm>
      </p:grpSpPr>
      <p:sp>
        <p:nvSpPr>
          <p:cNvPr id="672" name="Google Shape;672;p1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73" name="Google Shape;673;p1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Reparto grueso del equipo según CLAUDE.md, sección 8.</a:t>
            </a:r>
            <a:endParaRPr/>
          </a:p>
        </p:txBody>
      </p:sp>
      <p:sp>
        <p:nvSpPr>
          <p:cNvPr id="674" name="Google Shape;674;p1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4" name="Shape 694"/>
        <p:cNvGrpSpPr/>
        <p:nvPr/>
      </p:nvGrpSpPr>
      <p:grpSpPr>
        <a:xfrm>
          <a:off x="0" y="0"/>
          <a:ext cx="0" cy="0"/>
          <a:chOff x="0" y="0"/>
          <a:chExt cx="0" cy="0"/>
        </a:xfrm>
      </p:grpSpPr>
      <p:sp>
        <p:nvSpPr>
          <p:cNvPr id="695" name="Google Shape;695;h7e57ebd988b78ab_0_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96" name="Google Shape;696;h7e57ebd988b78ab_0_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97" name="Google Shape;697;h7e57ebd988b78ab_0_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de título" type="title">
  <p:cSld name="TITLE">
    <p:bg>
      <p:bgPr>
        <a:blipFill>
          <a:blip r:embed="rId2">
            <a:alphaModFix/>
          </a:blip>
          <a:stretch>
            <a:fillRect/>
          </a:stretch>
        </a:blipFill>
      </p:bgPr>
    </p:bg>
    <p:spTree>
      <p:nvGrpSpPr>
        <p:cNvPr id="8" name="Shape 8"/>
        <p:cNvGrpSpPr/>
        <p:nvPr/>
      </p:nvGrpSpPr>
      <p:grpSpPr>
        <a:xfrm>
          <a:off x="0" y="0"/>
          <a:ext cx="0" cy="0"/>
          <a:chOff x="0" y="0"/>
          <a:chExt cx="0" cy="0"/>
        </a:xfrm>
      </p:grpSpPr>
      <p:sp>
        <p:nvSpPr>
          <p:cNvPr id="9" name="Google Shape;9;p2"/>
          <p:cNvSpPr txBox="1"/>
          <p:nvPr>
            <p:ph type="ctrTitle"/>
          </p:nvPr>
        </p:nvSpPr>
        <p:spPr>
          <a:xfrm>
            <a:off x="6391467" y="4348064"/>
            <a:ext cx="5411758" cy="1334278"/>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600"/>
              <a:buFont typeface="Calibri"/>
              <a:buNone/>
              <a:defRPr sz="36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 name="Google Shape;10;p2"/>
          <p:cNvSpPr txBox="1"/>
          <p:nvPr>
            <p:ph idx="1" type="subTitle"/>
          </p:nvPr>
        </p:nvSpPr>
        <p:spPr>
          <a:xfrm>
            <a:off x="6391468" y="5682342"/>
            <a:ext cx="5411758" cy="522092"/>
          </a:xfrm>
          <a:prstGeom prst="rect">
            <a:avLst/>
          </a:prstGeom>
          <a:noFill/>
          <a:ln>
            <a:noFill/>
          </a:ln>
        </p:spPr>
        <p:txBody>
          <a:bodyPr anchorCtr="0" anchor="t" bIns="45700" lIns="91425" spcFirstLastPara="1" rIns="91425" wrap="square" tIns="45700">
            <a:normAutofit/>
          </a:bodyPr>
          <a:lstStyle>
            <a:lvl1pPr lvl="0" algn="l">
              <a:lnSpc>
                <a:spcPct val="90000"/>
              </a:lnSpc>
              <a:spcBef>
                <a:spcPts val="1000"/>
              </a:spcBef>
              <a:spcAft>
                <a:spcPts val="0"/>
              </a:spcAft>
              <a:buSzPts val="1800"/>
              <a:buNone/>
              <a:defRPr i="1" sz="1800" u="none">
                <a:solidFill>
                  <a:schemeClr val="dk1"/>
                </a:solidFill>
              </a:defRPr>
            </a:lvl1pPr>
            <a:lvl2pPr lvl="1" algn="ctr">
              <a:lnSpc>
                <a:spcPct val="90000"/>
              </a:lnSpc>
              <a:spcBef>
                <a:spcPts val="500"/>
              </a:spcBef>
              <a:spcAft>
                <a:spcPts val="0"/>
              </a:spcAft>
              <a:buSzPts val="2000"/>
              <a:buNone/>
              <a:defRPr sz="2000"/>
            </a:lvl2pPr>
            <a:lvl3pPr lvl="2" algn="ctr">
              <a:lnSpc>
                <a:spcPct val="90000"/>
              </a:lnSpc>
              <a:spcBef>
                <a:spcPts val="500"/>
              </a:spcBef>
              <a:spcAft>
                <a:spcPts val="0"/>
              </a:spcAft>
              <a:buSzPts val="1800"/>
              <a:buNone/>
              <a:defRPr sz="1800"/>
            </a:lvl3pPr>
            <a:lvl4pPr lvl="3" algn="ctr">
              <a:lnSpc>
                <a:spcPct val="90000"/>
              </a:lnSpc>
              <a:spcBef>
                <a:spcPts val="500"/>
              </a:spcBef>
              <a:spcAft>
                <a:spcPts val="0"/>
              </a:spcAft>
              <a:buSzPts val="1600"/>
              <a:buNone/>
              <a:defRPr sz="1600"/>
            </a:lvl4pPr>
            <a:lvl5pPr lvl="4" algn="ctr">
              <a:lnSpc>
                <a:spcPct val="90000"/>
              </a:lnSpc>
              <a:spcBef>
                <a:spcPts val="500"/>
              </a:spcBef>
              <a:spcAft>
                <a:spcPts val="0"/>
              </a:spcAft>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lo el título" type="titleOnly">
  <p:cSld name="TITLE_ONLY">
    <p:bg>
      <p:bgPr>
        <a:blipFill>
          <a:blip r:embed="rId2">
            <a:alphaModFix/>
          </a:blip>
          <a:stretch>
            <a:fillRect/>
          </a:stretch>
        </a:blipFill>
      </p:bgPr>
    </p:bg>
    <p:spTree>
      <p:nvGrpSpPr>
        <p:cNvPr id="11" name="Shape 11"/>
        <p:cNvGrpSpPr/>
        <p:nvPr/>
      </p:nvGrpSpPr>
      <p:grpSpPr>
        <a:xfrm>
          <a:off x="0" y="0"/>
          <a:ext cx="0" cy="0"/>
          <a:chOff x="0" y="0"/>
          <a:chExt cx="0" cy="0"/>
        </a:xfrm>
      </p:grpSpPr>
      <p:sp>
        <p:nvSpPr>
          <p:cNvPr id="12" name="Google Shape;12;p3"/>
          <p:cNvSpPr txBox="1"/>
          <p:nvPr>
            <p:ph type="title"/>
          </p:nvPr>
        </p:nvSpPr>
        <p:spPr>
          <a:xfrm>
            <a:off x="838200" y="1110313"/>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inal">
  <p:cSld name="Final">
    <p:bg>
      <p:bgPr>
        <a:blipFill>
          <a:blip r:embed="rId2">
            <a:alphaModFix/>
          </a:blip>
          <a:stretch>
            <a:fillRect/>
          </a:stretch>
        </a:blipFill>
      </p:bgPr>
    </p:bg>
    <p:spTree>
      <p:nvGrpSpPr>
        <p:cNvPr id="13" name="Shape 13"/>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bg>
      <p:bgPr>
        <a:blipFill>
          <a:blip r:embed="rId2">
            <a:alphaModFix/>
          </a:blip>
          <a:stretch>
            <a:fillRect/>
          </a:stretch>
        </a:blipFill>
      </p:bgPr>
    </p:bg>
    <p:spTree>
      <p:nvGrpSpPr>
        <p:cNvPr id="14" name="Shape 14"/>
        <p:cNvGrpSpPr/>
        <p:nvPr/>
      </p:nvGrpSpPr>
      <p:grpSpPr>
        <a:xfrm>
          <a:off x="0" y="0"/>
          <a:ext cx="0" cy="0"/>
          <a:chOff x="0" y="0"/>
          <a:chExt cx="0" cy="0"/>
        </a:xfrm>
      </p:grpSpPr>
      <p:sp>
        <p:nvSpPr>
          <p:cNvPr id="15" name="Google Shape;15;p5"/>
          <p:cNvSpPr txBox="1"/>
          <p:nvPr>
            <p:ph type="title"/>
          </p:nvPr>
        </p:nvSpPr>
        <p:spPr>
          <a:xfrm>
            <a:off x="838200" y="1110313"/>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 name="Google Shape;16;p5"/>
          <p:cNvSpPr txBox="1"/>
          <p:nvPr>
            <p:ph idx="1" type="body"/>
          </p:nvPr>
        </p:nvSpPr>
        <p:spPr>
          <a:xfrm>
            <a:off x="838200" y="2570813"/>
            <a:ext cx="10515600" cy="3828726"/>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SzPts val="1800"/>
              <a:buChar char="•"/>
              <a:defRPr/>
            </a:lvl1pPr>
            <a:lvl2pPr indent="-342900" lvl="1" marL="914400" algn="l">
              <a:lnSpc>
                <a:spcPct val="90000"/>
              </a:lnSpc>
              <a:spcBef>
                <a:spcPts val="500"/>
              </a:spcBef>
              <a:spcAft>
                <a:spcPts val="0"/>
              </a:spcAft>
              <a:buSzPts val="1800"/>
              <a:buChar char="•"/>
              <a:defRPr/>
            </a:lvl2pPr>
            <a:lvl3pPr indent="-342900" lvl="2" marL="1371600" algn="l">
              <a:lnSpc>
                <a:spcPct val="90000"/>
              </a:lnSpc>
              <a:spcBef>
                <a:spcPts val="500"/>
              </a:spcBef>
              <a:spcAft>
                <a:spcPts val="0"/>
              </a:spcAft>
              <a:buSzPts val="1800"/>
              <a:buChar char="•"/>
              <a:defRPr/>
            </a:lvl3pPr>
            <a:lvl4pPr indent="-342900" lvl="3" marL="1828800" algn="l">
              <a:lnSpc>
                <a:spcPct val="90000"/>
              </a:lnSpc>
              <a:spcBef>
                <a:spcPts val="500"/>
              </a:spcBef>
              <a:spcAft>
                <a:spcPts val="0"/>
              </a:spcAft>
              <a:buSzPts val="1800"/>
              <a:buChar char="•"/>
              <a:defRPr/>
            </a:lvl4pPr>
            <a:lvl5pPr indent="-342900" lvl="4" marL="2286000" algn="l">
              <a:lnSpc>
                <a:spcPct val="90000"/>
              </a:lnSpc>
              <a:spcBef>
                <a:spcPts val="500"/>
              </a:spcBef>
              <a:spcAft>
                <a:spcPts val="0"/>
              </a:spcAft>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seño personalizado">
  <p:cSld name="Diseño personalizado">
    <p:bg>
      <p:bgPr>
        <a:blipFill>
          <a:blip r:embed="rId2">
            <a:alphaModFix/>
          </a:blip>
          <a:stretch>
            <a:fillRect/>
          </a:stretch>
        </a:blipFill>
      </p:bgPr>
    </p:bg>
    <p:spTree>
      <p:nvGrpSpPr>
        <p:cNvPr id="17" name="Shape 17"/>
        <p:cNvGrpSpPr/>
        <p:nvPr/>
      </p:nvGrpSpPr>
      <p:grpSpPr>
        <a:xfrm>
          <a:off x="0" y="0"/>
          <a:ext cx="0" cy="0"/>
          <a:chOff x="0" y="0"/>
          <a:chExt cx="0" cy="0"/>
        </a:xfrm>
      </p:grpSpPr>
      <p:sp>
        <p:nvSpPr>
          <p:cNvPr id="18" name="Google Shape;18;p6"/>
          <p:cNvSpPr txBox="1"/>
          <p:nvPr>
            <p:ph type="title"/>
          </p:nvPr>
        </p:nvSpPr>
        <p:spPr>
          <a:xfrm>
            <a:off x="838200" y="1110313"/>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cabezado de sección" type="secHead">
  <p:cSld name="SECTION_HEADER">
    <p:bg>
      <p:bgPr>
        <a:blipFill>
          <a:blip r:embed="rId2">
            <a:alphaModFix/>
          </a:blip>
          <a:stretch>
            <a:fillRect/>
          </a:stretch>
        </a:blipFill>
      </p:bgPr>
    </p:bg>
    <p:spTree>
      <p:nvGrpSpPr>
        <p:cNvPr id="19" name="Shape 19"/>
        <p:cNvGrpSpPr/>
        <p:nvPr/>
      </p:nvGrpSpPr>
      <p:grpSpPr>
        <a:xfrm>
          <a:off x="0" y="0"/>
          <a:ext cx="0" cy="0"/>
          <a:chOff x="0" y="0"/>
          <a:chExt cx="0" cy="0"/>
        </a:xfrm>
      </p:grpSpPr>
      <p:sp>
        <p:nvSpPr>
          <p:cNvPr id="20" name="Google Shape;20;p7"/>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 name="Google Shape;21;p7"/>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SzPts val="2400"/>
              <a:buNone/>
              <a:defRPr sz="2400">
                <a:solidFill>
                  <a:srgbClr val="888888"/>
                </a:solidFill>
              </a:defRPr>
            </a:lvl1pPr>
            <a:lvl2pPr indent="-228600" lvl="1" marL="914400" algn="l">
              <a:lnSpc>
                <a:spcPct val="90000"/>
              </a:lnSpc>
              <a:spcBef>
                <a:spcPts val="500"/>
              </a:spcBef>
              <a:spcAft>
                <a:spcPts val="0"/>
              </a:spcAft>
              <a:buSzPts val="2000"/>
              <a:buNone/>
              <a:defRPr sz="2000">
                <a:solidFill>
                  <a:srgbClr val="888888"/>
                </a:solidFill>
              </a:defRPr>
            </a:lvl2pPr>
            <a:lvl3pPr indent="-228600" lvl="2" marL="1371600" algn="l">
              <a:lnSpc>
                <a:spcPct val="90000"/>
              </a:lnSpc>
              <a:spcBef>
                <a:spcPts val="500"/>
              </a:spcBef>
              <a:spcAft>
                <a:spcPts val="0"/>
              </a:spcAft>
              <a:buSzPts val="1800"/>
              <a:buNone/>
              <a:defRPr sz="1800">
                <a:solidFill>
                  <a:srgbClr val="888888"/>
                </a:solidFill>
              </a:defRPr>
            </a:lvl3pPr>
            <a:lvl4pPr indent="-228600" lvl="3" marL="1828800" algn="l">
              <a:lnSpc>
                <a:spcPct val="90000"/>
              </a:lnSpc>
              <a:spcBef>
                <a:spcPts val="500"/>
              </a:spcBef>
              <a:spcAft>
                <a:spcPts val="0"/>
              </a:spcAft>
              <a:buSzPts val="1600"/>
              <a:buNone/>
              <a:defRPr sz="1600">
                <a:solidFill>
                  <a:srgbClr val="888888"/>
                </a:solidFill>
              </a:defRPr>
            </a:lvl4pPr>
            <a:lvl5pPr indent="-228600" lvl="4" marL="2286000" algn="l">
              <a:lnSpc>
                <a:spcPct val="90000"/>
              </a:lnSpc>
              <a:spcBef>
                <a:spcPts val="500"/>
              </a:spcBef>
              <a:spcAft>
                <a:spcPts val="0"/>
              </a:spcAft>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os objetos" type="twoObj">
  <p:cSld name="TWO_OBJECTS">
    <p:bg>
      <p:bgPr>
        <a:blipFill>
          <a:blip r:embed="rId2">
            <a:alphaModFix/>
          </a:blip>
          <a:stretch>
            <a:fillRect/>
          </a:stretch>
        </a:blipFill>
      </p:bgPr>
    </p:bg>
    <p:spTree>
      <p:nvGrpSpPr>
        <p:cNvPr id="22" name="Shape 22"/>
        <p:cNvGrpSpPr/>
        <p:nvPr/>
      </p:nvGrpSpPr>
      <p:grpSpPr>
        <a:xfrm>
          <a:off x="0" y="0"/>
          <a:ext cx="0" cy="0"/>
          <a:chOff x="0" y="0"/>
          <a:chExt cx="0" cy="0"/>
        </a:xfrm>
      </p:grpSpPr>
      <p:sp>
        <p:nvSpPr>
          <p:cNvPr id="23" name="Google Shape;23;p8"/>
          <p:cNvSpPr txBox="1"/>
          <p:nvPr>
            <p:ph type="title"/>
          </p:nvPr>
        </p:nvSpPr>
        <p:spPr>
          <a:xfrm>
            <a:off x="838200" y="952950"/>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 name="Google Shape;24;p8"/>
          <p:cNvSpPr txBox="1"/>
          <p:nvPr>
            <p:ph idx="1" type="body"/>
          </p:nvPr>
        </p:nvSpPr>
        <p:spPr>
          <a:xfrm>
            <a:off x="838200" y="2376132"/>
            <a:ext cx="5181600" cy="4108646"/>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SzPts val="1800"/>
              <a:buChar char="•"/>
              <a:defRPr/>
            </a:lvl1pPr>
            <a:lvl2pPr indent="-342900" lvl="1" marL="914400" algn="l">
              <a:lnSpc>
                <a:spcPct val="90000"/>
              </a:lnSpc>
              <a:spcBef>
                <a:spcPts val="500"/>
              </a:spcBef>
              <a:spcAft>
                <a:spcPts val="0"/>
              </a:spcAft>
              <a:buSzPts val="1800"/>
              <a:buChar char="•"/>
              <a:defRPr/>
            </a:lvl2pPr>
            <a:lvl3pPr indent="-342900" lvl="2" marL="1371600" algn="l">
              <a:lnSpc>
                <a:spcPct val="90000"/>
              </a:lnSpc>
              <a:spcBef>
                <a:spcPts val="500"/>
              </a:spcBef>
              <a:spcAft>
                <a:spcPts val="0"/>
              </a:spcAft>
              <a:buSzPts val="1800"/>
              <a:buChar char="•"/>
              <a:defRPr/>
            </a:lvl3pPr>
            <a:lvl4pPr indent="-342900" lvl="3" marL="1828800" algn="l">
              <a:lnSpc>
                <a:spcPct val="90000"/>
              </a:lnSpc>
              <a:spcBef>
                <a:spcPts val="500"/>
              </a:spcBef>
              <a:spcAft>
                <a:spcPts val="0"/>
              </a:spcAft>
              <a:buSzPts val="1800"/>
              <a:buChar char="•"/>
              <a:defRPr/>
            </a:lvl4pPr>
            <a:lvl5pPr indent="-342900" lvl="4" marL="2286000" algn="l">
              <a:lnSpc>
                <a:spcPct val="90000"/>
              </a:lnSpc>
              <a:spcBef>
                <a:spcPts val="500"/>
              </a:spcBef>
              <a:spcAft>
                <a:spcPts val="0"/>
              </a:spcAft>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 name="Google Shape;25;p8"/>
          <p:cNvSpPr txBox="1"/>
          <p:nvPr>
            <p:ph idx="2" type="body"/>
          </p:nvPr>
        </p:nvSpPr>
        <p:spPr>
          <a:xfrm>
            <a:off x="6172200" y="2376132"/>
            <a:ext cx="5181600" cy="4108646"/>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SzPts val="1800"/>
              <a:buChar char="•"/>
              <a:defRPr/>
            </a:lvl1pPr>
            <a:lvl2pPr indent="-342900" lvl="1" marL="914400" algn="l">
              <a:lnSpc>
                <a:spcPct val="90000"/>
              </a:lnSpc>
              <a:spcBef>
                <a:spcPts val="500"/>
              </a:spcBef>
              <a:spcAft>
                <a:spcPts val="0"/>
              </a:spcAft>
              <a:buSzPts val="1800"/>
              <a:buChar char="•"/>
              <a:defRPr/>
            </a:lvl2pPr>
            <a:lvl3pPr indent="-342900" lvl="2" marL="1371600" algn="l">
              <a:lnSpc>
                <a:spcPct val="90000"/>
              </a:lnSpc>
              <a:spcBef>
                <a:spcPts val="500"/>
              </a:spcBef>
              <a:spcAft>
                <a:spcPts val="0"/>
              </a:spcAft>
              <a:buSzPts val="1800"/>
              <a:buChar char="•"/>
              <a:defRPr/>
            </a:lvl3pPr>
            <a:lvl4pPr indent="-342900" lvl="3" marL="1828800" algn="l">
              <a:lnSpc>
                <a:spcPct val="90000"/>
              </a:lnSpc>
              <a:spcBef>
                <a:spcPts val="500"/>
              </a:spcBef>
              <a:spcAft>
                <a:spcPts val="0"/>
              </a:spcAft>
              <a:buSzPts val="1800"/>
              <a:buChar char="•"/>
              <a:defRPr/>
            </a:lvl4pPr>
            <a:lvl5pPr indent="-342900" lvl="4" marL="2286000" algn="l">
              <a:lnSpc>
                <a:spcPct val="90000"/>
              </a:lnSpc>
              <a:spcBef>
                <a:spcPts val="500"/>
              </a:spcBef>
              <a:spcAft>
                <a:spcPts val="0"/>
              </a:spcAft>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ción" type="twoTxTwoObj">
  <p:cSld name="TWO_OBJECTS_WITH_TEXT">
    <p:bg>
      <p:bgPr>
        <a:blipFill>
          <a:blip r:embed="rId2">
            <a:alphaModFix/>
          </a:blip>
          <a:stretch>
            <a:fillRect/>
          </a:stretch>
        </a:blipFill>
      </p:bgPr>
    </p:bg>
    <p:spTree>
      <p:nvGrpSpPr>
        <p:cNvPr id="26" name="Shape 26"/>
        <p:cNvGrpSpPr/>
        <p:nvPr/>
      </p:nvGrpSpPr>
      <p:grpSpPr>
        <a:xfrm>
          <a:off x="0" y="0"/>
          <a:ext cx="0" cy="0"/>
          <a:chOff x="0" y="0"/>
          <a:chExt cx="0" cy="0"/>
        </a:xfrm>
      </p:grpSpPr>
      <p:sp>
        <p:nvSpPr>
          <p:cNvPr id="27" name="Google Shape;27;p9"/>
          <p:cNvSpPr txBox="1"/>
          <p:nvPr>
            <p:ph type="title"/>
          </p:nvPr>
        </p:nvSpPr>
        <p:spPr>
          <a:xfrm>
            <a:off x="839788" y="812989"/>
            <a:ext cx="10515600" cy="126725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 name="Google Shape;28;p9"/>
          <p:cNvSpPr txBox="1"/>
          <p:nvPr>
            <p:ph idx="1" type="body"/>
          </p:nvPr>
        </p:nvSpPr>
        <p:spPr>
          <a:xfrm>
            <a:off x="839788" y="2129027"/>
            <a:ext cx="5157787" cy="787669"/>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SzPts val="2400"/>
              <a:buNone/>
              <a:defRPr b="1" sz="2400"/>
            </a:lvl1pPr>
            <a:lvl2pPr indent="-228600" lvl="1" marL="914400" algn="l">
              <a:lnSpc>
                <a:spcPct val="90000"/>
              </a:lnSpc>
              <a:spcBef>
                <a:spcPts val="500"/>
              </a:spcBef>
              <a:spcAft>
                <a:spcPts val="0"/>
              </a:spcAft>
              <a:buSzPts val="2000"/>
              <a:buNone/>
              <a:defRPr b="1" sz="2000"/>
            </a:lvl2pPr>
            <a:lvl3pPr indent="-228600" lvl="2" marL="1371600" algn="l">
              <a:lnSpc>
                <a:spcPct val="90000"/>
              </a:lnSpc>
              <a:spcBef>
                <a:spcPts val="500"/>
              </a:spcBef>
              <a:spcAft>
                <a:spcPts val="0"/>
              </a:spcAft>
              <a:buSzPts val="1800"/>
              <a:buNone/>
              <a:defRPr b="1" sz="1800"/>
            </a:lvl3pPr>
            <a:lvl4pPr indent="-228600" lvl="3" marL="1828800" algn="l">
              <a:lnSpc>
                <a:spcPct val="90000"/>
              </a:lnSpc>
              <a:spcBef>
                <a:spcPts val="500"/>
              </a:spcBef>
              <a:spcAft>
                <a:spcPts val="0"/>
              </a:spcAft>
              <a:buSzPts val="1600"/>
              <a:buNone/>
              <a:defRPr b="1" sz="1600"/>
            </a:lvl4pPr>
            <a:lvl5pPr indent="-228600" lvl="4" marL="2286000" algn="l">
              <a:lnSpc>
                <a:spcPct val="90000"/>
              </a:lnSpc>
              <a:spcBef>
                <a:spcPts val="500"/>
              </a:spcBef>
              <a:spcAft>
                <a:spcPts val="0"/>
              </a:spcAft>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29" name="Google Shape;29;p9"/>
          <p:cNvSpPr txBox="1"/>
          <p:nvPr>
            <p:ph idx="2" type="body"/>
          </p:nvPr>
        </p:nvSpPr>
        <p:spPr>
          <a:xfrm>
            <a:off x="839788" y="2952939"/>
            <a:ext cx="5157787" cy="3522506"/>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SzPts val="1800"/>
              <a:buChar char="•"/>
              <a:defRPr/>
            </a:lvl1pPr>
            <a:lvl2pPr indent="-342900" lvl="1" marL="914400" algn="l">
              <a:lnSpc>
                <a:spcPct val="90000"/>
              </a:lnSpc>
              <a:spcBef>
                <a:spcPts val="500"/>
              </a:spcBef>
              <a:spcAft>
                <a:spcPts val="0"/>
              </a:spcAft>
              <a:buSzPts val="1800"/>
              <a:buChar char="•"/>
              <a:defRPr/>
            </a:lvl2pPr>
            <a:lvl3pPr indent="-342900" lvl="2" marL="1371600" algn="l">
              <a:lnSpc>
                <a:spcPct val="90000"/>
              </a:lnSpc>
              <a:spcBef>
                <a:spcPts val="500"/>
              </a:spcBef>
              <a:spcAft>
                <a:spcPts val="0"/>
              </a:spcAft>
              <a:buSzPts val="1800"/>
              <a:buChar char="•"/>
              <a:defRPr/>
            </a:lvl3pPr>
            <a:lvl4pPr indent="-342900" lvl="3" marL="1828800" algn="l">
              <a:lnSpc>
                <a:spcPct val="90000"/>
              </a:lnSpc>
              <a:spcBef>
                <a:spcPts val="500"/>
              </a:spcBef>
              <a:spcAft>
                <a:spcPts val="0"/>
              </a:spcAft>
              <a:buSzPts val="1800"/>
              <a:buChar char="•"/>
              <a:defRPr/>
            </a:lvl4pPr>
            <a:lvl5pPr indent="-342900" lvl="4" marL="2286000" algn="l">
              <a:lnSpc>
                <a:spcPct val="90000"/>
              </a:lnSpc>
              <a:spcBef>
                <a:spcPts val="500"/>
              </a:spcBef>
              <a:spcAft>
                <a:spcPts val="0"/>
              </a:spcAft>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0" name="Google Shape;30;p9"/>
          <p:cNvSpPr txBox="1"/>
          <p:nvPr>
            <p:ph idx="3" type="body"/>
          </p:nvPr>
        </p:nvSpPr>
        <p:spPr>
          <a:xfrm>
            <a:off x="6172200" y="2129027"/>
            <a:ext cx="5183188" cy="808664"/>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SzPts val="2400"/>
              <a:buNone/>
              <a:defRPr b="1" sz="2400"/>
            </a:lvl1pPr>
            <a:lvl2pPr indent="-228600" lvl="1" marL="914400" algn="l">
              <a:lnSpc>
                <a:spcPct val="90000"/>
              </a:lnSpc>
              <a:spcBef>
                <a:spcPts val="500"/>
              </a:spcBef>
              <a:spcAft>
                <a:spcPts val="0"/>
              </a:spcAft>
              <a:buSzPts val="2000"/>
              <a:buNone/>
              <a:defRPr b="1" sz="2000"/>
            </a:lvl2pPr>
            <a:lvl3pPr indent="-228600" lvl="2" marL="1371600" algn="l">
              <a:lnSpc>
                <a:spcPct val="90000"/>
              </a:lnSpc>
              <a:spcBef>
                <a:spcPts val="500"/>
              </a:spcBef>
              <a:spcAft>
                <a:spcPts val="0"/>
              </a:spcAft>
              <a:buSzPts val="1800"/>
              <a:buNone/>
              <a:defRPr b="1" sz="1800"/>
            </a:lvl3pPr>
            <a:lvl4pPr indent="-228600" lvl="3" marL="1828800" algn="l">
              <a:lnSpc>
                <a:spcPct val="90000"/>
              </a:lnSpc>
              <a:spcBef>
                <a:spcPts val="500"/>
              </a:spcBef>
              <a:spcAft>
                <a:spcPts val="0"/>
              </a:spcAft>
              <a:buSzPts val="1600"/>
              <a:buNone/>
              <a:defRPr b="1" sz="1600"/>
            </a:lvl4pPr>
            <a:lvl5pPr indent="-228600" lvl="4" marL="2286000" algn="l">
              <a:lnSpc>
                <a:spcPct val="90000"/>
              </a:lnSpc>
              <a:spcBef>
                <a:spcPts val="500"/>
              </a:spcBef>
              <a:spcAft>
                <a:spcPts val="0"/>
              </a:spcAft>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1" name="Google Shape;31;p9"/>
          <p:cNvSpPr txBox="1"/>
          <p:nvPr>
            <p:ph idx="4" type="body"/>
          </p:nvPr>
        </p:nvSpPr>
        <p:spPr>
          <a:xfrm>
            <a:off x="6172200" y="2952939"/>
            <a:ext cx="5183188" cy="3522506"/>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SzPts val="1800"/>
              <a:buChar char="•"/>
              <a:defRPr/>
            </a:lvl1pPr>
            <a:lvl2pPr indent="-342900" lvl="1" marL="914400" algn="l">
              <a:lnSpc>
                <a:spcPct val="90000"/>
              </a:lnSpc>
              <a:spcBef>
                <a:spcPts val="500"/>
              </a:spcBef>
              <a:spcAft>
                <a:spcPts val="0"/>
              </a:spcAft>
              <a:buSzPts val="1800"/>
              <a:buChar char="•"/>
              <a:defRPr/>
            </a:lvl2pPr>
            <a:lvl3pPr indent="-342900" lvl="2" marL="1371600" algn="l">
              <a:lnSpc>
                <a:spcPct val="90000"/>
              </a:lnSpc>
              <a:spcBef>
                <a:spcPts val="500"/>
              </a:spcBef>
              <a:spcAft>
                <a:spcPts val="0"/>
              </a:spcAft>
              <a:buSzPts val="1800"/>
              <a:buChar char="•"/>
              <a:defRPr/>
            </a:lvl3pPr>
            <a:lvl4pPr indent="-342900" lvl="3" marL="1828800" algn="l">
              <a:lnSpc>
                <a:spcPct val="90000"/>
              </a:lnSpc>
              <a:spcBef>
                <a:spcPts val="500"/>
              </a:spcBef>
              <a:spcAft>
                <a:spcPts val="0"/>
              </a:spcAft>
              <a:buSzPts val="1800"/>
              <a:buChar char="•"/>
              <a:defRPr/>
            </a:lvl4pPr>
            <a:lvl5pPr indent="-342900" lvl="4" marL="2286000" algn="l">
              <a:lnSpc>
                <a:spcPct val="90000"/>
              </a:lnSpc>
              <a:spcBef>
                <a:spcPts val="500"/>
              </a:spcBef>
              <a:spcAft>
                <a:spcPts val="0"/>
              </a:spcAft>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 blanco" type="blank">
  <p:cSld name="BLANK">
    <p:bg>
      <p:bgPr>
        <a:blipFill>
          <a:blip r:embed="rId2">
            <a:alphaModFix/>
          </a:blip>
          <a:stretch>
            <a:fillRect/>
          </a:stretch>
        </a:blipFill>
      </p:bgPr>
    </p:bg>
    <p:spTree>
      <p:nvGrpSpPr>
        <p:cNvPr id="32" name="Shape 32"/>
        <p:cNvGrpSpPr/>
        <p:nvPr/>
      </p:nvGrpSpPr>
      <p:grpSpPr>
        <a:xfrm>
          <a:off x="0" y="0"/>
          <a:ext cx="0" cy="0"/>
          <a:chOff x="0" y="0"/>
          <a:chExt cx="0" cy="0"/>
        </a:xfrm>
      </p:grpSpPr>
      <p:sp>
        <p:nvSpPr>
          <p:cNvPr id="33" name="Google Shape;33;p10"/>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4" name="Google Shape;34;p10"/>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5" name="Google Shape;35;p10"/>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b="0" i="0" sz="1800" u="none" cap="none" strike="noStrike">
                <a:solidFill>
                  <a:schemeClr val="dk1"/>
                </a:solidFill>
                <a:latin typeface="Calibri"/>
                <a:ea typeface="Calibri"/>
                <a:cs typeface="Calibri"/>
                <a:sym typeface="Calibri"/>
              </a:defRPr>
            </a:lvl1pPr>
            <a:lvl2pPr indent="0" lvl="1" marL="0" marR="0" rtl="0" algn="l">
              <a:spcBef>
                <a:spcPts val="0"/>
              </a:spcBef>
              <a:buNone/>
              <a:defRPr b="0" i="0" sz="1800" u="none" cap="none" strike="noStrike">
                <a:solidFill>
                  <a:schemeClr val="dk1"/>
                </a:solidFill>
                <a:latin typeface="Calibri"/>
                <a:ea typeface="Calibri"/>
                <a:cs typeface="Calibri"/>
                <a:sym typeface="Calibri"/>
              </a:defRPr>
            </a:lvl2pPr>
            <a:lvl3pPr indent="0" lvl="2" marL="0" marR="0" rtl="0" algn="l">
              <a:spcBef>
                <a:spcPts val="0"/>
              </a:spcBef>
              <a:buNone/>
              <a:defRPr b="0" i="0" sz="1800" u="none" cap="none" strike="noStrike">
                <a:solidFill>
                  <a:schemeClr val="dk1"/>
                </a:solidFill>
                <a:latin typeface="Calibri"/>
                <a:ea typeface="Calibri"/>
                <a:cs typeface="Calibri"/>
                <a:sym typeface="Calibri"/>
              </a:defRPr>
            </a:lvl3pPr>
            <a:lvl4pPr indent="0" lvl="3" marL="0" marR="0" rtl="0" algn="l">
              <a:spcBef>
                <a:spcPts val="0"/>
              </a:spcBef>
              <a:buNone/>
              <a:defRPr b="0" i="0" sz="1800" u="none" cap="none" strike="noStrike">
                <a:solidFill>
                  <a:schemeClr val="dk1"/>
                </a:solidFill>
                <a:latin typeface="Calibri"/>
                <a:ea typeface="Calibri"/>
                <a:cs typeface="Calibri"/>
                <a:sym typeface="Calibri"/>
              </a:defRPr>
            </a:lvl4pPr>
            <a:lvl5pPr indent="0" lvl="4" marL="0" marR="0" rtl="0" algn="l">
              <a:spcBef>
                <a:spcPts val="0"/>
              </a:spcBef>
              <a:buNone/>
              <a:defRPr b="0" i="0" sz="1800" u="none" cap="none" strike="noStrike">
                <a:solidFill>
                  <a:schemeClr val="dk1"/>
                </a:solidFill>
                <a:latin typeface="Calibri"/>
                <a:ea typeface="Calibri"/>
                <a:cs typeface="Calibri"/>
                <a:sym typeface="Calibri"/>
              </a:defRPr>
            </a:lvl5pPr>
            <a:lvl6pPr indent="0" lvl="5" marL="0" marR="0" rtl="0" algn="l">
              <a:spcBef>
                <a:spcPts val="0"/>
              </a:spcBef>
              <a:buNone/>
              <a:defRPr b="0" i="0" sz="1800" u="none" cap="none" strike="noStrike">
                <a:solidFill>
                  <a:schemeClr val="dk1"/>
                </a:solidFill>
                <a:latin typeface="Calibri"/>
                <a:ea typeface="Calibri"/>
                <a:cs typeface="Calibri"/>
                <a:sym typeface="Calibri"/>
              </a:defRPr>
            </a:lvl6pPr>
            <a:lvl7pPr indent="0" lvl="6" marL="0" marR="0" rtl="0" algn="l">
              <a:spcBef>
                <a:spcPts val="0"/>
              </a:spcBef>
              <a:buNone/>
              <a:defRPr b="0" i="0" sz="1800" u="none" cap="none" strike="noStrike">
                <a:solidFill>
                  <a:schemeClr val="dk1"/>
                </a:solidFill>
                <a:latin typeface="Calibri"/>
                <a:ea typeface="Calibri"/>
                <a:cs typeface="Calibri"/>
                <a:sym typeface="Calibri"/>
              </a:defRPr>
            </a:lvl7pPr>
            <a:lvl8pPr indent="0" lvl="7" marL="0" marR="0" rtl="0" algn="l">
              <a:spcBef>
                <a:spcPts val="0"/>
              </a:spcBef>
              <a:buNone/>
              <a:defRPr b="0" i="0" sz="1800" u="none" cap="none" strike="noStrike">
                <a:solidFill>
                  <a:schemeClr val="dk1"/>
                </a:solidFill>
                <a:latin typeface="Calibri"/>
                <a:ea typeface="Calibri"/>
                <a:cs typeface="Calibri"/>
                <a:sym typeface="Calibri"/>
              </a:defRPr>
            </a:lvl8pPr>
            <a:lvl9pPr indent="0" lvl="8" marL="0" marR="0" rtl="0" algn="l">
              <a:spcBef>
                <a:spcPts val="0"/>
              </a:spcBef>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con título" type="objTx">
  <p:cSld name="OBJECT_WITH_CAPTION_TEXT">
    <p:bg>
      <p:bgPr>
        <a:blipFill>
          <a:blip r:embed="rId2">
            <a:alphaModFix/>
          </a:blip>
          <a:stretch>
            <a:fillRect/>
          </a:stretch>
        </a:blipFill>
      </p:bgPr>
    </p:bg>
    <p:spTree>
      <p:nvGrpSpPr>
        <p:cNvPr id="36" name="Shape 36"/>
        <p:cNvGrpSpPr/>
        <p:nvPr/>
      </p:nvGrpSpPr>
      <p:grpSpPr>
        <a:xfrm>
          <a:off x="0" y="0"/>
          <a:ext cx="0" cy="0"/>
          <a:chOff x="0" y="0"/>
          <a:chExt cx="0" cy="0"/>
        </a:xfrm>
      </p:grpSpPr>
      <p:sp>
        <p:nvSpPr>
          <p:cNvPr id="37" name="Google Shape;37;p11"/>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11"/>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SzPts val="3200"/>
              <a:buChar char="•"/>
              <a:defRPr sz="3200"/>
            </a:lvl1pPr>
            <a:lvl2pPr indent="-406400" lvl="1" marL="914400" algn="l">
              <a:lnSpc>
                <a:spcPct val="90000"/>
              </a:lnSpc>
              <a:spcBef>
                <a:spcPts val="500"/>
              </a:spcBef>
              <a:spcAft>
                <a:spcPts val="0"/>
              </a:spcAft>
              <a:buSzPts val="2800"/>
              <a:buChar char="•"/>
              <a:defRPr sz="2800"/>
            </a:lvl2pPr>
            <a:lvl3pPr indent="-381000" lvl="2" marL="1371600" algn="l">
              <a:lnSpc>
                <a:spcPct val="90000"/>
              </a:lnSpc>
              <a:spcBef>
                <a:spcPts val="500"/>
              </a:spcBef>
              <a:spcAft>
                <a:spcPts val="0"/>
              </a:spcAft>
              <a:buSzPts val="2400"/>
              <a:buChar char="•"/>
              <a:defRPr sz="2400"/>
            </a:lvl3pPr>
            <a:lvl4pPr indent="-355600" lvl="3" marL="1828800" algn="l">
              <a:lnSpc>
                <a:spcPct val="90000"/>
              </a:lnSpc>
              <a:spcBef>
                <a:spcPts val="500"/>
              </a:spcBef>
              <a:spcAft>
                <a:spcPts val="0"/>
              </a:spcAft>
              <a:buSzPts val="2000"/>
              <a:buChar char="•"/>
              <a:defRPr sz="2000"/>
            </a:lvl4pPr>
            <a:lvl5pPr indent="-355600" lvl="4" marL="2286000" algn="l">
              <a:lnSpc>
                <a:spcPct val="90000"/>
              </a:lnSpc>
              <a:spcBef>
                <a:spcPts val="500"/>
              </a:spcBef>
              <a:spcAft>
                <a:spcPts val="0"/>
              </a:spcAft>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39" name="Google Shape;39;p11"/>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SzPts val="1600"/>
              <a:buNone/>
              <a:defRPr sz="1600"/>
            </a:lvl1pPr>
            <a:lvl2pPr indent="-228600" lvl="1" marL="914400" algn="l">
              <a:lnSpc>
                <a:spcPct val="90000"/>
              </a:lnSpc>
              <a:spcBef>
                <a:spcPts val="500"/>
              </a:spcBef>
              <a:spcAft>
                <a:spcPts val="0"/>
              </a:spcAft>
              <a:buSzPts val="1400"/>
              <a:buNone/>
              <a:defRPr sz="1400"/>
            </a:lvl2pPr>
            <a:lvl3pPr indent="-228600" lvl="2" marL="1371600" algn="l">
              <a:lnSpc>
                <a:spcPct val="90000"/>
              </a:lnSpc>
              <a:spcBef>
                <a:spcPts val="500"/>
              </a:spcBef>
              <a:spcAft>
                <a:spcPts val="0"/>
              </a:spcAft>
              <a:buSzPts val="1200"/>
              <a:buNone/>
              <a:defRPr sz="1200"/>
            </a:lvl3pPr>
            <a:lvl4pPr indent="-228600" lvl="3" marL="1828800" algn="l">
              <a:lnSpc>
                <a:spcPct val="90000"/>
              </a:lnSpc>
              <a:spcBef>
                <a:spcPts val="500"/>
              </a:spcBef>
              <a:spcAft>
                <a:spcPts val="0"/>
              </a:spcAft>
              <a:buSzPts val="1000"/>
              <a:buNone/>
              <a:defRPr sz="1000"/>
            </a:lvl4pPr>
            <a:lvl5pPr indent="-228600" lvl="4" marL="2286000" algn="l">
              <a:lnSpc>
                <a:spcPct val="90000"/>
              </a:lnSpc>
              <a:spcBef>
                <a:spcPts val="500"/>
              </a:spcBef>
              <a:spcAft>
                <a:spcPts val="0"/>
              </a:spcAft>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con título" type="picTx">
  <p:cSld name="PICTURE_WITH_CAPTION_TEXT">
    <p:bg>
      <p:bgPr>
        <a:blipFill>
          <a:blip r:embed="rId2">
            <a:alphaModFix/>
          </a:blip>
          <a:stretch>
            <a:fillRect/>
          </a:stretch>
        </a:blipFill>
      </p:bgPr>
    </p:bg>
    <p:spTree>
      <p:nvGrpSpPr>
        <p:cNvPr id="40" name="Shape 40"/>
        <p:cNvGrpSpPr/>
        <p:nvPr/>
      </p:nvGrpSpPr>
      <p:grpSpPr>
        <a:xfrm>
          <a:off x="0" y="0"/>
          <a:ext cx="0" cy="0"/>
          <a:chOff x="0" y="0"/>
          <a:chExt cx="0" cy="0"/>
        </a:xfrm>
      </p:grpSpPr>
      <p:sp>
        <p:nvSpPr>
          <p:cNvPr id="41" name="Google Shape;41;p12"/>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12"/>
          <p:cNvSpPr/>
          <p:nvPr>
            <p:ph idx="2" type="pic"/>
          </p:nvPr>
        </p:nvSpPr>
        <p:spPr>
          <a:xfrm>
            <a:off x="5183188" y="987425"/>
            <a:ext cx="6172200" cy="4873625"/>
          </a:xfrm>
          <a:prstGeom prst="rect">
            <a:avLst/>
          </a:prstGeom>
          <a:noFill/>
          <a:ln>
            <a:noFill/>
          </a:ln>
        </p:spPr>
      </p:sp>
      <p:sp>
        <p:nvSpPr>
          <p:cNvPr id="43" name="Google Shape;43;p12"/>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SzPts val="1600"/>
              <a:buNone/>
              <a:defRPr sz="1600"/>
            </a:lvl1pPr>
            <a:lvl2pPr indent="-228600" lvl="1" marL="914400" algn="l">
              <a:lnSpc>
                <a:spcPct val="90000"/>
              </a:lnSpc>
              <a:spcBef>
                <a:spcPts val="500"/>
              </a:spcBef>
              <a:spcAft>
                <a:spcPts val="0"/>
              </a:spcAft>
              <a:buSzPts val="1400"/>
              <a:buNone/>
              <a:defRPr sz="1400"/>
            </a:lvl2pPr>
            <a:lvl3pPr indent="-228600" lvl="2" marL="1371600" algn="l">
              <a:lnSpc>
                <a:spcPct val="90000"/>
              </a:lnSpc>
              <a:spcBef>
                <a:spcPts val="500"/>
              </a:spcBef>
              <a:spcAft>
                <a:spcPts val="0"/>
              </a:spcAft>
              <a:buSzPts val="1200"/>
              <a:buNone/>
              <a:defRPr sz="1200"/>
            </a:lvl3pPr>
            <a:lvl4pPr indent="-228600" lvl="3" marL="1828800" algn="l">
              <a:lnSpc>
                <a:spcPct val="90000"/>
              </a:lnSpc>
              <a:spcBef>
                <a:spcPts val="500"/>
              </a:spcBef>
              <a:spcAft>
                <a:spcPts val="0"/>
              </a:spcAft>
              <a:buSzPts val="1000"/>
              <a:buNone/>
              <a:defRPr sz="1000"/>
            </a:lvl4pPr>
            <a:lvl5pPr indent="-228600" lvl="4" marL="2286000" algn="l">
              <a:lnSpc>
                <a:spcPct val="90000"/>
              </a:lnSpc>
              <a:spcBef>
                <a:spcPts val="500"/>
              </a:spcBef>
              <a:spcAft>
                <a:spcPts val="0"/>
              </a:spcAft>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texto vertical" type="vertTx">
  <p:cSld name="VERTICAL_TEXT">
    <p:bg>
      <p:bgPr>
        <a:blipFill>
          <a:blip r:embed="rId2">
            <a:alphaModFix/>
          </a:blip>
          <a:stretch>
            <a:fillRect/>
          </a:stretch>
        </a:blipFill>
      </p:bgPr>
    </p:bg>
    <p:spTree>
      <p:nvGrpSpPr>
        <p:cNvPr id="44" name="Shape 44"/>
        <p:cNvGrpSpPr/>
        <p:nvPr/>
      </p:nvGrpSpPr>
      <p:grpSpPr>
        <a:xfrm>
          <a:off x="0" y="0"/>
          <a:ext cx="0" cy="0"/>
          <a:chOff x="0" y="0"/>
          <a:chExt cx="0" cy="0"/>
        </a:xfrm>
      </p:grpSpPr>
      <p:sp>
        <p:nvSpPr>
          <p:cNvPr id="45" name="Google Shape;45;p13"/>
          <p:cNvSpPr txBox="1"/>
          <p:nvPr>
            <p:ph type="title"/>
          </p:nvPr>
        </p:nvSpPr>
        <p:spPr>
          <a:xfrm>
            <a:off x="838200" y="1110313"/>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6" name="Google Shape;46;p13"/>
          <p:cNvSpPr txBox="1"/>
          <p:nvPr>
            <p:ph idx="1" type="body"/>
          </p:nvPr>
        </p:nvSpPr>
        <p:spPr>
          <a:xfrm rot="5400000">
            <a:off x="4181637" y="-772624"/>
            <a:ext cx="3828726"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SzPts val="1800"/>
              <a:buChar char="•"/>
              <a:defRPr/>
            </a:lvl1pPr>
            <a:lvl2pPr indent="-342900" lvl="1" marL="914400" algn="l">
              <a:lnSpc>
                <a:spcPct val="90000"/>
              </a:lnSpc>
              <a:spcBef>
                <a:spcPts val="500"/>
              </a:spcBef>
              <a:spcAft>
                <a:spcPts val="0"/>
              </a:spcAft>
              <a:buSzPts val="1800"/>
              <a:buChar char="•"/>
              <a:defRPr/>
            </a:lvl2pPr>
            <a:lvl3pPr indent="-342900" lvl="2" marL="1371600" algn="l">
              <a:lnSpc>
                <a:spcPct val="90000"/>
              </a:lnSpc>
              <a:spcBef>
                <a:spcPts val="500"/>
              </a:spcBef>
              <a:spcAft>
                <a:spcPts val="0"/>
              </a:spcAft>
              <a:buSzPts val="1800"/>
              <a:buChar char="•"/>
              <a:defRPr/>
            </a:lvl3pPr>
            <a:lvl4pPr indent="-342900" lvl="3" marL="1828800" algn="l">
              <a:lnSpc>
                <a:spcPct val="90000"/>
              </a:lnSpc>
              <a:spcBef>
                <a:spcPts val="500"/>
              </a:spcBef>
              <a:spcAft>
                <a:spcPts val="0"/>
              </a:spcAft>
              <a:buSzPts val="1800"/>
              <a:buChar char="•"/>
              <a:defRPr/>
            </a:lvl4pPr>
            <a:lvl5pPr indent="-342900" lvl="4" marL="2286000" algn="l">
              <a:lnSpc>
                <a:spcPct val="90000"/>
              </a:lnSpc>
              <a:spcBef>
                <a:spcPts val="500"/>
              </a:spcBef>
              <a:spcAft>
                <a:spcPts val="0"/>
              </a:spcAft>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vertical y texto" type="vertTitleAndTx">
  <p:cSld name="VERTICAL_TITLE_AND_VERTICAL_TEXT">
    <p:bg>
      <p:bgPr>
        <a:blipFill>
          <a:blip r:embed="rId2">
            <a:alphaModFix/>
          </a:blip>
          <a:stretch>
            <a:fillRect/>
          </a:stretch>
        </a:blipFill>
      </p:bgPr>
    </p:bg>
    <p:spTree>
      <p:nvGrpSpPr>
        <p:cNvPr id="47" name="Shape 47"/>
        <p:cNvGrpSpPr/>
        <p:nvPr/>
      </p:nvGrpSpPr>
      <p:grpSpPr>
        <a:xfrm>
          <a:off x="0" y="0"/>
          <a:ext cx="0" cy="0"/>
          <a:chOff x="0" y="0"/>
          <a:chExt cx="0" cy="0"/>
        </a:xfrm>
      </p:grpSpPr>
      <p:sp>
        <p:nvSpPr>
          <p:cNvPr id="48" name="Google Shape;48;p14"/>
          <p:cNvSpPr txBox="1"/>
          <p:nvPr>
            <p:ph type="title"/>
          </p:nvPr>
        </p:nvSpPr>
        <p:spPr>
          <a:xfrm rot="5400000">
            <a:off x="606041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9" name="Google Shape;49;p14"/>
          <p:cNvSpPr txBox="1"/>
          <p:nvPr>
            <p:ph idx="1" type="body"/>
          </p:nvPr>
        </p:nvSpPr>
        <p:spPr>
          <a:xfrm rot="5400000">
            <a:off x="1063090" y="-259427"/>
            <a:ext cx="5811838" cy="7060941"/>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SzPts val="1800"/>
              <a:buChar char="•"/>
              <a:defRPr/>
            </a:lvl1pPr>
            <a:lvl2pPr indent="-342900" lvl="1" marL="914400" algn="l">
              <a:lnSpc>
                <a:spcPct val="90000"/>
              </a:lnSpc>
              <a:spcBef>
                <a:spcPts val="500"/>
              </a:spcBef>
              <a:spcAft>
                <a:spcPts val="0"/>
              </a:spcAft>
              <a:buSzPts val="1800"/>
              <a:buChar char="•"/>
              <a:defRPr/>
            </a:lvl2pPr>
            <a:lvl3pPr indent="-342900" lvl="2" marL="1371600" algn="l">
              <a:lnSpc>
                <a:spcPct val="90000"/>
              </a:lnSpc>
              <a:spcBef>
                <a:spcPts val="500"/>
              </a:spcBef>
              <a:spcAft>
                <a:spcPts val="0"/>
              </a:spcAft>
              <a:buSzPts val="1800"/>
              <a:buChar char="•"/>
              <a:defRPr/>
            </a:lvl3pPr>
            <a:lvl4pPr indent="-342900" lvl="3" marL="1828800" algn="l">
              <a:lnSpc>
                <a:spcPct val="90000"/>
              </a:lnSpc>
              <a:spcBef>
                <a:spcPts val="500"/>
              </a:spcBef>
              <a:spcAft>
                <a:spcPts val="0"/>
              </a:spcAft>
              <a:buSzPts val="1800"/>
              <a:buChar char="•"/>
              <a:defRPr/>
            </a:lvl4pPr>
            <a:lvl5pPr indent="-342900" lvl="4" marL="2286000" algn="l">
              <a:lnSpc>
                <a:spcPct val="90000"/>
              </a:lnSpc>
              <a:spcBef>
                <a:spcPts val="500"/>
              </a:spcBef>
              <a:spcAft>
                <a:spcPts val="0"/>
              </a:spcAft>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3.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5" Type="http://schemas.openxmlformats.org/officeDocument/2006/relationships/theme" Target="../theme/theme1.xml"/><Relationship Id="rId14" Type="http://schemas.openxmlformats.org/officeDocument/2006/relationships/slideLayout" Target="../slideLayouts/slideLayout1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5" name="Shape 5"/>
        <p:cNvGrpSpPr/>
        <p:nvPr/>
      </p:nvGrpSpPr>
      <p:grpSpPr>
        <a:xfrm>
          <a:off x="0" y="0"/>
          <a:ext cx="0" cy="0"/>
          <a:chOff x="0" y="0"/>
          <a:chExt cx="0" cy="0"/>
        </a:xfrm>
      </p:grpSpPr>
      <p:sp>
        <p:nvSpPr>
          <p:cNvPr id="6" name="Google Shape;6;p1"/>
          <p:cNvSpPr txBox="1"/>
          <p:nvPr>
            <p:ph type="title"/>
          </p:nvPr>
        </p:nvSpPr>
        <p:spPr>
          <a:xfrm>
            <a:off x="838200" y="1110313"/>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1"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838200" y="2570813"/>
            <a:ext cx="10515600" cy="3828726"/>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rgbClr val="C00000"/>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rgbClr val="C00000"/>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rgbClr val="C00000"/>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rgbClr val="C00000"/>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rgbClr val="C00000"/>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jpg"/><Relationship Id="rId4" Type="http://schemas.openxmlformats.org/officeDocument/2006/relationships/image" Target="../media/image8.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4.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4.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4.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4.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4.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4.pn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4.pn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4.png"/><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4.png"/><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4.png"/><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4.png"/><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4.png"/><Relationship Id="rId4"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7.png"/><Relationship Id="rId6" Type="http://schemas.openxmlformats.org/officeDocument/2006/relationships/image" Target="../media/image1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4.png"/><Relationship Id="rId4" Type="http://schemas.openxmlformats.org/officeDocument/2006/relationships/image" Target="../media/image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4.png"/><Relationship Id="rId4" Type="http://schemas.openxmlformats.org/officeDocument/2006/relationships/image" Target="../media/image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4.png"/><Relationship Id="rId4" Type="http://schemas.openxmlformats.org/officeDocument/2006/relationships/image" Target="../media/image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4.png"/><Relationship Id="rId4" Type="http://schemas.openxmlformats.org/officeDocument/2006/relationships/image" Target="../media/image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9.gif"/></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4" name="Shape 54"/>
        <p:cNvGrpSpPr/>
        <p:nvPr/>
      </p:nvGrpSpPr>
      <p:grpSpPr>
        <a:xfrm>
          <a:off x="0" y="0"/>
          <a:ext cx="0" cy="0"/>
          <a:chOff x="0" y="0"/>
          <a:chExt cx="0" cy="0"/>
        </a:xfrm>
      </p:grpSpPr>
      <p:sp>
        <p:nvSpPr>
          <p:cNvPr id="55" name="Google Shape;55;p15"/>
          <p:cNvSpPr txBox="1"/>
          <p:nvPr>
            <p:ph type="ctrTitle"/>
          </p:nvPr>
        </p:nvSpPr>
        <p:spPr>
          <a:xfrm>
            <a:off x="7044330" y="4478030"/>
            <a:ext cx="5577900" cy="10515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4A1020"/>
              </a:buClr>
              <a:buSzPts val="2400"/>
              <a:buFont typeface="Calibri"/>
              <a:buNone/>
            </a:pPr>
            <a:r>
              <a:rPr lang="en-US" sz="2400">
                <a:solidFill>
                  <a:srgbClr val="4A1020"/>
                </a:solidFill>
              </a:rPr>
              <a:t>IronVeil: el velo de hierro para tus LLMs autoalojados</a:t>
            </a:r>
            <a:endParaRPr/>
          </a:p>
        </p:txBody>
      </p:sp>
      <p:sp>
        <p:nvSpPr>
          <p:cNvPr id="56" name="Google Shape;56;p15"/>
          <p:cNvSpPr txBox="1"/>
          <p:nvPr>
            <p:ph idx="1" type="subTitle"/>
          </p:nvPr>
        </p:nvSpPr>
        <p:spPr>
          <a:xfrm>
            <a:off x="7044330" y="5575310"/>
            <a:ext cx="5577900" cy="3201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SzPts val="1400"/>
              <a:buNone/>
            </a:pPr>
            <a:r>
              <a:rPr b="1" i="0" lang="en-US" sz="1400">
                <a:solidFill>
                  <a:srgbClr val="7B1C2E"/>
                </a:solidFill>
              </a:rPr>
              <a:t>Framework de defensa: 5 capas, 5 ataques, 7 configuraciones</a:t>
            </a:r>
            <a:endParaRPr/>
          </a:p>
        </p:txBody>
      </p:sp>
      <p:pic>
        <p:nvPicPr>
          <p:cNvPr descr="ironveil_v6_horizontal.png" id="57" name="Google Shape;57;p15"/>
          <p:cNvPicPr preferRelativeResize="0"/>
          <p:nvPr/>
        </p:nvPicPr>
        <p:blipFill rotWithShape="1">
          <a:blip r:embed="rId4">
            <a:alphaModFix/>
          </a:blip>
          <a:srcRect b="0" l="0" r="0" t="0"/>
          <a:stretch/>
        </p:blipFill>
        <p:spPr>
          <a:xfrm>
            <a:off x="7154780" y="2542302"/>
            <a:ext cx="4572002" cy="1773381"/>
          </a:xfrm>
          <a:prstGeom prst="rect">
            <a:avLst/>
          </a:prstGeom>
          <a:noFill/>
          <a:ln>
            <a:noFill/>
          </a:ln>
        </p:spPr>
      </p:pic>
      <p:sp>
        <p:nvSpPr>
          <p:cNvPr id="58" name="Google Shape;58;p15"/>
          <p:cNvSpPr/>
          <p:nvPr/>
        </p:nvSpPr>
        <p:spPr>
          <a:xfrm>
            <a:off x="7044325" y="6014223"/>
            <a:ext cx="4916100" cy="15300"/>
          </a:xfrm>
          <a:prstGeom prst="rect">
            <a:avLst/>
          </a:prstGeom>
          <a:solidFill>
            <a:srgbClr val="7B1C2E"/>
          </a:solidFill>
          <a:ln>
            <a:noFill/>
          </a:ln>
        </p:spPr>
        <p:txBody>
          <a:bodyPr anchorCtr="0" anchor="ctr" bIns="36575" lIns="91425" spcFirstLastPara="1" rIns="91425" wrap="square" tIns="36575">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9" name="Google Shape;59;p15"/>
          <p:cNvSpPr txBox="1"/>
          <p:nvPr/>
        </p:nvSpPr>
        <p:spPr>
          <a:xfrm>
            <a:off x="7044330" y="6123950"/>
            <a:ext cx="2788800" cy="24780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1250" u="none" cap="none" strike="noStrike">
                <a:solidFill>
                  <a:srgbClr val="262626"/>
                </a:solidFill>
                <a:latin typeface="Calibri"/>
                <a:ea typeface="Calibri"/>
                <a:cs typeface="Calibri"/>
                <a:sym typeface="Calibri"/>
              </a:rPr>
              <a:t>Ana Gabriela Fiquitiva Poveda</a:t>
            </a:r>
            <a:endParaRPr/>
          </a:p>
        </p:txBody>
      </p:sp>
      <p:sp>
        <p:nvSpPr>
          <p:cNvPr id="60" name="Google Shape;60;p15"/>
          <p:cNvSpPr txBox="1"/>
          <p:nvPr/>
        </p:nvSpPr>
        <p:spPr>
          <a:xfrm>
            <a:off x="9787530" y="6123950"/>
            <a:ext cx="2788800" cy="24780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1250" u="none" cap="none" strike="noStrike">
                <a:solidFill>
                  <a:srgbClr val="262626"/>
                </a:solidFill>
                <a:latin typeface="Calibri"/>
                <a:ea typeface="Calibri"/>
                <a:cs typeface="Calibri"/>
                <a:sym typeface="Calibri"/>
              </a:rPr>
              <a:t>Anderson Fabian García Nieto</a:t>
            </a:r>
            <a:endParaRPr/>
          </a:p>
        </p:txBody>
      </p:sp>
      <p:sp>
        <p:nvSpPr>
          <p:cNvPr id="61" name="Google Shape;61;p15"/>
          <p:cNvSpPr txBox="1"/>
          <p:nvPr/>
        </p:nvSpPr>
        <p:spPr>
          <a:xfrm>
            <a:off x="7044330" y="6434846"/>
            <a:ext cx="2788800" cy="24780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1250" u="none" cap="none" strike="noStrike">
                <a:solidFill>
                  <a:srgbClr val="262626"/>
                </a:solidFill>
                <a:latin typeface="Calibri"/>
                <a:ea typeface="Calibri"/>
                <a:cs typeface="Calibri"/>
                <a:sym typeface="Calibri"/>
              </a:rPr>
              <a:t>Andrés Felipe Sabogal Wilches</a:t>
            </a:r>
            <a:endParaRPr/>
          </a:p>
        </p:txBody>
      </p:sp>
      <p:sp>
        <p:nvSpPr>
          <p:cNvPr id="62" name="Google Shape;62;p15"/>
          <p:cNvSpPr txBox="1"/>
          <p:nvPr/>
        </p:nvSpPr>
        <p:spPr>
          <a:xfrm>
            <a:off x="9787530" y="6434846"/>
            <a:ext cx="2788800" cy="24780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1250" u="none" cap="none" strike="noStrike">
                <a:solidFill>
                  <a:srgbClr val="262626"/>
                </a:solidFill>
                <a:latin typeface="Calibri"/>
                <a:ea typeface="Calibri"/>
                <a:cs typeface="Calibri"/>
                <a:sym typeface="Calibri"/>
              </a:rPr>
              <a:t>Carlos Mario Piedrahita Arango</a:t>
            </a:r>
            <a:endParaRPr/>
          </a:p>
        </p:txBody>
      </p:sp>
      <p:sp>
        <p:nvSpPr>
          <p:cNvPr id="63" name="Google Shape;63;p15"/>
          <p:cNvSpPr txBox="1"/>
          <p:nvPr/>
        </p:nvSpPr>
        <p:spPr>
          <a:xfrm>
            <a:off x="7044330" y="6837182"/>
            <a:ext cx="5394900" cy="27090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sp>
        <p:nvSpPr>
          <p:cNvPr id="69" name="Google Shape;69;p16"/>
          <p:cNvSpPr txBox="1"/>
          <p:nvPr>
            <p:ph type="title"/>
          </p:nvPr>
        </p:nvSpPr>
        <p:spPr>
          <a:xfrm>
            <a:off x="1371600" y="457200"/>
            <a:ext cx="8869680" cy="64008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4A1020"/>
              </a:buClr>
              <a:buSzPts val="2800"/>
              <a:buFont typeface="Calibri"/>
              <a:buNone/>
            </a:pPr>
            <a:r>
              <a:rPr b="1" lang="en-US" sz="2800">
                <a:solidFill>
                  <a:srgbClr val="4A1020"/>
                </a:solidFill>
              </a:rPr>
              <a:t>Un LLM autoalojado, abierto a internet</a:t>
            </a:r>
            <a:endParaRPr/>
          </a:p>
        </p:txBody>
      </p:sp>
      <p:pic>
        <p:nvPicPr>
          <p:cNvPr descr="ironveil_v6.png" id="70" name="Google Shape;70;p16"/>
          <p:cNvPicPr preferRelativeResize="0"/>
          <p:nvPr/>
        </p:nvPicPr>
        <p:blipFill rotWithShape="1">
          <a:blip r:embed="rId3">
            <a:alphaModFix/>
          </a:blip>
          <a:srcRect b="0" l="0" r="0" t="0"/>
          <a:stretch/>
        </p:blipFill>
        <p:spPr>
          <a:xfrm>
            <a:off x="502920" y="274320"/>
            <a:ext cx="822960" cy="822960"/>
          </a:xfrm>
          <a:prstGeom prst="rect">
            <a:avLst/>
          </a:prstGeom>
          <a:noFill/>
          <a:ln>
            <a:noFill/>
          </a:ln>
        </p:spPr>
      </p:pic>
      <p:sp>
        <p:nvSpPr>
          <p:cNvPr id="71" name="Google Shape;71;p16"/>
          <p:cNvSpPr txBox="1"/>
          <p:nvPr/>
        </p:nvSpPr>
        <p:spPr>
          <a:xfrm>
            <a:off x="1371600" y="246888"/>
            <a:ext cx="8229600" cy="27432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1100" u="none" cap="none" strike="noStrike">
                <a:solidFill>
                  <a:srgbClr val="7B1C2E"/>
                </a:solidFill>
                <a:latin typeface="Calibri"/>
                <a:ea typeface="Calibri"/>
                <a:cs typeface="Calibri"/>
                <a:sym typeface="Calibri"/>
              </a:rPr>
              <a:t>01 · PROBLEMA</a:t>
            </a:r>
            <a:endParaRPr/>
          </a:p>
        </p:txBody>
      </p:sp>
      <p:cxnSp>
        <p:nvCxnSpPr>
          <p:cNvPr id="72" name="Google Shape;72;p16"/>
          <p:cNvCxnSpPr/>
          <p:nvPr/>
        </p:nvCxnSpPr>
        <p:spPr>
          <a:xfrm>
            <a:off x="548640" y="1188720"/>
            <a:ext cx="11091672" cy="0"/>
          </a:xfrm>
          <a:prstGeom prst="straightConnector1">
            <a:avLst/>
          </a:prstGeom>
          <a:noFill/>
          <a:ln cap="flat" cmpd="sng" w="25400">
            <a:solidFill>
              <a:srgbClr val="7B1C2E"/>
            </a:solidFill>
            <a:prstDash val="solid"/>
            <a:miter lim="8000"/>
            <a:headEnd len="sm" w="sm" type="none"/>
            <a:tailEnd len="sm" w="sm" type="none"/>
          </a:ln>
        </p:spPr>
      </p:cxnSp>
      <p:sp>
        <p:nvSpPr>
          <p:cNvPr id="73" name="Google Shape;73;p16"/>
          <p:cNvSpPr/>
          <p:nvPr/>
        </p:nvSpPr>
        <p:spPr>
          <a:xfrm>
            <a:off x="0" y="6510528"/>
            <a:ext cx="12191695" cy="347472"/>
          </a:xfrm>
          <a:prstGeom prst="rect">
            <a:avLst/>
          </a:prstGeom>
          <a:solidFill>
            <a:srgbClr val="7B1C2E"/>
          </a:solidFill>
          <a:ln>
            <a:noFill/>
          </a:ln>
        </p:spPr>
        <p:txBody>
          <a:bodyPr anchorCtr="0" anchor="ctr" bIns="36575" lIns="91425" spcFirstLastPara="1" rIns="91425" wrap="square" tIns="36575">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ronveil_v6_inv.png" id="74" name="Google Shape;74;p16"/>
          <p:cNvPicPr preferRelativeResize="0"/>
          <p:nvPr/>
        </p:nvPicPr>
        <p:blipFill rotWithShape="1">
          <a:blip r:embed="rId4">
            <a:alphaModFix/>
          </a:blip>
          <a:srcRect b="0" l="0" r="0" t="0"/>
          <a:stretch/>
        </p:blipFill>
        <p:spPr>
          <a:xfrm>
            <a:off x="457200" y="6537960"/>
            <a:ext cx="292608" cy="292608"/>
          </a:xfrm>
          <a:prstGeom prst="rect">
            <a:avLst/>
          </a:prstGeom>
          <a:noFill/>
          <a:ln>
            <a:noFill/>
          </a:ln>
        </p:spPr>
      </p:pic>
      <p:sp>
        <p:nvSpPr>
          <p:cNvPr id="75" name="Google Shape;75;p16"/>
          <p:cNvSpPr txBox="1"/>
          <p:nvPr/>
        </p:nvSpPr>
        <p:spPr>
          <a:xfrm>
            <a:off x="822960" y="6528816"/>
            <a:ext cx="5486400" cy="310896"/>
          </a:xfrm>
          <a:prstGeom prst="rect">
            <a:avLst/>
          </a:prstGeom>
          <a:noFill/>
          <a:ln>
            <a:noFill/>
          </a:ln>
        </p:spPr>
        <p:txBody>
          <a:bodyPr anchorCtr="0" anchor="ctr" bIns="27425" lIns="45700" spcFirstLastPara="1" rIns="45700" wrap="square" tIns="27425">
            <a:noAutofit/>
          </a:bodyPr>
          <a:lstStyle/>
          <a:p>
            <a:pPr indent="0" lvl="0" marL="0" marR="0" rtl="0" algn="l">
              <a:spcBef>
                <a:spcPts val="0"/>
              </a:spcBef>
              <a:spcAft>
                <a:spcPts val="0"/>
              </a:spcAft>
              <a:buNone/>
            </a:pPr>
            <a:r>
              <a:rPr b="1" lang="en-US" sz="1050">
                <a:solidFill>
                  <a:srgbClr val="F2F2F2"/>
                </a:solidFill>
                <a:latin typeface="Calibri"/>
                <a:ea typeface="Calibri"/>
                <a:cs typeface="Calibri"/>
                <a:sym typeface="Calibri"/>
              </a:rPr>
              <a:t>IronVeil · Framework de defensa para LLMs autoalojados</a:t>
            </a:r>
            <a:endParaRPr/>
          </a:p>
        </p:txBody>
      </p:sp>
      <p:sp>
        <p:nvSpPr>
          <p:cNvPr id="76" name="Google Shape;76;p16"/>
          <p:cNvSpPr txBox="1"/>
          <p:nvPr/>
        </p:nvSpPr>
        <p:spPr>
          <a:xfrm>
            <a:off x="6217920" y="6528816"/>
            <a:ext cx="5303520" cy="310896"/>
          </a:xfrm>
          <a:prstGeom prst="rect">
            <a:avLst/>
          </a:prstGeom>
          <a:noFill/>
          <a:ln>
            <a:noFill/>
          </a:ln>
        </p:spPr>
        <p:txBody>
          <a:bodyPr anchorCtr="0" anchor="ctr" bIns="27425" lIns="45700" spcFirstLastPara="1" rIns="45700" wrap="square" tIns="27425">
            <a:spAutoFit/>
          </a:bodyPr>
          <a:lstStyle/>
          <a:p>
            <a:pPr indent="0" lvl="0" marL="0" marR="0" rtl="0" algn="r">
              <a:spcBef>
                <a:spcPts val="0"/>
              </a:spcBef>
              <a:spcAft>
                <a:spcPts val="0"/>
              </a:spcAft>
              <a:buNone/>
            </a:pPr>
            <a:r>
              <a:rPr b="0" i="0" lang="en-US" sz="1050" u="none" cap="none" strike="noStrike">
                <a:solidFill>
                  <a:srgbClr val="D9D9D9"/>
                </a:solidFill>
                <a:latin typeface="Calibri"/>
                <a:ea typeface="Calibri"/>
                <a:cs typeface="Calibri"/>
                <a:sym typeface="Calibri"/>
              </a:rPr>
              <a:t>Escuela Colombiana de Ingeniería Julio Garavito · 2026</a:t>
            </a:r>
            <a:endParaRPr/>
          </a:p>
        </p:txBody>
      </p:sp>
      <p:sp>
        <p:nvSpPr>
          <p:cNvPr id="77" name="Google Shape;77;p16"/>
          <p:cNvSpPr txBox="1"/>
          <p:nvPr/>
        </p:nvSpPr>
        <p:spPr>
          <a:xfrm>
            <a:off x="11475720" y="6528816"/>
            <a:ext cx="548640" cy="310896"/>
          </a:xfrm>
          <a:prstGeom prst="rect">
            <a:avLst/>
          </a:prstGeom>
          <a:noFill/>
          <a:ln>
            <a:noFill/>
          </a:ln>
        </p:spPr>
        <p:txBody>
          <a:bodyPr anchorCtr="0" anchor="ctr" bIns="27425" lIns="45700" spcFirstLastPara="1" rIns="45700" wrap="square" tIns="27425">
            <a:spAutoFit/>
          </a:bodyPr>
          <a:lstStyle/>
          <a:p>
            <a:pPr indent="0" lvl="0" marL="0" marR="0" rtl="0" algn="r">
              <a:spcBef>
                <a:spcPts val="0"/>
              </a:spcBef>
              <a:spcAft>
                <a:spcPts val="0"/>
              </a:spcAft>
              <a:buNone/>
            </a:pPr>
            <a:r>
              <a:rPr b="1" i="0" lang="en-US" sz="1100" u="none" cap="none" strike="noStrike">
                <a:solidFill>
                  <a:srgbClr val="FFFFFF"/>
                </a:solidFill>
                <a:latin typeface="Calibri"/>
                <a:ea typeface="Calibri"/>
                <a:cs typeface="Calibri"/>
                <a:sym typeface="Calibri"/>
              </a:rPr>
              <a:t>2</a:t>
            </a:r>
            <a:endParaRPr/>
          </a:p>
        </p:txBody>
      </p:sp>
      <p:sp>
        <p:nvSpPr>
          <p:cNvPr id="78" name="Google Shape;78;p16"/>
          <p:cNvSpPr/>
          <p:nvPr/>
        </p:nvSpPr>
        <p:spPr>
          <a:xfrm>
            <a:off x="548640" y="1371600"/>
            <a:ext cx="5212080" cy="1572768"/>
          </a:xfrm>
          <a:prstGeom prst="roundRect">
            <a:avLst>
              <a:gd fmla="val 6000" name="adj"/>
            </a:avLst>
          </a:prstGeom>
          <a:solidFill>
            <a:srgbClr val="F2F2F2"/>
          </a:solidFill>
          <a:ln>
            <a:noFill/>
          </a:ln>
        </p:spPr>
        <p:txBody>
          <a:bodyPr anchorCtr="0" anchor="ctr" bIns="36575" lIns="91425" spcFirstLastPara="1" rIns="91425" wrap="square" tIns="36575">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9" name="Google Shape;79;p16"/>
          <p:cNvSpPr/>
          <p:nvPr/>
        </p:nvSpPr>
        <p:spPr>
          <a:xfrm>
            <a:off x="548640" y="1371600"/>
            <a:ext cx="109728" cy="1572768"/>
          </a:xfrm>
          <a:prstGeom prst="rect">
            <a:avLst/>
          </a:prstGeom>
          <a:solidFill>
            <a:srgbClr val="7B1C2E"/>
          </a:solidFill>
          <a:ln>
            <a:noFill/>
          </a:ln>
        </p:spPr>
        <p:txBody>
          <a:bodyPr anchorCtr="0" anchor="ctr" bIns="36575" lIns="91425" spcFirstLastPara="1" rIns="91425" wrap="square" tIns="36575">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0" name="Google Shape;80;p16"/>
          <p:cNvSpPr txBox="1"/>
          <p:nvPr/>
        </p:nvSpPr>
        <p:spPr>
          <a:xfrm>
            <a:off x="868680" y="1463040"/>
            <a:ext cx="4754880" cy="731520"/>
          </a:xfrm>
          <a:prstGeom prst="rect">
            <a:avLst/>
          </a:prstGeom>
          <a:noFill/>
          <a:ln>
            <a:noFill/>
          </a:ln>
        </p:spPr>
        <p:txBody>
          <a:bodyPr anchorCtr="0" anchor="ctr" bIns="27425" lIns="45700" spcFirstLastPara="1" rIns="45700" wrap="square" tIns="27425">
            <a:spAutoFit/>
          </a:bodyPr>
          <a:lstStyle/>
          <a:p>
            <a:pPr indent="0" lvl="0" marL="0" marR="0" rtl="0" algn="l">
              <a:spcBef>
                <a:spcPts val="0"/>
              </a:spcBef>
              <a:spcAft>
                <a:spcPts val="0"/>
              </a:spcAft>
              <a:buNone/>
            </a:pPr>
            <a:r>
              <a:rPr b="1" i="0" lang="en-US" sz="3800" u="none" cap="none" strike="noStrike">
                <a:solidFill>
                  <a:srgbClr val="7B1C2E"/>
                </a:solidFill>
                <a:latin typeface="Calibri"/>
                <a:ea typeface="Calibri"/>
                <a:cs typeface="Calibri"/>
                <a:sym typeface="Calibri"/>
              </a:rPr>
              <a:t>≈175 000</a:t>
            </a:r>
            <a:endParaRPr/>
          </a:p>
        </p:txBody>
      </p:sp>
      <p:sp>
        <p:nvSpPr>
          <p:cNvPr id="81" name="Google Shape;81;p16"/>
          <p:cNvSpPr txBox="1"/>
          <p:nvPr/>
        </p:nvSpPr>
        <p:spPr>
          <a:xfrm>
            <a:off x="868680" y="2176272"/>
            <a:ext cx="4754880" cy="41148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1400" u="none" cap="none" strike="noStrike">
                <a:solidFill>
                  <a:srgbClr val="262626"/>
                </a:solidFill>
                <a:latin typeface="Calibri"/>
                <a:ea typeface="Calibri"/>
                <a:cs typeface="Calibri"/>
                <a:sym typeface="Calibri"/>
              </a:rPr>
              <a:t>servidores Ollama expuestos en 130 países</a:t>
            </a:r>
            <a:endParaRPr/>
          </a:p>
        </p:txBody>
      </p:sp>
      <p:sp>
        <p:nvSpPr>
          <p:cNvPr id="82" name="Google Shape;82;p16"/>
          <p:cNvSpPr txBox="1"/>
          <p:nvPr/>
        </p:nvSpPr>
        <p:spPr>
          <a:xfrm>
            <a:off x="868680" y="2560320"/>
            <a:ext cx="4754880" cy="32004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0" i="1" lang="en-US" sz="1150" u="none" cap="none" strike="noStrike">
                <a:solidFill>
                  <a:srgbClr val="595959"/>
                </a:solidFill>
                <a:latin typeface="Calibri"/>
                <a:ea typeface="Calibri"/>
                <a:cs typeface="Calibri"/>
                <a:sym typeface="Calibri"/>
              </a:rPr>
              <a:t>SentinelLabs y Censys, 2026</a:t>
            </a:r>
            <a:endParaRPr/>
          </a:p>
        </p:txBody>
      </p:sp>
      <p:sp>
        <p:nvSpPr>
          <p:cNvPr id="83" name="Google Shape;83;p16"/>
          <p:cNvSpPr/>
          <p:nvPr/>
        </p:nvSpPr>
        <p:spPr>
          <a:xfrm>
            <a:off x="548640" y="3072384"/>
            <a:ext cx="5212080" cy="1572768"/>
          </a:xfrm>
          <a:prstGeom prst="roundRect">
            <a:avLst>
              <a:gd fmla="val 6000" name="adj"/>
            </a:avLst>
          </a:prstGeom>
          <a:solidFill>
            <a:srgbClr val="F2F2F2"/>
          </a:solidFill>
          <a:ln>
            <a:noFill/>
          </a:ln>
        </p:spPr>
        <p:txBody>
          <a:bodyPr anchorCtr="0" anchor="ctr" bIns="36575" lIns="91425" spcFirstLastPara="1" rIns="91425" wrap="square" tIns="36575">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4" name="Google Shape;84;p16"/>
          <p:cNvSpPr/>
          <p:nvPr/>
        </p:nvSpPr>
        <p:spPr>
          <a:xfrm>
            <a:off x="548640" y="3072384"/>
            <a:ext cx="109728" cy="1572768"/>
          </a:xfrm>
          <a:prstGeom prst="rect">
            <a:avLst/>
          </a:prstGeom>
          <a:solidFill>
            <a:srgbClr val="7B1C2E"/>
          </a:solidFill>
          <a:ln>
            <a:noFill/>
          </a:ln>
        </p:spPr>
        <p:txBody>
          <a:bodyPr anchorCtr="0" anchor="ctr" bIns="36575" lIns="91425" spcFirstLastPara="1" rIns="91425" wrap="square" tIns="36575">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5" name="Google Shape;85;p16"/>
          <p:cNvSpPr txBox="1"/>
          <p:nvPr/>
        </p:nvSpPr>
        <p:spPr>
          <a:xfrm>
            <a:off x="868680" y="3163824"/>
            <a:ext cx="4754880" cy="731520"/>
          </a:xfrm>
          <a:prstGeom prst="rect">
            <a:avLst/>
          </a:prstGeom>
          <a:noFill/>
          <a:ln>
            <a:noFill/>
          </a:ln>
        </p:spPr>
        <p:txBody>
          <a:bodyPr anchorCtr="0" anchor="ctr" bIns="27425" lIns="45700" spcFirstLastPara="1" rIns="45700" wrap="square" tIns="27425">
            <a:spAutoFit/>
          </a:bodyPr>
          <a:lstStyle/>
          <a:p>
            <a:pPr indent="0" lvl="0" marL="0" marR="0" rtl="0" algn="l">
              <a:spcBef>
                <a:spcPts val="0"/>
              </a:spcBef>
              <a:spcAft>
                <a:spcPts val="0"/>
              </a:spcAft>
              <a:buNone/>
            </a:pPr>
            <a:r>
              <a:rPr b="1" i="0" lang="en-US" sz="3800" u="none" cap="none" strike="noStrike">
                <a:solidFill>
                  <a:srgbClr val="7B1C2E"/>
                </a:solidFill>
                <a:latin typeface="Calibri"/>
                <a:ea typeface="Calibri"/>
                <a:cs typeface="Calibri"/>
                <a:sym typeface="Calibri"/>
              </a:rPr>
              <a:t>48 %</a:t>
            </a:r>
            <a:endParaRPr/>
          </a:p>
        </p:txBody>
      </p:sp>
      <p:sp>
        <p:nvSpPr>
          <p:cNvPr id="86" name="Google Shape;86;p16"/>
          <p:cNvSpPr txBox="1"/>
          <p:nvPr/>
        </p:nvSpPr>
        <p:spPr>
          <a:xfrm>
            <a:off x="868680" y="3877056"/>
            <a:ext cx="4754880" cy="41148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1400" u="none" cap="none" strike="noStrike">
                <a:solidFill>
                  <a:srgbClr val="262626"/>
                </a:solidFill>
                <a:latin typeface="Calibri"/>
                <a:ea typeface="Calibri"/>
                <a:cs typeface="Calibri"/>
                <a:sym typeface="Calibri"/>
              </a:rPr>
              <a:t>tienen tool calling: pueden ejecutar acciones</a:t>
            </a:r>
            <a:endParaRPr/>
          </a:p>
        </p:txBody>
      </p:sp>
      <p:sp>
        <p:nvSpPr>
          <p:cNvPr id="87" name="Google Shape;87;p16"/>
          <p:cNvSpPr txBox="1"/>
          <p:nvPr/>
        </p:nvSpPr>
        <p:spPr>
          <a:xfrm>
            <a:off x="868680" y="4261104"/>
            <a:ext cx="4754880" cy="32004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0" i="1" lang="en-US" sz="1150" u="none" cap="none" strike="noStrike">
                <a:solidFill>
                  <a:srgbClr val="595959"/>
                </a:solidFill>
                <a:latin typeface="Calibri"/>
                <a:ea typeface="Calibri"/>
                <a:cs typeface="Calibri"/>
                <a:sym typeface="Calibri"/>
              </a:rPr>
              <a:t>No solo responden: actúan</a:t>
            </a:r>
            <a:endParaRPr/>
          </a:p>
        </p:txBody>
      </p:sp>
      <p:sp>
        <p:nvSpPr>
          <p:cNvPr id="88" name="Google Shape;88;p16"/>
          <p:cNvSpPr/>
          <p:nvPr/>
        </p:nvSpPr>
        <p:spPr>
          <a:xfrm>
            <a:off x="548640" y="4773168"/>
            <a:ext cx="5212080" cy="1572768"/>
          </a:xfrm>
          <a:prstGeom prst="roundRect">
            <a:avLst>
              <a:gd fmla="val 6000" name="adj"/>
            </a:avLst>
          </a:prstGeom>
          <a:solidFill>
            <a:srgbClr val="F2F2F2"/>
          </a:solidFill>
          <a:ln>
            <a:noFill/>
          </a:ln>
        </p:spPr>
        <p:txBody>
          <a:bodyPr anchorCtr="0" anchor="ctr" bIns="36575" lIns="91425" spcFirstLastPara="1" rIns="91425" wrap="square" tIns="36575">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9" name="Google Shape;89;p16"/>
          <p:cNvSpPr/>
          <p:nvPr/>
        </p:nvSpPr>
        <p:spPr>
          <a:xfrm>
            <a:off x="548640" y="4773168"/>
            <a:ext cx="109728" cy="1572768"/>
          </a:xfrm>
          <a:prstGeom prst="rect">
            <a:avLst/>
          </a:prstGeom>
          <a:solidFill>
            <a:srgbClr val="7B1C2E"/>
          </a:solidFill>
          <a:ln>
            <a:noFill/>
          </a:ln>
        </p:spPr>
        <p:txBody>
          <a:bodyPr anchorCtr="0" anchor="ctr" bIns="36575" lIns="91425" spcFirstLastPara="1" rIns="91425" wrap="square" tIns="36575">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0" name="Google Shape;90;p16"/>
          <p:cNvSpPr txBox="1"/>
          <p:nvPr/>
        </p:nvSpPr>
        <p:spPr>
          <a:xfrm>
            <a:off x="868680" y="4864608"/>
            <a:ext cx="4754880" cy="731520"/>
          </a:xfrm>
          <a:prstGeom prst="rect">
            <a:avLst/>
          </a:prstGeom>
          <a:noFill/>
          <a:ln>
            <a:noFill/>
          </a:ln>
        </p:spPr>
        <p:txBody>
          <a:bodyPr anchorCtr="0" anchor="ctr" bIns="27425" lIns="45700" spcFirstLastPara="1" rIns="45700" wrap="square" tIns="27425">
            <a:spAutoFit/>
          </a:bodyPr>
          <a:lstStyle/>
          <a:p>
            <a:pPr indent="0" lvl="0" marL="0" marR="0" rtl="0" algn="l">
              <a:spcBef>
                <a:spcPts val="0"/>
              </a:spcBef>
              <a:spcAft>
                <a:spcPts val="0"/>
              </a:spcAft>
              <a:buNone/>
            </a:pPr>
            <a:r>
              <a:rPr b="1" i="0" lang="en-US" sz="3800" u="none" cap="none" strike="noStrike">
                <a:solidFill>
                  <a:srgbClr val="7B1C2E"/>
                </a:solidFill>
                <a:latin typeface="Calibri"/>
                <a:ea typeface="Calibri"/>
                <a:cs typeface="Calibri"/>
                <a:sym typeface="Calibri"/>
              </a:rPr>
              <a:t>≈300 000</a:t>
            </a:r>
            <a:endParaRPr/>
          </a:p>
        </p:txBody>
      </p:sp>
      <p:sp>
        <p:nvSpPr>
          <p:cNvPr id="91" name="Google Shape;91;p16"/>
          <p:cNvSpPr txBox="1"/>
          <p:nvPr/>
        </p:nvSpPr>
        <p:spPr>
          <a:xfrm>
            <a:off x="868680" y="5577840"/>
            <a:ext cx="4754880" cy="41148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1400" u="none" cap="none" strike="noStrike">
                <a:solidFill>
                  <a:srgbClr val="262626"/>
                </a:solidFill>
                <a:latin typeface="Calibri"/>
                <a:ea typeface="Calibri"/>
                <a:cs typeface="Calibri"/>
                <a:sym typeface="Calibri"/>
              </a:rPr>
              <a:t>servidores afectados por Bleeding Llama (CVSS 9,1)</a:t>
            </a:r>
            <a:endParaRPr/>
          </a:p>
        </p:txBody>
      </p:sp>
      <p:sp>
        <p:nvSpPr>
          <p:cNvPr id="92" name="Google Shape;92;p16"/>
          <p:cNvSpPr txBox="1"/>
          <p:nvPr/>
        </p:nvSpPr>
        <p:spPr>
          <a:xfrm>
            <a:off x="868680" y="5961888"/>
            <a:ext cx="4754880" cy="32004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0" i="1" lang="en-US" sz="1150" u="none" cap="none" strike="noStrike">
                <a:solidFill>
                  <a:srgbClr val="595959"/>
                </a:solidFill>
                <a:latin typeface="Calibri"/>
                <a:ea typeface="Calibri"/>
                <a:cs typeface="Calibri"/>
                <a:sym typeface="Calibri"/>
              </a:rPr>
              <a:t>CVE-2026-7482, Cyera 2026</a:t>
            </a:r>
            <a:endParaRPr/>
          </a:p>
        </p:txBody>
      </p:sp>
      <p:sp>
        <p:nvSpPr>
          <p:cNvPr id="93" name="Google Shape;93;p16"/>
          <p:cNvSpPr/>
          <p:nvPr/>
        </p:nvSpPr>
        <p:spPr>
          <a:xfrm>
            <a:off x="6035040" y="1371600"/>
            <a:ext cx="5605272" cy="1371600"/>
          </a:xfrm>
          <a:prstGeom prst="roundRect">
            <a:avLst>
              <a:gd fmla="val 6000" name="adj"/>
            </a:avLst>
          </a:prstGeom>
          <a:solidFill>
            <a:srgbClr val="F2F2F2"/>
          </a:solidFill>
          <a:ln cap="flat" cmpd="sng" w="12700">
            <a:solidFill>
              <a:srgbClr val="D0D0D0"/>
            </a:solidFill>
            <a:prstDash val="solid"/>
            <a:miter lim="8000"/>
            <a:headEnd len="sm" w="sm" type="none"/>
            <a:tailEnd len="sm" w="sm" type="none"/>
          </a:ln>
        </p:spPr>
        <p:txBody>
          <a:bodyPr anchorCtr="0" anchor="ctr" bIns="36575" lIns="91425" spcFirstLastPara="1" rIns="91425" wrap="square" tIns="36575">
            <a:noAutofit/>
          </a:bodyPr>
          <a:lstStyle/>
          <a:p>
            <a:pPr indent="0" lvl="0" marL="0" marR="0" rtl="0" algn="l">
              <a:spcBef>
                <a:spcPts val="0"/>
              </a:spcBef>
              <a:spcAft>
                <a:spcPts val="0"/>
              </a:spcAft>
              <a:buNone/>
            </a:pPr>
            <a:r>
              <a:rPr b="1" i="0" lang="en-US" sz="1400" u="none" cap="none" strike="noStrike">
                <a:solidFill>
                  <a:srgbClr val="262626"/>
                </a:solidFill>
                <a:latin typeface="Calibri"/>
                <a:ea typeface="Calibri"/>
                <a:cs typeface="Calibri"/>
                <a:sym typeface="Calibri"/>
              </a:rPr>
              <a:t>Sin credenciales, sin barreras. </a:t>
            </a:r>
            <a:r>
              <a:rPr b="0" i="0" lang="en-US" sz="1400" u="none" cap="none" strike="noStrike">
                <a:solidFill>
                  <a:srgbClr val="262626"/>
                </a:solidFill>
                <a:latin typeface="Calibri"/>
                <a:ea typeface="Calibri"/>
                <a:cs typeface="Calibri"/>
                <a:sym typeface="Calibri"/>
              </a:rPr>
              <a:t>Ollama no trae autenticación: con OLLAMA_HOST=0.0.0.0 queda abierto. Cualquiera puede extraer el system prompt, saltar entre modelos o agotar los recursos.</a:t>
            </a:r>
            <a:endParaRPr/>
          </a:p>
        </p:txBody>
      </p:sp>
      <p:sp>
        <p:nvSpPr>
          <p:cNvPr id="94" name="Google Shape;94;p16"/>
          <p:cNvSpPr txBox="1"/>
          <p:nvPr/>
        </p:nvSpPr>
        <p:spPr>
          <a:xfrm>
            <a:off x="6035040" y="2834640"/>
            <a:ext cx="5577840" cy="320040"/>
          </a:xfrm>
          <a:prstGeom prst="rect">
            <a:avLst/>
          </a:prstGeom>
          <a:noFill/>
          <a:ln>
            <a:noFill/>
          </a:ln>
        </p:spPr>
        <p:txBody>
          <a:bodyPr anchorCtr="0" anchor="t" bIns="27425" lIns="45700" spcFirstLastPara="1" rIns="45700" wrap="square" tIns="27425">
            <a:noAutofit/>
          </a:bodyPr>
          <a:lstStyle/>
          <a:p>
            <a:pPr indent="0" lvl="0" marL="0" marR="0" rtl="0" algn="l">
              <a:spcBef>
                <a:spcPts val="0"/>
              </a:spcBef>
              <a:spcAft>
                <a:spcPts val="0"/>
              </a:spcAft>
              <a:buNone/>
            </a:pPr>
            <a:r>
              <a:rPr b="1" lang="en-US" sz="1200">
                <a:solidFill>
                  <a:srgbClr val="7B1C2E"/>
                </a:solidFill>
                <a:latin typeface="Calibri"/>
                <a:ea typeface="Calibri"/>
                <a:cs typeface="Calibri"/>
                <a:sym typeface="Calibri"/>
              </a:rPr>
              <a:t>LOS CINCO VECTORES, SEGÚN OWASP TOP 10 PARA LLM (2025)</a:t>
            </a:r>
            <a:endParaRPr/>
          </a:p>
        </p:txBody>
      </p:sp>
      <p:sp>
        <p:nvSpPr>
          <p:cNvPr id="95" name="Google Shape;95;p16"/>
          <p:cNvSpPr/>
          <p:nvPr/>
        </p:nvSpPr>
        <p:spPr>
          <a:xfrm>
            <a:off x="6035040" y="3200400"/>
            <a:ext cx="5605272" cy="566928"/>
          </a:xfrm>
          <a:prstGeom prst="roundRect">
            <a:avLst>
              <a:gd fmla="val 6000" name="adj"/>
            </a:avLst>
          </a:prstGeom>
          <a:solidFill>
            <a:srgbClr val="FFFFFF"/>
          </a:solidFill>
          <a:ln cap="flat" cmpd="sng" w="12700">
            <a:solidFill>
              <a:srgbClr val="D0D0D0"/>
            </a:solidFill>
            <a:prstDash val="solid"/>
            <a:miter lim="8000"/>
            <a:headEnd len="sm" w="sm" type="none"/>
            <a:tailEnd len="sm" w="sm" type="none"/>
          </a:ln>
        </p:spPr>
        <p:txBody>
          <a:bodyPr anchorCtr="0" anchor="ctr" bIns="36575" lIns="91425" spcFirstLastPara="1" rIns="91425" wrap="square" tIns="36575">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6" name="Google Shape;96;p16"/>
          <p:cNvSpPr/>
          <p:nvPr/>
        </p:nvSpPr>
        <p:spPr>
          <a:xfrm>
            <a:off x="6035040" y="3200400"/>
            <a:ext cx="731520" cy="566928"/>
          </a:xfrm>
          <a:prstGeom prst="roundRect">
            <a:avLst>
              <a:gd fmla="val 6000" name="adj"/>
            </a:avLst>
          </a:prstGeom>
          <a:solidFill>
            <a:srgbClr val="7B1C2E"/>
          </a:solidFill>
          <a:ln>
            <a:noFill/>
          </a:ln>
        </p:spPr>
        <p:txBody>
          <a:bodyPr anchorCtr="0" anchor="ctr" bIns="36575" lIns="91425" spcFirstLastPara="1" rIns="91425" wrap="square" tIns="36575">
            <a:noAutofit/>
          </a:bodyPr>
          <a:lstStyle/>
          <a:p>
            <a:pPr indent="0" lvl="0" marL="0" marR="0" rtl="0" algn="ctr">
              <a:spcBef>
                <a:spcPts val="0"/>
              </a:spcBef>
              <a:spcAft>
                <a:spcPts val="0"/>
              </a:spcAft>
              <a:buNone/>
            </a:pPr>
            <a:r>
              <a:rPr b="1" i="0" lang="en-US" sz="1600" u="none" cap="none" strike="noStrike">
                <a:solidFill>
                  <a:srgbClr val="FFFFFF"/>
                </a:solidFill>
                <a:latin typeface="Calibri"/>
                <a:ea typeface="Calibri"/>
                <a:cs typeface="Calibri"/>
                <a:sym typeface="Calibri"/>
              </a:rPr>
              <a:t>V1</a:t>
            </a:r>
            <a:endParaRPr/>
          </a:p>
        </p:txBody>
      </p:sp>
      <p:sp>
        <p:nvSpPr>
          <p:cNvPr id="97" name="Google Shape;97;p16"/>
          <p:cNvSpPr txBox="1"/>
          <p:nvPr/>
        </p:nvSpPr>
        <p:spPr>
          <a:xfrm>
            <a:off x="6858000" y="3218688"/>
            <a:ext cx="2651760" cy="530352"/>
          </a:xfrm>
          <a:prstGeom prst="rect">
            <a:avLst/>
          </a:prstGeom>
          <a:noFill/>
          <a:ln>
            <a:noFill/>
          </a:ln>
        </p:spPr>
        <p:txBody>
          <a:bodyPr anchorCtr="0" anchor="ctr" bIns="27425" lIns="45700" spcFirstLastPara="1" rIns="45700" wrap="square" tIns="27425">
            <a:spAutoFit/>
          </a:bodyPr>
          <a:lstStyle/>
          <a:p>
            <a:pPr indent="0" lvl="0" marL="0" marR="0" rtl="0" algn="l">
              <a:spcBef>
                <a:spcPts val="0"/>
              </a:spcBef>
              <a:spcAft>
                <a:spcPts val="0"/>
              </a:spcAft>
              <a:buNone/>
            </a:pPr>
            <a:r>
              <a:rPr b="1" i="0" lang="en-US" sz="1300" u="none" cap="none" strike="noStrike">
                <a:solidFill>
                  <a:srgbClr val="4A1020"/>
                </a:solidFill>
                <a:latin typeface="Calibri"/>
                <a:ea typeface="Calibri"/>
                <a:cs typeface="Calibri"/>
                <a:sym typeface="Calibri"/>
              </a:rPr>
              <a:t>Reconocimiento</a:t>
            </a:r>
            <a:endParaRPr/>
          </a:p>
        </p:txBody>
      </p:sp>
      <p:sp>
        <p:nvSpPr>
          <p:cNvPr id="98" name="Google Shape;98;p16"/>
          <p:cNvSpPr txBox="1"/>
          <p:nvPr/>
        </p:nvSpPr>
        <p:spPr>
          <a:xfrm>
            <a:off x="9326880" y="3218688"/>
            <a:ext cx="2286000" cy="530352"/>
          </a:xfrm>
          <a:prstGeom prst="rect">
            <a:avLst/>
          </a:prstGeom>
          <a:noFill/>
          <a:ln>
            <a:noFill/>
          </a:ln>
        </p:spPr>
        <p:txBody>
          <a:bodyPr anchorCtr="0" anchor="ctr" bIns="27425" lIns="45700" spcFirstLastPara="1" rIns="45700" wrap="square" tIns="27425">
            <a:noAutofit/>
          </a:bodyPr>
          <a:lstStyle/>
          <a:p>
            <a:pPr indent="0" lvl="0" marL="0" marR="0" rtl="0" algn="l">
              <a:spcBef>
                <a:spcPts val="0"/>
              </a:spcBef>
              <a:spcAft>
                <a:spcPts val="0"/>
              </a:spcAft>
              <a:buNone/>
            </a:pPr>
            <a:r>
              <a:rPr lang="en-US" sz="1200">
                <a:solidFill>
                  <a:srgbClr val="595959"/>
                </a:solidFill>
                <a:latin typeface="Calibri"/>
                <a:ea typeface="Calibri"/>
                <a:cs typeface="Calibri"/>
                <a:sym typeface="Calibri"/>
              </a:rPr>
              <a:t>Fuera del Top 10: exposición</a:t>
            </a:r>
            <a:endParaRPr/>
          </a:p>
        </p:txBody>
      </p:sp>
      <p:sp>
        <p:nvSpPr>
          <p:cNvPr id="99" name="Google Shape;99;p16"/>
          <p:cNvSpPr/>
          <p:nvPr/>
        </p:nvSpPr>
        <p:spPr>
          <a:xfrm>
            <a:off x="6035040" y="3840480"/>
            <a:ext cx="5605272" cy="566928"/>
          </a:xfrm>
          <a:prstGeom prst="roundRect">
            <a:avLst>
              <a:gd fmla="val 6000" name="adj"/>
            </a:avLst>
          </a:prstGeom>
          <a:solidFill>
            <a:srgbClr val="FFFFFF"/>
          </a:solidFill>
          <a:ln cap="flat" cmpd="sng" w="12700">
            <a:solidFill>
              <a:srgbClr val="D0D0D0"/>
            </a:solidFill>
            <a:prstDash val="solid"/>
            <a:miter lim="8000"/>
            <a:headEnd len="sm" w="sm" type="none"/>
            <a:tailEnd len="sm" w="sm" type="none"/>
          </a:ln>
        </p:spPr>
        <p:txBody>
          <a:bodyPr anchorCtr="0" anchor="ctr" bIns="36575" lIns="91425" spcFirstLastPara="1" rIns="91425" wrap="square" tIns="36575">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00" name="Google Shape;100;p16"/>
          <p:cNvSpPr/>
          <p:nvPr/>
        </p:nvSpPr>
        <p:spPr>
          <a:xfrm>
            <a:off x="6035040" y="3840480"/>
            <a:ext cx="731520" cy="566928"/>
          </a:xfrm>
          <a:prstGeom prst="roundRect">
            <a:avLst>
              <a:gd fmla="val 6000" name="adj"/>
            </a:avLst>
          </a:prstGeom>
          <a:solidFill>
            <a:srgbClr val="7B1C2E"/>
          </a:solidFill>
          <a:ln>
            <a:noFill/>
          </a:ln>
        </p:spPr>
        <p:txBody>
          <a:bodyPr anchorCtr="0" anchor="ctr" bIns="36575" lIns="91425" spcFirstLastPara="1" rIns="91425" wrap="square" tIns="36575">
            <a:noAutofit/>
          </a:bodyPr>
          <a:lstStyle/>
          <a:p>
            <a:pPr indent="0" lvl="0" marL="0" marR="0" rtl="0" algn="ctr">
              <a:spcBef>
                <a:spcPts val="0"/>
              </a:spcBef>
              <a:spcAft>
                <a:spcPts val="0"/>
              </a:spcAft>
              <a:buNone/>
            </a:pPr>
            <a:r>
              <a:rPr b="1" i="0" lang="en-US" sz="1600" u="none" cap="none" strike="noStrike">
                <a:solidFill>
                  <a:srgbClr val="FFFFFF"/>
                </a:solidFill>
                <a:latin typeface="Calibri"/>
                <a:ea typeface="Calibri"/>
                <a:cs typeface="Calibri"/>
                <a:sym typeface="Calibri"/>
              </a:rPr>
              <a:t>V2</a:t>
            </a:r>
            <a:endParaRPr/>
          </a:p>
        </p:txBody>
      </p:sp>
      <p:sp>
        <p:nvSpPr>
          <p:cNvPr id="101" name="Google Shape;101;p16"/>
          <p:cNvSpPr txBox="1"/>
          <p:nvPr/>
        </p:nvSpPr>
        <p:spPr>
          <a:xfrm>
            <a:off x="6858000" y="3858768"/>
            <a:ext cx="2651760" cy="530352"/>
          </a:xfrm>
          <a:prstGeom prst="rect">
            <a:avLst/>
          </a:prstGeom>
          <a:noFill/>
          <a:ln>
            <a:noFill/>
          </a:ln>
        </p:spPr>
        <p:txBody>
          <a:bodyPr anchorCtr="0" anchor="ctr" bIns="27425" lIns="45700" spcFirstLastPara="1" rIns="45700" wrap="square" tIns="27425">
            <a:spAutoFit/>
          </a:bodyPr>
          <a:lstStyle/>
          <a:p>
            <a:pPr indent="0" lvl="0" marL="0" marR="0" rtl="0" algn="l">
              <a:spcBef>
                <a:spcPts val="0"/>
              </a:spcBef>
              <a:spcAft>
                <a:spcPts val="0"/>
              </a:spcAft>
              <a:buNone/>
            </a:pPr>
            <a:r>
              <a:rPr b="1" i="0" lang="en-US" sz="1300" u="none" cap="none" strike="noStrike">
                <a:solidFill>
                  <a:srgbClr val="4A1020"/>
                </a:solidFill>
                <a:latin typeface="Calibri"/>
                <a:ea typeface="Calibri"/>
                <a:cs typeface="Calibri"/>
                <a:sym typeface="Calibri"/>
              </a:rPr>
              <a:t>Extracción del system prompt</a:t>
            </a:r>
            <a:endParaRPr/>
          </a:p>
        </p:txBody>
      </p:sp>
      <p:sp>
        <p:nvSpPr>
          <p:cNvPr id="102" name="Google Shape;102;p16"/>
          <p:cNvSpPr txBox="1"/>
          <p:nvPr/>
        </p:nvSpPr>
        <p:spPr>
          <a:xfrm>
            <a:off x="9326880" y="3858768"/>
            <a:ext cx="2286000" cy="530352"/>
          </a:xfrm>
          <a:prstGeom prst="rect">
            <a:avLst/>
          </a:prstGeom>
          <a:noFill/>
          <a:ln>
            <a:noFill/>
          </a:ln>
        </p:spPr>
        <p:txBody>
          <a:bodyPr anchorCtr="0" anchor="ctr" bIns="27425" lIns="45700" spcFirstLastPara="1" rIns="45700" wrap="square" tIns="27425">
            <a:noAutofit/>
          </a:bodyPr>
          <a:lstStyle/>
          <a:p>
            <a:pPr indent="0" lvl="0" marL="0" marR="0" rtl="0" algn="l">
              <a:spcBef>
                <a:spcPts val="0"/>
              </a:spcBef>
              <a:spcAft>
                <a:spcPts val="0"/>
              </a:spcAft>
              <a:buNone/>
            </a:pPr>
            <a:r>
              <a:rPr lang="en-US" sz="1200">
                <a:solidFill>
                  <a:srgbClr val="595959"/>
                </a:solidFill>
                <a:latin typeface="Calibri"/>
                <a:ea typeface="Calibri"/>
                <a:cs typeface="Calibri"/>
                <a:sym typeface="Calibri"/>
              </a:rPr>
              <a:t>LLM07 · filtrar instrucciones</a:t>
            </a:r>
            <a:endParaRPr/>
          </a:p>
        </p:txBody>
      </p:sp>
      <p:sp>
        <p:nvSpPr>
          <p:cNvPr id="103" name="Google Shape;103;p16"/>
          <p:cNvSpPr/>
          <p:nvPr/>
        </p:nvSpPr>
        <p:spPr>
          <a:xfrm>
            <a:off x="6035040" y="4480560"/>
            <a:ext cx="5605272" cy="566928"/>
          </a:xfrm>
          <a:prstGeom prst="roundRect">
            <a:avLst>
              <a:gd fmla="val 6000" name="adj"/>
            </a:avLst>
          </a:prstGeom>
          <a:solidFill>
            <a:srgbClr val="FFFFFF"/>
          </a:solidFill>
          <a:ln cap="flat" cmpd="sng" w="12700">
            <a:solidFill>
              <a:srgbClr val="D0D0D0"/>
            </a:solidFill>
            <a:prstDash val="solid"/>
            <a:miter lim="8000"/>
            <a:headEnd len="sm" w="sm" type="none"/>
            <a:tailEnd len="sm" w="sm" type="none"/>
          </a:ln>
        </p:spPr>
        <p:txBody>
          <a:bodyPr anchorCtr="0" anchor="ctr" bIns="36575" lIns="91425" spcFirstLastPara="1" rIns="91425" wrap="square" tIns="36575">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04" name="Google Shape;104;p16"/>
          <p:cNvSpPr/>
          <p:nvPr/>
        </p:nvSpPr>
        <p:spPr>
          <a:xfrm>
            <a:off x="6035040" y="4480560"/>
            <a:ext cx="731520" cy="566928"/>
          </a:xfrm>
          <a:prstGeom prst="roundRect">
            <a:avLst>
              <a:gd fmla="val 6000" name="adj"/>
            </a:avLst>
          </a:prstGeom>
          <a:solidFill>
            <a:srgbClr val="7B1C2E"/>
          </a:solidFill>
          <a:ln>
            <a:noFill/>
          </a:ln>
        </p:spPr>
        <p:txBody>
          <a:bodyPr anchorCtr="0" anchor="ctr" bIns="36575" lIns="91425" spcFirstLastPara="1" rIns="91425" wrap="square" tIns="36575">
            <a:noAutofit/>
          </a:bodyPr>
          <a:lstStyle/>
          <a:p>
            <a:pPr indent="0" lvl="0" marL="0" marR="0" rtl="0" algn="ctr">
              <a:spcBef>
                <a:spcPts val="0"/>
              </a:spcBef>
              <a:spcAft>
                <a:spcPts val="0"/>
              </a:spcAft>
              <a:buNone/>
            </a:pPr>
            <a:r>
              <a:rPr b="1" i="0" lang="en-US" sz="1600" u="none" cap="none" strike="noStrike">
                <a:solidFill>
                  <a:srgbClr val="FFFFFF"/>
                </a:solidFill>
                <a:latin typeface="Calibri"/>
                <a:ea typeface="Calibri"/>
                <a:cs typeface="Calibri"/>
                <a:sym typeface="Calibri"/>
              </a:rPr>
              <a:t>V3</a:t>
            </a:r>
            <a:endParaRPr/>
          </a:p>
        </p:txBody>
      </p:sp>
      <p:sp>
        <p:nvSpPr>
          <p:cNvPr id="105" name="Google Shape;105;p16"/>
          <p:cNvSpPr txBox="1"/>
          <p:nvPr/>
        </p:nvSpPr>
        <p:spPr>
          <a:xfrm>
            <a:off x="6858000" y="4498848"/>
            <a:ext cx="2651760" cy="530352"/>
          </a:xfrm>
          <a:prstGeom prst="rect">
            <a:avLst/>
          </a:prstGeom>
          <a:noFill/>
          <a:ln>
            <a:noFill/>
          </a:ln>
        </p:spPr>
        <p:txBody>
          <a:bodyPr anchorCtr="0" anchor="ctr" bIns="27425" lIns="45700" spcFirstLastPara="1" rIns="45700" wrap="square" tIns="27425">
            <a:spAutoFit/>
          </a:bodyPr>
          <a:lstStyle/>
          <a:p>
            <a:pPr indent="0" lvl="0" marL="0" marR="0" rtl="0" algn="l">
              <a:spcBef>
                <a:spcPts val="0"/>
              </a:spcBef>
              <a:spcAft>
                <a:spcPts val="0"/>
              </a:spcAft>
              <a:buNone/>
            </a:pPr>
            <a:r>
              <a:rPr b="1" i="0" lang="en-US" sz="1300" u="none" cap="none" strike="noStrike">
                <a:solidFill>
                  <a:srgbClr val="4A1020"/>
                </a:solidFill>
                <a:latin typeface="Calibri"/>
                <a:ea typeface="Calibri"/>
                <a:cs typeface="Calibri"/>
                <a:sym typeface="Calibri"/>
              </a:rPr>
              <a:t>Inyección de prompt</a:t>
            </a:r>
            <a:endParaRPr/>
          </a:p>
        </p:txBody>
      </p:sp>
      <p:sp>
        <p:nvSpPr>
          <p:cNvPr id="106" name="Google Shape;106;p16"/>
          <p:cNvSpPr txBox="1"/>
          <p:nvPr/>
        </p:nvSpPr>
        <p:spPr>
          <a:xfrm>
            <a:off x="9326880" y="4498848"/>
            <a:ext cx="2286000" cy="530352"/>
          </a:xfrm>
          <a:prstGeom prst="rect">
            <a:avLst/>
          </a:prstGeom>
          <a:noFill/>
          <a:ln>
            <a:noFill/>
          </a:ln>
        </p:spPr>
        <p:txBody>
          <a:bodyPr anchorCtr="0" anchor="ctr" bIns="27425" lIns="45700" spcFirstLastPara="1" rIns="45700" wrap="square" tIns="27425">
            <a:noAutofit/>
          </a:bodyPr>
          <a:lstStyle/>
          <a:p>
            <a:pPr indent="0" lvl="0" marL="0" marR="0" rtl="0" algn="l">
              <a:spcBef>
                <a:spcPts val="0"/>
              </a:spcBef>
              <a:spcAft>
                <a:spcPts val="0"/>
              </a:spcAft>
              <a:buNone/>
            </a:pPr>
            <a:r>
              <a:rPr lang="en-US" sz="1200">
                <a:solidFill>
                  <a:srgbClr val="595959"/>
                </a:solidFill>
                <a:latin typeface="Calibri"/>
                <a:ea typeface="Calibri"/>
                <a:cs typeface="Calibri"/>
                <a:sym typeface="Calibri"/>
              </a:rPr>
              <a:t>LLM01 · anular instrucciones</a:t>
            </a:r>
            <a:endParaRPr/>
          </a:p>
        </p:txBody>
      </p:sp>
      <p:sp>
        <p:nvSpPr>
          <p:cNvPr id="107" name="Google Shape;107;p16"/>
          <p:cNvSpPr/>
          <p:nvPr/>
        </p:nvSpPr>
        <p:spPr>
          <a:xfrm>
            <a:off x="6035040" y="5120640"/>
            <a:ext cx="5605272" cy="566928"/>
          </a:xfrm>
          <a:prstGeom prst="roundRect">
            <a:avLst>
              <a:gd fmla="val 6000" name="adj"/>
            </a:avLst>
          </a:prstGeom>
          <a:solidFill>
            <a:srgbClr val="FFFFFF"/>
          </a:solidFill>
          <a:ln cap="flat" cmpd="sng" w="12700">
            <a:solidFill>
              <a:srgbClr val="D0D0D0"/>
            </a:solidFill>
            <a:prstDash val="solid"/>
            <a:miter lim="8000"/>
            <a:headEnd len="sm" w="sm" type="none"/>
            <a:tailEnd len="sm" w="sm" type="none"/>
          </a:ln>
        </p:spPr>
        <p:txBody>
          <a:bodyPr anchorCtr="0" anchor="ctr" bIns="36575" lIns="91425" spcFirstLastPara="1" rIns="91425" wrap="square" tIns="36575">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08" name="Google Shape;108;p16"/>
          <p:cNvSpPr/>
          <p:nvPr/>
        </p:nvSpPr>
        <p:spPr>
          <a:xfrm>
            <a:off x="6035040" y="5120640"/>
            <a:ext cx="731520" cy="566928"/>
          </a:xfrm>
          <a:prstGeom prst="roundRect">
            <a:avLst>
              <a:gd fmla="val 6000" name="adj"/>
            </a:avLst>
          </a:prstGeom>
          <a:solidFill>
            <a:srgbClr val="7B1C2E"/>
          </a:solidFill>
          <a:ln>
            <a:noFill/>
          </a:ln>
        </p:spPr>
        <p:txBody>
          <a:bodyPr anchorCtr="0" anchor="ctr" bIns="36575" lIns="91425" spcFirstLastPara="1" rIns="91425" wrap="square" tIns="36575">
            <a:noAutofit/>
          </a:bodyPr>
          <a:lstStyle/>
          <a:p>
            <a:pPr indent="0" lvl="0" marL="0" marR="0" rtl="0" algn="ctr">
              <a:spcBef>
                <a:spcPts val="0"/>
              </a:spcBef>
              <a:spcAft>
                <a:spcPts val="0"/>
              </a:spcAft>
              <a:buNone/>
            </a:pPr>
            <a:r>
              <a:rPr b="1" i="0" lang="en-US" sz="1600" u="none" cap="none" strike="noStrike">
                <a:solidFill>
                  <a:srgbClr val="FFFFFF"/>
                </a:solidFill>
                <a:latin typeface="Calibri"/>
                <a:ea typeface="Calibri"/>
                <a:cs typeface="Calibri"/>
                <a:sym typeface="Calibri"/>
              </a:rPr>
              <a:t>V4</a:t>
            </a:r>
            <a:endParaRPr/>
          </a:p>
        </p:txBody>
      </p:sp>
      <p:sp>
        <p:nvSpPr>
          <p:cNvPr id="109" name="Google Shape;109;p16"/>
          <p:cNvSpPr txBox="1"/>
          <p:nvPr/>
        </p:nvSpPr>
        <p:spPr>
          <a:xfrm>
            <a:off x="6858000" y="5138927"/>
            <a:ext cx="2651760" cy="530352"/>
          </a:xfrm>
          <a:prstGeom prst="rect">
            <a:avLst/>
          </a:prstGeom>
          <a:noFill/>
          <a:ln>
            <a:noFill/>
          </a:ln>
        </p:spPr>
        <p:txBody>
          <a:bodyPr anchorCtr="0" anchor="ctr" bIns="27425" lIns="45700" spcFirstLastPara="1" rIns="45700" wrap="square" tIns="27425">
            <a:spAutoFit/>
          </a:bodyPr>
          <a:lstStyle/>
          <a:p>
            <a:pPr indent="0" lvl="0" marL="0" marR="0" rtl="0" algn="l">
              <a:spcBef>
                <a:spcPts val="0"/>
              </a:spcBef>
              <a:spcAft>
                <a:spcPts val="0"/>
              </a:spcAft>
              <a:buNone/>
            </a:pPr>
            <a:r>
              <a:rPr b="1" i="0" lang="en-US" sz="1300" u="none" cap="none" strike="noStrike">
                <a:solidFill>
                  <a:srgbClr val="4A1020"/>
                </a:solidFill>
                <a:latin typeface="Calibri"/>
                <a:ea typeface="Calibri"/>
                <a:cs typeface="Calibri"/>
                <a:sym typeface="Calibri"/>
              </a:rPr>
              <a:t>Movimiento lateral</a:t>
            </a:r>
            <a:endParaRPr/>
          </a:p>
        </p:txBody>
      </p:sp>
      <p:sp>
        <p:nvSpPr>
          <p:cNvPr id="110" name="Google Shape;110;p16"/>
          <p:cNvSpPr txBox="1"/>
          <p:nvPr/>
        </p:nvSpPr>
        <p:spPr>
          <a:xfrm>
            <a:off x="9326880" y="5138927"/>
            <a:ext cx="2286000" cy="530352"/>
          </a:xfrm>
          <a:prstGeom prst="rect">
            <a:avLst/>
          </a:prstGeom>
          <a:noFill/>
          <a:ln>
            <a:noFill/>
          </a:ln>
        </p:spPr>
        <p:txBody>
          <a:bodyPr anchorCtr="0" anchor="ctr" bIns="27425" lIns="45700" spcFirstLastPara="1" rIns="45700" wrap="square" tIns="27425">
            <a:noAutofit/>
          </a:bodyPr>
          <a:lstStyle/>
          <a:p>
            <a:pPr indent="0" lvl="0" marL="0" marR="0" rtl="0" algn="l">
              <a:spcBef>
                <a:spcPts val="0"/>
              </a:spcBef>
              <a:spcAft>
                <a:spcPts val="0"/>
              </a:spcAft>
              <a:buNone/>
            </a:pPr>
            <a:r>
              <a:rPr lang="en-US" sz="1200">
                <a:solidFill>
                  <a:srgbClr val="595959"/>
                </a:solidFill>
                <a:latin typeface="Calibri"/>
                <a:ea typeface="Calibri"/>
                <a:cs typeface="Calibri"/>
                <a:sym typeface="Calibri"/>
              </a:rPr>
              <a:t>LLM02 · credenciales ajenas</a:t>
            </a:r>
            <a:endParaRPr/>
          </a:p>
        </p:txBody>
      </p:sp>
      <p:sp>
        <p:nvSpPr>
          <p:cNvPr id="111" name="Google Shape;111;p16"/>
          <p:cNvSpPr/>
          <p:nvPr/>
        </p:nvSpPr>
        <p:spPr>
          <a:xfrm>
            <a:off x="6035040" y="5760720"/>
            <a:ext cx="5605272" cy="566928"/>
          </a:xfrm>
          <a:prstGeom prst="roundRect">
            <a:avLst>
              <a:gd fmla="val 6000" name="adj"/>
            </a:avLst>
          </a:prstGeom>
          <a:solidFill>
            <a:srgbClr val="FFFFFF"/>
          </a:solidFill>
          <a:ln cap="flat" cmpd="sng" w="12700">
            <a:solidFill>
              <a:srgbClr val="D0D0D0"/>
            </a:solidFill>
            <a:prstDash val="solid"/>
            <a:miter lim="8000"/>
            <a:headEnd len="sm" w="sm" type="none"/>
            <a:tailEnd len="sm" w="sm" type="none"/>
          </a:ln>
        </p:spPr>
        <p:txBody>
          <a:bodyPr anchorCtr="0" anchor="ctr" bIns="36575" lIns="91425" spcFirstLastPara="1" rIns="91425" wrap="square" tIns="36575">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2" name="Google Shape;112;p16"/>
          <p:cNvSpPr/>
          <p:nvPr/>
        </p:nvSpPr>
        <p:spPr>
          <a:xfrm>
            <a:off x="6035040" y="5760720"/>
            <a:ext cx="731520" cy="566928"/>
          </a:xfrm>
          <a:prstGeom prst="roundRect">
            <a:avLst>
              <a:gd fmla="val 6000" name="adj"/>
            </a:avLst>
          </a:prstGeom>
          <a:solidFill>
            <a:srgbClr val="7B1C2E"/>
          </a:solidFill>
          <a:ln>
            <a:noFill/>
          </a:ln>
        </p:spPr>
        <p:txBody>
          <a:bodyPr anchorCtr="0" anchor="ctr" bIns="36575" lIns="91425" spcFirstLastPara="1" rIns="91425" wrap="square" tIns="36575">
            <a:noAutofit/>
          </a:bodyPr>
          <a:lstStyle/>
          <a:p>
            <a:pPr indent="0" lvl="0" marL="0" marR="0" rtl="0" algn="ctr">
              <a:spcBef>
                <a:spcPts val="0"/>
              </a:spcBef>
              <a:spcAft>
                <a:spcPts val="0"/>
              </a:spcAft>
              <a:buNone/>
            </a:pPr>
            <a:r>
              <a:rPr b="1" i="0" lang="en-US" sz="1600" u="none" cap="none" strike="noStrike">
                <a:solidFill>
                  <a:srgbClr val="FFFFFF"/>
                </a:solidFill>
                <a:latin typeface="Calibri"/>
                <a:ea typeface="Calibri"/>
                <a:cs typeface="Calibri"/>
                <a:sym typeface="Calibri"/>
              </a:rPr>
              <a:t>V5</a:t>
            </a:r>
            <a:endParaRPr/>
          </a:p>
        </p:txBody>
      </p:sp>
      <p:sp>
        <p:nvSpPr>
          <p:cNvPr id="113" name="Google Shape;113;p16"/>
          <p:cNvSpPr txBox="1"/>
          <p:nvPr/>
        </p:nvSpPr>
        <p:spPr>
          <a:xfrm>
            <a:off x="6858000" y="5779007"/>
            <a:ext cx="2651760" cy="530352"/>
          </a:xfrm>
          <a:prstGeom prst="rect">
            <a:avLst/>
          </a:prstGeom>
          <a:noFill/>
          <a:ln>
            <a:noFill/>
          </a:ln>
        </p:spPr>
        <p:txBody>
          <a:bodyPr anchorCtr="0" anchor="ctr" bIns="27425" lIns="45700" spcFirstLastPara="1" rIns="45700" wrap="square" tIns="27425">
            <a:spAutoFit/>
          </a:bodyPr>
          <a:lstStyle/>
          <a:p>
            <a:pPr indent="0" lvl="0" marL="0" marR="0" rtl="0" algn="l">
              <a:spcBef>
                <a:spcPts val="0"/>
              </a:spcBef>
              <a:spcAft>
                <a:spcPts val="0"/>
              </a:spcAft>
              <a:buNone/>
            </a:pPr>
            <a:r>
              <a:rPr b="1" i="0" lang="en-US" sz="1300" u="none" cap="none" strike="noStrike">
                <a:solidFill>
                  <a:srgbClr val="4A1020"/>
                </a:solidFill>
                <a:latin typeface="Calibri"/>
                <a:ea typeface="Calibri"/>
                <a:cs typeface="Calibri"/>
                <a:sym typeface="Calibri"/>
              </a:rPr>
              <a:t>Agotamiento de recursos</a:t>
            </a:r>
            <a:endParaRPr/>
          </a:p>
        </p:txBody>
      </p:sp>
      <p:sp>
        <p:nvSpPr>
          <p:cNvPr id="114" name="Google Shape;114;p16"/>
          <p:cNvSpPr txBox="1"/>
          <p:nvPr/>
        </p:nvSpPr>
        <p:spPr>
          <a:xfrm>
            <a:off x="9326880" y="5779007"/>
            <a:ext cx="2286000" cy="530352"/>
          </a:xfrm>
          <a:prstGeom prst="rect">
            <a:avLst/>
          </a:prstGeom>
          <a:noFill/>
          <a:ln>
            <a:noFill/>
          </a:ln>
        </p:spPr>
        <p:txBody>
          <a:bodyPr anchorCtr="0" anchor="ctr" bIns="27425" lIns="45700" spcFirstLastPara="1" rIns="45700" wrap="square" tIns="27425">
            <a:noAutofit/>
          </a:bodyPr>
          <a:lstStyle/>
          <a:p>
            <a:pPr indent="0" lvl="0" marL="0" marR="0" rtl="0" algn="l">
              <a:spcBef>
                <a:spcPts val="0"/>
              </a:spcBef>
              <a:spcAft>
                <a:spcPts val="0"/>
              </a:spcAft>
              <a:buNone/>
            </a:pPr>
            <a:r>
              <a:rPr lang="en-US" sz="1200">
                <a:solidFill>
                  <a:srgbClr val="595959"/>
                </a:solidFill>
                <a:latin typeface="Calibri"/>
                <a:ea typeface="Calibri"/>
                <a:cs typeface="Calibri"/>
                <a:sym typeface="Calibri"/>
              </a:rPr>
              <a:t>LLM10 · saturar con ráfagas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17"/>
          <p:cNvSpPr txBox="1"/>
          <p:nvPr>
            <p:ph type="title"/>
          </p:nvPr>
        </p:nvSpPr>
        <p:spPr>
          <a:xfrm>
            <a:off x="1371600" y="457200"/>
            <a:ext cx="8869680" cy="64008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4A1020"/>
              </a:buClr>
              <a:buSzPts val="2800"/>
              <a:buFont typeface="Calibri"/>
              <a:buNone/>
            </a:pPr>
            <a:r>
              <a:rPr b="1" lang="en-US" sz="2800">
                <a:solidFill>
                  <a:srgbClr val="4A1020"/>
                </a:solidFill>
              </a:rPr>
              <a:t>Objetivo, pregunta e hipótesis</a:t>
            </a:r>
            <a:endParaRPr/>
          </a:p>
        </p:txBody>
      </p:sp>
      <p:pic>
        <p:nvPicPr>
          <p:cNvPr descr="ironveil_v6.png" id="121" name="Google Shape;121;p17"/>
          <p:cNvPicPr preferRelativeResize="0"/>
          <p:nvPr/>
        </p:nvPicPr>
        <p:blipFill rotWithShape="1">
          <a:blip r:embed="rId3">
            <a:alphaModFix/>
          </a:blip>
          <a:srcRect b="0" l="0" r="0" t="0"/>
          <a:stretch/>
        </p:blipFill>
        <p:spPr>
          <a:xfrm>
            <a:off x="502920" y="274320"/>
            <a:ext cx="822960" cy="822960"/>
          </a:xfrm>
          <a:prstGeom prst="rect">
            <a:avLst/>
          </a:prstGeom>
          <a:noFill/>
          <a:ln>
            <a:noFill/>
          </a:ln>
        </p:spPr>
      </p:pic>
      <p:sp>
        <p:nvSpPr>
          <p:cNvPr id="122" name="Google Shape;122;p17"/>
          <p:cNvSpPr txBox="1"/>
          <p:nvPr/>
        </p:nvSpPr>
        <p:spPr>
          <a:xfrm>
            <a:off x="1371600" y="246888"/>
            <a:ext cx="8229600" cy="27432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1100" u="none" cap="none" strike="noStrike">
                <a:solidFill>
                  <a:srgbClr val="7B1C2E"/>
                </a:solidFill>
                <a:latin typeface="Calibri"/>
                <a:ea typeface="Calibri"/>
                <a:cs typeface="Calibri"/>
                <a:sym typeface="Calibri"/>
              </a:rPr>
              <a:t>02 · PROBLEMA E HIPÓTESIS</a:t>
            </a:r>
            <a:endParaRPr/>
          </a:p>
        </p:txBody>
      </p:sp>
      <p:cxnSp>
        <p:nvCxnSpPr>
          <p:cNvPr id="123" name="Google Shape;123;p17"/>
          <p:cNvCxnSpPr/>
          <p:nvPr/>
        </p:nvCxnSpPr>
        <p:spPr>
          <a:xfrm>
            <a:off x="548640" y="1188720"/>
            <a:ext cx="11091672" cy="0"/>
          </a:xfrm>
          <a:prstGeom prst="straightConnector1">
            <a:avLst/>
          </a:prstGeom>
          <a:noFill/>
          <a:ln cap="flat" cmpd="sng" w="25400">
            <a:solidFill>
              <a:srgbClr val="7B1C2E"/>
            </a:solidFill>
            <a:prstDash val="solid"/>
            <a:miter lim="8000"/>
            <a:headEnd len="sm" w="sm" type="none"/>
            <a:tailEnd len="sm" w="sm" type="none"/>
          </a:ln>
        </p:spPr>
      </p:cxnSp>
      <p:sp>
        <p:nvSpPr>
          <p:cNvPr id="124" name="Google Shape;124;p17"/>
          <p:cNvSpPr/>
          <p:nvPr/>
        </p:nvSpPr>
        <p:spPr>
          <a:xfrm>
            <a:off x="0" y="6510528"/>
            <a:ext cx="12191695" cy="347472"/>
          </a:xfrm>
          <a:prstGeom prst="rect">
            <a:avLst/>
          </a:prstGeom>
          <a:solidFill>
            <a:srgbClr val="7B1C2E"/>
          </a:solidFill>
          <a:ln>
            <a:noFill/>
          </a:ln>
        </p:spPr>
        <p:txBody>
          <a:bodyPr anchorCtr="0" anchor="ctr" bIns="36575" lIns="91425" spcFirstLastPara="1" rIns="91425" wrap="square" tIns="36575">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ronveil_v6_inv.png" id="125" name="Google Shape;125;p17"/>
          <p:cNvPicPr preferRelativeResize="0"/>
          <p:nvPr/>
        </p:nvPicPr>
        <p:blipFill rotWithShape="1">
          <a:blip r:embed="rId4">
            <a:alphaModFix/>
          </a:blip>
          <a:srcRect b="0" l="0" r="0" t="0"/>
          <a:stretch/>
        </p:blipFill>
        <p:spPr>
          <a:xfrm>
            <a:off x="457200" y="6537960"/>
            <a:ext cx="292608" cy="292608"/>
          </a:xfrm>
          <a:prstGeom prst="rect">
            <a:avLst/>
          </a:prstGeom>
          <a:noFill/>
          <a:ln>
            <a:noFill/>
          </a:ln>
        </p:spPr>
      </p:pic>
      <p:sp>
        <p:nvSpPr>
          <p:cNvPr id="126" name="Google Shape;126;p17"/>
          <p:cNvSpPr txBox="1"/>
          <p:nvPr/>
        </p:nvSpPr>
        <p:spPr>
          <a:xfrm>
            <a:off x="822960" y="6528816"/>
            <a:ext cx="5486400" cy="310896"/>
          </a:xfrm>
          <a:prstGeom prst="rect">
            <a:avLst/>
          </a:prstGeom>
          <a:noFill/>
          <a:ln>
            <a:noFill/>
          </a:ln>
        </p:spPr>
        <p:txBody>
          <a:bodyPr anchorCtr="0" anchor="ctr" bIns="27425" lIns="45700" spcFirstLastPara="1" rIns="45700" wrap="square" tIns="27425">
            <a:noAutofit/>
          </a:bodyPr>
          <a:lstStyle/>
          <a:p>
            <a:pPr indent="0" lvl="0" marL="0" marR="0" rtl="0" algn="l">
              <a:spcBef>
                <a:spcPts val="0"/>
              </a:spcBef>
              <a:spcAft>
                <a:spcPts val="0"/>
              </a:spcAft>
              <a:buNone/>
            </a:pPr>
            <a:r>
              <a:rPr b="1" lang="en-US" sz="1050">
                <a:solidFill>
                  <a:srgbClr val="F2F2F2"/>
                </a:solidFill>
                <a:latin typeface="Calibri"/>
                <a:ea typeface="Calibri"/>
                <a:cs typeface="Calibri"/>
                <a:sym typeface="Calibri"/>
              </a:rPr>
              <a:t>IronVeil · Framework de defensa para LLMs autoalojados</a:t>
            </a:r>
            <a:endParaRPr/>
          </a:p>
        </p:txBody>
      </p:sp>
      <p:sp>
        <p:nvSpPr>
          <p:cNvPr id="127" name="Google Shape;127;p17"/>
          <p:cNvSpPr txBox="1"/>
          <p:nvPr/>
        </p:nvSpPr>
        <p:spPr>
          <a:xfrm>
            <a:off x="6217920" y="6528816"/>
            <a:ext cx="5303520" cy="310896"/>
          </a:xfrm>
          <a:prstGeom prst="rect">
            <a:avLst/>
          </a:prstGeom>
          <a:noFill/>
          <a:ln>
            <a:noFill/>
          </a:ln>
        </p:spPr>
        <p:txBody>
          <a:bodyPr anchorCtr="0" anchor="ctr" bIns="27425" lIns="45700" spcFirstLastPara="1" rIns="45700" wrap="square" tIns="27425">
            <a:spAutoFit/>
          </a:bodyPr>
          <a:lstStyle/>
          <a:p>
            <a:pPr indent="0" lvl="0" marL="0" marR="0" rtl="0" algn="r">
              <a:spcBef>
                <a:spcPts val="0"/>
              </a:spcBef>
              <a:spcAft>
                <a:spcPts val="0"/>
              </a:spcAft>
              <a:buNone/>
            </a:pPr>
            <a:r>
              <a:rPr b="0" i="0" lang="en-US" sz="1050" u="none" cap="none" strike="noStrike">
                <a:solidFill>
                  <a:srgbClr val="D9D9D9"/>
                </a:solidFill>
                <a:latin typeface="Calibri"/>
                <a:ea typeface="Calibri"/>
                <a:cs typeface="Calibri"/>
                <a:sym typeface="Calibri"/>
              </a:rPr>
              <a:t>Escuela Colombiana de Ingeniería Julio Garavito · 2026</a:t>
            </a:r>
            <a:endParaRPr/>
          </a:p>
        </p:txBody>
      </p:sp>
      <p:sp>
        <p:nvSpPr>
          <p:cNvPr id="128" name="Google Shape;128;p17"/>
          <p:cNvSpPr txBox="1"/>
          <p:nvPr/>
        </p:nvSpPr>
        <p:spPr>
          <a:xfrm>
            <a:off x="11475720" y="6528816"/>
            <a:ext cx="548640" cy="310896"/>
          </a:xfrm>
          <a:prstGeom prst="rect">
            <a:avLst/>
          </a:prstGeom>
          <a:noFill/>
          <a:ln>
            <a:noFill/>
          </a:ln>
        </p:spPr>
        <p:txBody>
          <a:bodyPr anchorCtr="0" anchor="ctr" bIns="27425" lIns="45700" spcFirstLastPara="1" rIns="45700" wrap="square" tIns="27425">
            <a:spAutoFit/>
          </a:bodyPr>
          <a:lstStyle/>
          <a:p>
            <a:pPr indent="0" lvl="0" marL="0" marR="0" rtl="0" algn="r">
              <a:spcBef>
                <a:spcPts val="0"/>
              </a:spcBef>
              <a:spcAft>
                <a:spcPts val="0"/>
              </a:spcAft>
              <a:buNone/>
            </a:pPr>
            <a:r>
              <a:rPr b="1" i="0" lang="en-US" sz="1100" u="none" cap="none" strike="noStrike">
                <a:solidFill>
                  <a:srgbClr val="FFFFFF"/>
                </a:solidFill>
                <a:latin typeface="Calibri"/>
                <a:ea typeface="Calibri"/>
                <a:cs typeface="Calibri"/>
                <a:sym typeface="Calibri"/>
              </a:rPr>
              <a:t>3</a:t>
            </a:r>
            <a:endParaRPr/>
          </a:p>
        </p:txBody>
      </p:sp>
      <p:sp>
        <p:nvSpPr>
          <p:cNvPr id="129" name="Google Shape;129;p17"/>
          <p:cNvSpPr/>
          <p:nvPr/>
        </p:nvSpPr>
        <p:spPr>
          <a:xfrm>
            <a:off x="548640" y="1371600"/>
            <a:ext cx="3593592" cy="3429000"/>
          </a:xfrm>
          <a:prstGeom prst="roundRect">
            <a:avLst>
              <a:gd fmla="val 6000" name="adj"/>
            </a:avLst>
          </a:prstGeom>
          <a:solidFill>
            <a:srgbClr val="F2F2F2"/>
          </a:solidFill>
          <a:ln cap="flat" cmpd="sng" w="12700">
            <a:solidFill>
              <a:srgbClr val="D0D0D0"/>
            </a:solidFill>
            <a:prstDash val="solid"/>
            <a:miter lim="8000"/>
            <a:headEnd len="sm" w="sm" type="none"/>
            <a:tailEnd len="sm" w="sm" type="none"/>
          </a:ln>
        </p:spPr>
        <p:txBody>
          <a:bodyPr anchorCtr="0" anchor="ctr" bIns="36575" lIns="91425" spcFirstLastPara="1" rIns="91425" wrap="square" tIns="36575">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0" name="Google Shape;130;p17"/>
          <p:cNvSpPr/>
          <p:nvPr/>
        </p:nvSpPr>
        <p:spPr>
          <a:xfrm>
            <a:off x="548640" y="1371600"/>
            <a:ext cx="3593592" cy="548640"/>
          </a:xfrm>
          <a:prstGeom prst="rect">
            <a:avLst/>
          </a:prstGeom>
          <a:solidFill>
            <a:srgbClr val="4A1020"/>
          </a:solidFill>
          <a:ln>
            <a:noFill/>
          </a:ln>
        </p:spPr>
        <p:txBody>
          <a:bodyPr anchorCtr="0" anchor="ctr" bIns="36575" lIns="91425" spcFirstLastPara="1" rIns="91425" wrap="square" tIns="36575">
            <a:noAutofit/>
          </a:bodyPr>
          <a:lstStyle/>
          <a:p>
            <a:pPr indent="0" lvl="0" marL="0" marR="0" rtl="0" algn="ctr">
              <a:spcBef>
                <a:spcPts val="0"/>
              </a:spcBef>
              <a:spcAft>
                <a:spcPts val="0"/>
              </a:spcAft>
              <a:buNone/>
            </a:pPr>
            <a:r>
              <a:rPr b="1" i="0" lang="en-US" sz="1500" u="none" cap="none" strike="noStrike">
                <a:solidFill>
                  <a:srgbClr val="FFFFFF"/>
                </a:solidFill>
                <a:latin typeface="Calibri"/>
                <a:ea typeface="Calibri"/>
                <a:cs typeface="Calibri"/>
                <a:sym typeface="Calibri"/>
              </a:rPr>
              <a:t>OBJETIVO</a:t>
            </a:r>
            <a:endParaRPr/>
          </a:p>
        </p:txBody>
      </p:sp>
      <p:sp>
        <p:nvSpPr>
          <p:cNvPr id="131" name="Google Shape;131;p17"/>
          <p:cNvSpPr txBox="1"/>
          <p:nvPr/>
        </p:nvSpPr>
        <p:spPr>
          <a:xfrm>
            <a:off x="731520" y="2103120"/>
            <a:ext cx="3246120" cy="2651760"/>
          </a:xfrm>
          <a:prstGeom prst="rect">
            <a:avLst/>
          </a:prstGeom>
          <a:noFill/>
          <a:ln>
            <a:noFill/>
          </a:ln>
        </p:spPr>
        <p:txBody>
          <a:bodyPr anchorCtr="0" anchor="t" bIns="27425" lIns="45700" spcFirstLastPara="1" rIns="45700" wrap="square" tIns="27425">
            <a:noAutofit/>
          </a:bodyPr>
          <a:lstStyle/>
          <a:p>
            <a:pPr indent="0" lvl="0" marL="0" marR="0" rtl="0" algn="l">
              <a:spcBef>
                <a:spcPts val="0"/>
              </a:spcBef>
              <a:spcAft>
                <a:spcPts val="0"/>
              </a:spcAft>
              <a:buNone/>
            </a:pPr>
            <a:r>
              <a:rPr b="0" i="0" lang="en-US" sz="1700" u="none" cap="none" strike="noStrike">
                <a:solidFill>
                  <a:srgbClr val="262626"/>
                </a:solidFill>
                <a:latin typeface="Calibri"/>
                <a:ea typeface="Calibri"/>
                <a:cs typeface="Calibri"/>
                <a:sym typeface="Calibri"/>
              </a:rPr>
              <a:t>Medir cuánto reduce cada defensa, sola o combinada, la Tasa de Éxito de Ataque (ASR) </a:t>
            </a:r>
            <a:r>
              <a:rPr lang="en-US" sz="1700">
                <a:solidFill>
                  <a:srgbClr val="262626"/>
                </a:solidFill>
                <a:latin typeface="Calibri"/>
                <a:ea typeface="Calibri"/>
                <a:cs typeface="Calibri"/>
                <a:sym typeface="Calibri"/>
              </a:rPr>
              <a:t>frente a los cinco vectores, alineados con el OWASP Top 10 para aplicaciones LLM (2025), sobre un proxy que protege al modelo.</a:t>
            </a:r>
            <a:endParaRPr/>
          </a:p>
        </p:txBody>
      </p:sp>
      <p:sp>
        <p:nvSpPr>
          <p:cNvPr id="132" name="Google Shape;132;p17"/>
          <p:cNvSpPr/>
          <p:nvPr/>
        </p:nvSpPr>
        <p:spPr>
          <a:xfrm>
            <a:off x="4297679" y="1371600"/>
            <a:ext cx="3593592" cy="3429000"/>
          </a:xfrm>
          <a:prstGeom prst="roundRect">
            <a:avLst>
              <a:gd fmla="val 6000" name="adj"/>
            </a:avLst>
          </a:prstGeom>
          <a:solidFill>
            <a:srgbClr val="F2F2F2"/>
          </a:solidFill>
          <a:ln cap="flat" cmpd="sng" w="12700">
            <a:solidFill>
              <a:srgbClr val="D0D0D0"/>
            </a:solidFill>
            <a:prstDash val="solid"/>
            <a:miter lim="8000"/>
            <a:headEnd len="sm" w="sm" type="none"/>
            <a:tailEnd len="sm" w="sm" type="none"/>
          </a:ln>
        </p:spPr>
        <p:txBody>
          <a:bodyPr anchorCtr="0" anchor="ctr" bIns="36575" lIns="91425" spcFirstLastPara="1" rIns="91425" wrap="square" tIns="36575">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3" name="Google Shape;133;p17"/>
          <p:cNvSpPr/>
          <p:nvPr/>
        </p:nvSpPr>
        <p:spPr>
          <a:xfrm>
            <a:off x="4297679" y="1371600"/>
            <a:ext cx="3593592" cy="548640"/>
          </a:xfrm>
          <a:prstGeom prst="rect">
            <a:avLst/>
          </a:prstGeom>
          <a:solidFill>
            <a:srgbClr val="7B1C2E"/>
          </a:solidFill>
          <a:ln>
            <a:noFill/>
          </a:ln>
        </p:spPr>
        <p:txBody>
          <a:bodyPr anchorCtr="0" anchor="ctr" bIns="36575" lIns="91425" spcFirstLastPara="1" rIns="91425" wrap="square" tIns="36575">
            <a:noAutofit/>
          </a:bodyPr>
          <a:lstStyle/>
          <a:p>
            <a:pPr indent="0" lvl="0" marL="0" marR="0" rtl="0" algn="ctr">
              <a:spcBef>
                <a:spcPts val="0"/>
              </a:spcBef>
              <a:spcAft>
                <a:spcPts val="0"/>
              </a:spcAft>
              <a:buNone/>
            </a:pPr>
            <a:r>
              <a:rPr b="1" i="0" lang="en-US" sz="1500" u="none" cap="none" strike="noStrike">
                <a:solidFill>
                  <a:srgbClr val="FFFFFF"/>
                </a:solidFill>
                <a:latin typeface="Calibri"/>
                <a:ea typeface="Calibri"/>
                <a:cs typeface="Calibri"/>
                <a:sym typeface="Calibri"/>
              </a:rPr>
              <a:t>HIPÓTESIS</a:t>
            </a:r>
            <a:endParaRPr/>
          </a:p>
        </p:txBody>
      </p:sp>
      <p:sp>
        <p:nvSpPr>
          <p:cNvPr id="134" name="Google Shape;134;p17"/>
          <p:cNvSpPr txBox="1"/>
          <p:nvPr/>
        </p:nvSpPr>
        <p:spPr>
          <a:xfrm>
            <a:off x="4480559" y="2103120"/>
            <a:ext cx="3246120" cy="265176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0" i="0" lang="en-US" sz="1700" u="none" cap="none" strike="noStrike">
                <a:solidFill>
                  <a:srgbClr val="262626"/>
                </a:solidFill>
                <a:latin typeface="Calibri"/>
                <a:ea typeface="Calibri"/>
                <a:cs typeface="Calibri"/>
                <a:sym typeface="Calibri"/>
              </a:rPr>
              <a:t>H1. Filtrado, delimitación y clasificación reducen la inyección de prompt; mínimo privilegio frena el movimiento lateral y la aprobación humana el agotamiento.</a:t>
            </a:r>
            <a:endParaRPr/>
          </a:p>
          <a:p>
            <a:pPr indent="0" lvl="0" marL="0" marR="0" rtl="0" algn="l">
              <a:spcBef>
                <a:spcPts val="0"/>
              </a:spcBef>
              <a:spcAft>
                <a:spcPts val="0"/>
              </a:spcAft>
              <a:buNone/>
            </a:pPr>
            <a:r>
              <a:t/>
            </a:r>
            <a:endParaRPr b="0" i="0" sz="1700" u="none" cap="none" strike="noStrike">
              <a:solidFill>
                <a:srgbClr val="262626"/>
              </a:solidFill>
              <a:latin typeface="Calibri"/>
              <a:ea typeface="Calibri"/>
              <a:cs typeface="Calibri"/>
              <a:sym typeface="Calibri"/>
            </a:endParaRPr>
          </a:p>
          <a:p>
            <a:pPr indent="0" lvl="0" marL="0" marR="0" rtl="0" algn="l">
              <a:spcBef>
                <a:spcPts val="0"/>
              </a:spcBef>
              <a:spcAft>
                <a:spcPts val="0"/>
              </a:spcAft>
              <a:buNone/>
            </a:pPr>
            <a:r>
              <a:rPr b="0" i="0" lang="en-US" sz="1700" u="none" cap="none" strike="noStrike">
                <a:solidFill>
                  <a:srgbClr val="262626"/>
                </a:solidFill>
                <a:latin typeface="Calibri"/>
                <a:ea typeface="Calibri"/>
                <a:cs typeface="Calibri"/>
                <a:sym typeface="Calibri"/>
              </a:rPr>
              <a:t>H2. C6 logra el ASR más bajo, sin llegar necesariamente a 0 %.</a:t>
            </a:r>
            <a:endParaRPr/>
          </a:p>
        </p:txBody>
      </p:sp>
      <p:sp>
        <p:nvSpPr>
          <p:cNvPr id="135" name="Google Shape;135;p17"/>
          <p:cNvSpPr/>
          <p:nvPr/>
        </p:nvSpPr>
        <p:spPr>
          <a:xfrm>
            <a:off x="8046719" y="1371600"/>
            <a:ext cx="3593592" cy="3429000"/>
          </a:xfrm>
          <a:prstGeom prst="roundRect">
            <a:avLst>
              <a:gd fmla="val 6000" name="adj"/>
            </a:avLst>
          </a:prstGeom>
          <a:solidFill>
            <a:srgbClr val="F2F2F2"/>
          </a:solidFill>
          <a:ln cap="flat" cmpd="sng" w="12700">
            <a:solidFill>
              <a:srgbClr val="D0D0D0"/>
            </a:solidFill>
            <a:prstDash val="solid"/>
            <a:miter lim="8000"/>
            <a:headEnd len="sm" w="sm" type="none"/>
            <a:tailEnd len="sm" w="sm" type="none"/>
          </a:ln>
        </p:spPr>
        <p:txBody>
          <a:bodyPr anchorCtr="0" anchor="ctr" bIns="36575" lIns="91425" spcFirstLastPara="1" rIns="91425" wrap="square" tIns="36575">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6" name="Google Shape;136;p17"/>
          <p:cNvSpPr/>
          <p:nvPr/>
        </p:nvSpPr>
        <p:spPr>
          <a:xfrm>
            <a:off x="8046719" y="1371600"/>
            <a:ext cx="3593592" cy="548640"/>
          </a:xfrm>
          <a:prstGeom prst="rect">
            <a:avLst/>
          </a:prstGeom>
          <a:solidFill>
            <a:srgbClr val="4A1020"/>
          </a:solidFill>
          <a:ln>
            <a:noFill/>
          </a:ln>
        </p:spPr>
        <p:txBody>
          <a:bodyPr anchorCtr="0" anchor="ctr" bIns="36575" lIns="91425" spcFirstLastPara="1" rIns="91425" wrap="square" tIns="36575">
            <a:noAutofit/>
          </a:bodyPr>
          <a:lstStyle/>
          <a:p>
            <a:pPr indent="0" lvl="0" marL="0" marR="0" rtl="0" algn="ctr">
              <a:spcBef>
                <a:spcPts val="0"/>
              </a:spcBef>
              <a:spcAft>
                <a:spcPts val="0"/>
              </a:spcAft>
              <a:buNone/>
            </a:pPr>
            <a:r>
              <a:rPr b="1" i="0" lang="en-US" sz="1500" u="none" cap="none" strike="noStrike">
                <a:solidFill>
                  <a:srgbClr val="FFFFFF"/>
                </a:solidFill>
                <a:latin typeface="Calibri"/>
                <a:ea typeface="Calibri"/>
                <a:cs typeface="Calibri"/>
                <a:sym typeface="Calibri"/>
              </a:rPr>
              <a:t>SUPUESTO A VALIDAR</a:t>
            </a:r>
            <a:endParaRPr/>
          </a:p>
        </p:txBody>
      </p:sp>
      <p:sp>
        <p:nvSpPr>
          <p:cNvPr id="137" name="Google Shape;137;p17"/>
          <p:cNvSpPr txBox="1"/>
          <p:nvPr/>
        </p:nvSpPr>
        <p:spPr>
          <a:xfrm>
            <a:off x="8229599" y="2103120"/>
            <a:ext cx="3246120" cy="265176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0" i="0" lang="en-US" sz="1700" u="none" cap="none" strike="noStrike">
                <a:solidFill>
                  <a:srgbClr val="262626"/>
                </a:solidFill>
                <a:latin typeface="Calibri"/>
                <a:ea typeface="Calibri"/>
                <a:cs typeface="Calibri"/>
                <a:sym typeface="Calibri"/>
              </a:rPr>
              <a:t>El mismo código, cambiando solo cinco banderas de config.yaml, permite comparar las configuraciones C0 a C6 de forma justa.</a:t>
            </a:r>
            <a:endParaRPr/>
          </a:p>
          <a:p>
            <a:pPr indent="0" lvl="0" marL="0" marR="0" rtl="0" algn="l">
              <a:spcBef>
                <a:spcPts val="0"/>
              </a:spcBef>
              <a:spcAft>
                <a:spcPts val="0"/>
              </a:spcAft>
              <a:buNone/>
            </a:pPr>
            <a:r>
              <a:t/>
            </a:r>
            <a:endParaRPr b="0" i="0" sz="1700" u="none" cap="none" strike="noStrike">
              <a:solidFill>
                <a:srgbClr val="262626"/>
              </a:solidFill>
              <a:latin typeface="Calibri"/>
              <a:ea typeface="Calibri"/>
              <a:cs typeface="Calibri"/>
              <a:sym typeface="Calibri"/>
            </a:endParaRPr>
          </a:p>
          <a:p>
            <a:pPr indent="0" lvl="0" marL="0" marR="0" rtl="0" algn="l">
              <a:spcBef>
                <a:spcPts val="0"/>
              </a:spcBef>
              <a:spcAft>
                <a:spcPts val="0"/>
              </a:spcAft>
              <a:buNone/>
            </a:pPr>
            <a:r>
              <a:rPr b="0" i="0" lang="en-US" sz="1700" u="none" cap="none" strike="noStrike">
                <a:solidFill>
                  <a:srgbClr val="262626"/>
                </a:solidFill>
                <a:latin typeface="Calibri"/>
                <a:ea typeface="Calibri"/>
                <a:cs typeface="Calibri"/>
                <a:sym typeface="Calibri"/>
              </a:rPr>
              <a:t>Cada defensa se activa o apaga sin tocar el código.</a:t>
            </a:r>
            <a:endParaRPr/>
          </a:p>
        </p:txBody>
      </p:sp>
      <p:sp>
        <p:nvSpPr>
          <p:cNvPr id="138" name="Google Shape;138;p17"/>
          <p:cNvSpPr/>
          <p:nvPr/>
        </p:nvSpPr>
        <p:spPr>
          <a:xfrm>
            <a:off x="548640" y="4983480"/>
            <a:ext cx="11091672" cy="1371600"/>
          </a:xfrm>
          <a:prstGeom prst="roundRect">
            <a:avLst>
              <a:gd fmla="val 6000" name="adj"/>
            </a:avLst>
          </a:prstGeom>
          <a:solidFill>
            <a:srgbClr val="7B1C2E"/>
          </a:solidFill>
          <a:ln>
            <a:noFill/>
          </a:ln>
        </p:spPr>
        <p:txBody>
          <a:bodyPr anchorCtr="0" anchor="ctr" bIns="36575" lIns="91425" spcFirstLastPara="1" rIns="91425" wrap="square" tIns="36575">
            <a:noAutofit/>
          </a:bodyPr>
          <a:lstStyle/>
          <a:p>
            <a:pPr indent="0" lvl="0" marL="0" marR="0" rtl="0" algn="l">
              <a:spcBef>
                <a:spcPts val="0"/>
              </a:spcBef>
              <a:spcAft>
                <a:spcPts val="0"/>
              </a:spcAft>
              <a:buNone/>
            </a:pPr>
            <a:r>
              <a:rPr b="1" i="0" lang="en-US" sz="1200" u="none" cap="none" strike="noStrike">
                <a:solidFill>
                  <a:srgbClr val="FFFFFF"/>
                </a:solidFill>
                <a:latin typeface="Calibri"/>
                <a:ea typeface="Calibri"/>
                <a:cs typeface="Calibri"/>
                <a:sym typeface="Calibri"/>
              </a:rPr>
              <a:t>PREGUNTA DE INVESTIGACIÓN</a:t>
            </a:r>
            <a:endParaRPr/>
          </a:p>
          <a:p>
            <a:pPr indent="0" lvl="0" marL="0" marR="0" rtl="0" algn="l">
              <a:spcBef>
                <a:spcPts val="600"/>
              </a:spcBef>
              <a:spcAft>
                <a:spcPts val="0"/>
              </a:spcAft>
              <a:buNone/>
            </a:pPr>
            <a:r>
              <a:rPr b="1" i="0" lang="en-US" sz="2200" u="none" cap="none" strike="noStrike">
                <a:solidFill>
                  <a:srgbClr val="FFFFFF"/>
                </a:solidFill>
                <a:latin typeface="Calibri"/>
                <a:ea typeface="Calibri"/>
                <a:cs typeface="Calibri"/>
                <a:sym typeface="Calibri"/>
              </a:rPr>
              <a:t>¿Qué combinación de mecanismos ofrece la mejor relación entre protección, utilidad y costo?</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18"/>
          <p:cNvSpPr txBox="1"/>
          <p:nvPr>
            <p:ph type="title"/>
          </p:nvPr>
        </p:nvSpPr>
        <p:spPr>
          <a:xfrm>
            <a:off x="1371600" y="457200"/>
            <a:ext cx="8869680" cy="64008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4A1020"/>
              </a:buClr>
              <a:buSzPts val="2800"/>
              <a:buFont typeface="Calibri"/>
              <a:buNone/>
            </a:pPr>
            <a:r>
              <a:rPr b="1" lang="en-US" sz="2800">
                <a:solidFill>
                  <a:srgbClr val="4A1020"/>
                </a:solidFill>
              </a:rPr>
              <a:t>Cómo se aborda hoy</a:t>
            </a:r>
            <a:endParaRPr/>
          </a:p>
        </p:txBody>
      </p:sp>
      <p:pic>
        <p:nvPicPr>
          <p:cNvPr descr="ironveil_v6.png" id="145" name="Google Shape;145;p18"/>
          <p:cNvPicPr preferRelativeResize="0"/>
          <p:nvPr/>
        </p:nvPicPr>
        <p:blipFill rotWithShape="1">
          <a:blip r:embed="rId3">
            <a:alphaModFix/>
          </a:blip>
          <a:srcRect b="0" l="0" r="0" t="0"/>
          <a:stretch/>
        </p:blipFill>
        <p:spPr>
          <a:xfrm>
            <a:off x="502920" y="274320"/>
            <a:ext cx="822960" cy="822960"/>
          </a:xfrm>
          <a:prstGeom prst="rect">
            <a:avLst/>
          </a:prstGeom>
          <a:noFill/>
          <a:ln>
            <a:noFill/>
          </a:ln>
        </p:spPr>
      </p:pic>
      <p:sp>
        <p:nvSpPr>
          <p:cNvPr id="146" name="Google Shape;146;p18"/>
          <p:cNvSpPr txBox="1"/>
          <p:nvPr/>
        </p:nvSpPr>
        <p:spPr>
          <a:xfrm>
            <a:off x="1371600" y="246888"/>
            <a:ext cx="8229600" cy="27432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1100" u="none" cap="none" strike="noStrike">
                <a:solidFill>
                  <a:srgbClr val="7B1C2E"/>
                </a:solidFill>
                <a:latin typeface="Calibri"/>
                <a:ea typeface="Calibri"/>
                <a:cs typeface="Calibri"/>
                <a:sym typeface="Calibri"/>
              </a:rPr>
              <a:t>03 · ESTADO DEL ARTE</a:t>
            </a:r>
            <a:endParaRPr/>
          </a:p>
        </p:txBody>
      </p:sp>
      <p:cxnSp>
        <p:nvCxnSpPr>
          <p:cNvPr id="147" name="Google Shape;147;p18"/>
          <p:cNvCxnSpPr/>
          <p:nvPr/>
        </p:nvCxnSpPr>
        <p:spPr>
          <a:xfrm>
            <a:off x="548640" y="1188720"/>
            <a:ext cx="11091672" cy="0"/>
          </a:xfrm>
          <a:prstGeom prst="straightConnector1">
            <a:avLst/>
          </a:prstGeom>
          <a:noFill/>
          <a:ln cap="flat" cmpd="sng" w="25400">
            <a:solidFill>
              <a:srgbClr val="7B1C2E"/>
            </a:solidFill>
            <a:prstDash val="solid"/>
            <a:miter lim="8000"/>
            <a:headEnd len="sm" w="sm" type="none"/>
            <a:tailEnd len="sm" w="sm" type="none"/>
          </a:ln>
        </p:spPr>
      </p:cxnSp>
      <p:sp>
        <p:nvSpPr>
          <p:cNvPr id="148" name="Google Shape;148;p18"/>
          <p:cNvSpPr/>
          <p:nvPr/>
        </p:nvSpPr>
        <p:spPr>
          <a:xfrm>
            <a:off x="0" y="6510528"/>
            <a:ext cx="12191695" cy="347472"/>
          </a:xfrm>
          <a:prstGeom prst="rect">
            <a:avLst/>
          </a:prstGeom>
          <a:solidFill>
            <a:srgbClr val="7B1C2E"/>
          </a:solidFill>
          <a:ln>
            <a:noFill/>
          </a:ln>
        </p:spPr>
        <p:txBody>
          <a:bodyPr anchorCtr="0" anchor="ctr" bIns="36575" lIns="91425" spcFirstLastPara="1" rIns="91425" wrap="square" tIns="36575">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ronveil_v6_inv.png" id="149" name="Google Shape;149;p18"/>
          <p:cNvPicPr preferRelativeResize="0"/>
          <p:nvPr/>
        </p:nvPicPr>
        <p:blipFill rotWithShape="1">
          <a:blip r:embed="rId4">
            <a:alphaModFix/>
          </a:blip>
          <a:srcRect b="0" l="0" r="0" t="0"/>
          <a:stretch/>
        </p:blipFill>
        <p:spPr>
          <a:xfrm>
            <a:off x="457200" y="6537960"/>
            <a:ext cx="292608" cy="292608"/>
          </a:xfrm>
          <a:prstGeom prst="rect">
            <a:avLst/>
          </a:prstGeom>
          <a:noFill/>
          <a:ln>
            <a:noFill/>
          </a:ln>
        </p:spPr>
      </p:pic>
      <p:sp>
        <p:nvSpPr>
          <p:cNvPr id="150" name="Google Shape;150;p18"/>
          <p:cNvSpPr txBox="1"/>
          <p:nvPr/>
        </p:nvSpPr>
        <p:spPr>
          <a:xfrm>
            <a:off x="822960" y="6528816"/>
            <a:ext cx="5486400" cy="310896"/>
          </a:xfrm>
          <a:prstGeom prst="rect">
            <a:avLst/>
          </a:prstGeom>
          <a:noFill/>
          <a:ln>
            <a:noFill/>
          </a:ln>
        </p:spPr>
        <p:txBody>
          <a:bodyPr anchorCtr="0" anchor="ctr" bIns="27425" lIns="45700" spcFirstLastPara="1" rIns="45700" wrap="square" tIns="27425">
            <a:noAutofit/>
          </a:bodyPr>
          <a:lstStyle/>
          <a:p>
            <a:pPr indent="0" lvl="0" marL="0" marR="0" rtl="0" algn="l">
              <a:spcBef>
                <a:spcPts val="0"/>
              </a:spcBef>
              <a:spcAft>
                <a:spcPts val="0"/>
              </a:spcAft>
              <a:buNone/>
            </a:pPr>
            <a:r>
              <a:rPr b="1" lang="en-US" sz="1050">
                <a:solidFill>
                  <a:srgbClr val="F2F2F2"/>
                </a:solidFill>
                <a:latin typeface="Calibri"/>
                <a:ea typeface="Calibri"/>
                <a:cs typeface="Calibri"/>
                <a:sym typeface="Calibri"/>
              </a:rPr>
              <a:t>IronVeil · Framework de defensa para LLMs autoalojados</a:t>
            </a:r>
            <a:endParaRPr/>
          </a:p>
        </p:txBody>
      </p:sp>
      <p:sp>
        <p:nvSpPr>
          <p:cNvPr id="151" name="Google Shape;151;p18"/>
          <p:cNvSpPr txBox="1"/>
          <p:nvPr/>
        </p:nvSpPr>
        <p:spPr>
          <a:xfrm>
            <a:off x="6217920" y="6528816"/>
            <a:ext cx="5303520" cy="310896"/>
          </a:xfrm>
          <a:prstGeom prst="rect">
            <a:avLst/>
          </a:prstGeom>
          <a:noFill/>
          <a:ln>
            <a:noFill/>
          </a:ln>
        </p:spPr>
        <p:txBody>
          <a:bodyPr anchorCtr="0" anchor="ctr" bIns="27425" lIns="45700" spcFirstLastPara="1" rIns="45700" wrap="square" tIns="27425">
            <a:spAutoFit/>
          </a:bodyPr>
          <a:lstStyle/>
          <a:p>
            <a:pPr indent="0" lvl="0" marL="0" marR="0" rtl="0" algn="r">
              <a:spcBef>
                <a:spcPts val="0"/>
              </a:spcBef>
              <a:spcAft>
                <a:spcPts val="0"/>
              </a:spcAft>
              <a:buNone/>
            </a:pPr>
            <a:r>
              <a:rPr b="0" i="0" lang="en-US" sz="1050" u="none" cap="none" strike="noStrike">
                <a:solidFill>
                  <a:srgbClr val="D9D9D9"/>
                </a:solidFill>
                <a:latin typeface="Calibri"/>
                <a:ea typeface="Calibri"/>
                <a:cs typeface="Calibri"/>
                <a:sym typeface="Calibri"/>
              </a:rPr>
              <a:t>Escuela Colombiana de Ingeniería Julio Garavito · 2026</a:t>
            </a:r>
            <a:endParaRPr/>
          </a:p>
        </p:txBody>
      </p:sp>
      <p:sp>
        <p:nvSpPr>
          <p:cNvPr id="152" name="Google Shape;152;p18"/>
          <p:cNvSpPr txBox="1"/>
          <p:nvPr/>
        </p:nvSpPr>
        <p:spPr>
          <a:xfrm>
            <a:off x="11475720" y="6528816"/>
            <a:ext cx="548640" cy="310896"/>
          </a:xfrm>
          <a:prstGeom prst="rect">
            <a:avLst/>
          </a:prstGeom>
          <a:noFill/>
          <a:ln>
            <a:noFill/>
          </a:ln>
        </p:spPr>
        <p:txBody>
          <a:bodyPr anchorCtr="0" anchor="ctr" bIns="27425" lIns="45700" spcFirstLastPara="1" rIns="45700" wrap="square" tIns="27425">
            <a:spAutoFit/>
          </a:bodyPr>
          <a:lstStyle/>
          <a:p>
            <a:pPr indent="0" lvl="0" marL="0" marR="0" rtl="0" algn="r">
              <a:spcBef>
                <a:spcPts val="0"/>
              </a:spcBef>
              <a:spcAft>
                <a:spcPts val="0"/>
              </a:spcAft>
              <a:buNone/>
            </a:pPr>
            <a:r>
              <a:rPr b="1" i="0" lang="en-US" sz="1100" u="none" cap="none" strike="noStrike">
                <a:solidFill>
                  <a:srgbClr val="FFFFFF"/>
                </a:solidFill>
                <a:latin typeface="Calibri"/>
                <a:ea typeface="Calibri"/>
                <a:cs typeface="Calibri"/>
                <a:sym typeface="Calibri"/>
              </a:rPr>
              <a:t>4</a:t>
            </a:r>
            <a:endParaRPr/>
          </a:p>
        </p:txBody>
      </p:sp>
      <p:sp>
        <p:nvSpPr>
          <p:cNvPr id="153" name="Google Shape;153;p18"/>
          <p:cNvSpPr/>
          <p:nvPr/>
        </p:nvSpPr>
        <p:spPr>
          <a:xfrm>
            <a:off x="548640" y="1371600"/>
            <a:ext cx="3593592" cy="2121408"/>
          </a:xfrm>
          <a:prstGeom prst="roundRect">
            <a:avLst>
              <a:gd fmla="val 6000" name="adj"/>
            </a:avLst>
          </a:prstGeom>
          <a:solidFill>
            <a:srgbClr val="F2F2F2"/>
          </a:solidFill>
          <a:ln cap="flat" cmpd="sng" w="12700">
            <a:solidFill>
              <a:srgbClr val="D0D0D0"/>
            </a:solidFill>
            <a:prstDash val="solid"/>
            <a:miter lim="8000"/>
            <a:headEnd len="sm" w="sm" type="none"/>
            <a:tailEnd len="sm" w="sm" type="none"/>
          </a:ln>
        </p:spPr>
        <p:txBody>
          <a:bodyPr anchorCtr="0" anchor="ctr" bIns="36575" lIns="91425" spcFirstLastPara="1" rIns="91425" wrap="square" tIns="36575">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4" name="Google Shape;154;p18"/>
          <p:cNvSpPr/>
          <p:nvPr/>
        </p:nvSpPr>
        <p:spPr>
          <a:xfrm>
            <a:off x="548640" y="1371600"/>
            <a:ext cx="3593592" cy="73152"/>
          </a:xfrm>
          <a:prstGeom prst="rect">
            <a:avLst/>
          </a:prstGeom>
          <a:solidFill>
            <a:srgbClr val="7B1C2E"/>
          </a:solidFill>
          <a:ln>
            <a:noFill/>
          </a:ln>
        </p:spPr>
        <p:txBody>
          <a:bodyPr anchorCtr="0" anchor="ctr" bIns="36575" lIns="91425" spcFirstLastPara="1" rIns="91425" wrap="square" tIns="36575">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5" name="Google Shape;155;p18"/>
          <p:cNvSpPr txBox="1"/>
          <p:nvPr/>
        </p:nvSpPr>
        <p:spPr>
          <a:xfrm>
            <a:off x="685800" y="1508760"/>
            <a:ext cx="3337560" cy="36576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1500" u="none" cap="none" strike="noStrike">
                <a:solidFill>
                  <a:srgbClr val="4A1020"/>
                </a:solidFill>
                <a:latin typeface="Calibri"/>
                <a:ea typeface="Calibri"/>
                <a:cs typeface="Calibri"/>
                <a:sym typeface="Calibri"/>
              </a:rPr>
              <a:t>Filtrado de entrada</a:t>
            </a:r>
            <a:endParaRPr/>
          </a:p>
        </p:txBody>
      </p:sp>
      <p:sp>
        <p:nvSpPr>
          <p:cNvPr id="156" name="Google Shape;156;p18"/>
          <p:cNvSpPr txBox="1"/>
          <p:nvPr/>
        </p:nvSpPr>
        <p:spPr>
          <a:xfrm>
            <a:off x="685800" y="1901952"/>
            <a:ext cx="3337560" cy="100584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0" i="0" lang="en-US" sz="1400" u="none" cap="none" strike="noStrike">
                <a:solidFill>
                  <a:srgbClr val="262626"/>
                </a:solidFill>
                <a:latin typeface="Calibri"/>
                <a:ea typeface="Calibri"/>
                <a:cs typeface="Calibri"/>
                <a:sym typeface="Calibri"/>
              </a:rPr>
              <a:t>Revisión de 128 estudios: sin defensa el ataque supera 90 %; el preprocesamiento detecta 60 a 80 % (Geng et al., 2026).</a:t>
            </a:r>
            <a:endParaRPr/>
          </a:p>
        </p:txBody>
      </p:sp>
      <p:sp>
        <p:nvSpPr>
          <p:cNvPr id="157" name="Google Shape;157;p18"/>
          <p:cNvSpPr/>
          <p:nvPr/>
        </p:nvSpPr>
        <p:spPr>
          <a:xfrm>
            <a:off x="685800" y="2926080"/>
            <a:ext cx="3319272" cy="457200"/>
          </a:xfrm>
          <a:prstGeom prst="roundRect">
            <a:avLst>
              <a:gd fmla="val 6000" name="adj"/>
            </a:avLst>
          </a:prstGeom>
          <a:solidFill>
            <a:srgbClr val="FFFFFF"/>
          </a:solidFill>
          <a:ln>
            <a:noFill/>
          </a:ln>
        </p:spPr>
        <p:txBody>
          <a:bodyPr anchorCtr="0" anchor="ctr" bIns="36575" lIns="91425" spcFirstLastPara="1" rIns="91425" wrap="square" tIns="36575">
            <a:noAutofit/>
          </a:bodyPr>
          <a:lstStyle/>
          <a:p>
            <a:pPr indent="0" lvl="0" marL="0" marR="0" rtl="0" algn="l">
              <a:spcBef>
                <a:spcPts val="0"/>
              </a:spcBef>
              <a:spcAft>
                <a:spcPts val="0"/>
              </a:spcAft>
              <a:buNone/>
            </a:pPr>
            <a:r>
              <a:rPr b="1" i="0" lang="en-US" sz="1200" u="none" cap="none" strike="noStrike">
                <a:solidFill>
                  <a:srgbClr val="7B1C2E"/>
                </a:solidFill>
                <a:latin typeface="Calibri"/>
                <a:ea typeface="Calibri"/>
                <a:cs typeface="Calibri"/>
                <a:sym typeface="Calibri"/>
              </a:rPr>
              <a:t>Límite: </a:t>
            </a:r>
            <a:r>
              <a:rPr b="0" i="0" lang="en-US" sz="1200" u="none" cap="none" strike="noStrike">
                <a:solidFill>
                  <a:srgbClr val="7B1C2E"/>
                </a:solidFill>
                <a:latin typeface="Calibri"/>
                <a:ea typeface="Calibri"/>
                <a:cs typeface="Calibri"/>
                <a:sym typeface="Calibri"/>
              </a:rPr>
              <a:t>Brechas ante ataques nuevos o adaptativos</a:t>
            </a:r>
            <a:endParaRPr/>
          </a:p>
        </p:txBody>
      </p:sp>
      <p:sp>
        <p:nvSpPr>
          <p:cNvPr id="158" name="Google Shape;158;p18"/>
          <p:cNvSpPr/>
          <p:nvPr/>
        </p:nvSpPr>
        <p:spPr>
          <a:xfrm>
            <a:off x="4297679" y="1371600"/>
            <a:ext cx="3593592" cy="2121408"/>
          </a:xfrm>
          <a:prstGeom prst="roundRect">
            <a:avLst>
              <a:gd fmla="val 6000" name="adj"/>
            </a:avLst>
          </a:prstGeom>
          <a:solidFill>
            <a:srgbClr val="F2F2F2"/>
          </a:solidFill>
          <a:ln cap="flat" cmpd="sng" w="12700">
            <a:solidFill>
              <a:srgbClr val="D0D0D0"/>
            </a:solidFill>
            <a:prstDash val="solid"/>
            <a:miter lim="8000"/>
            <a:headEnd len="sm" w="sm" type="none"/>
            <a:tailEnd len="sm" w="sm" type="none"/>
          </a:ln>
        </p:spPr>
        <p:txBody>
          <a:bodyPr anchorCtr="0" anchor="ctr" bIns="36575" lIns="91425" spcFirstLastPara="1" rIns="91425" wrap="square" tIns="36575">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9" name="Google Shape;159;p18"/>
          <p:cNvSpPr/>
          <p:nvPr/>
        </p:nvSpPr>
        <p:spPr>
          <a:xfrm>
            <a:off x="4297679" y="1371600"/>
            <a:ext cx="3593592" cy="73152"/>
          </a:xfrm>
          <a:prstGeom prst="rect">
            <a:avLst/>
          </a:prstGeom>
          <a:solidFill>
            <a:srgbClr val="7B1C2E"/>
          </a:solidFill>
          <a:ln>
            <a:noFill/>
          </a:ln>
        </p:spPr>
        <p:txBody>
          <a:bodyPr anchorCtr="0" anchor="ctr" bIns="36575" lIns="91425" spcFirstLastPara="1" rIns="91425" wrap="square" tIns="36575">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0" name="Google Shape;160;p18"/>
          <p:cNvSpPr txBox="1"/>
          <p:nvPr/>
        </p:nvSpPr>
        <p:spPr>
          <a:xfrm>
            <a:off x="4434840" y="1508760"/>
            <a:ext cx="3337560" cy="36576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1500" u="none" cap="none" strike="noStrike">
                <a:solidFill>
                  <a:srgbClr val="4A1020"/>
                </a:solidFill>
                <a:latin typeface="Calibri"/>
                <a:ea typeface="Calibri"/>
                <a:cs typeface="Calibri"/>
                <a:sym typeface="Calibri"/>
              </a:rPr>
              <a:t>Delimitación (Spotlighting)</a:t>
            </a:r>
            <a:endParaRPr/>
          </a:p>
        </p:txBody>
      </p:sp>
      <p:sp>
        <p:nvSpPr>
          <p:cNvPr id="161" name="Google Shape;161;p18"/>
          <p:cNvSpPr txBox="1"/>
          <p:nvPr/>
        </p:nvSpPr>
        <p:spPr>
          <a:xfrm>
            <a:off x="4434840" y="1901952"/>
            <a:ext cx="3337560" cy="100584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0" i="0" lang="en-US" sz="1400" u="none" cap="none" strike="noStrike">
                <a:solidFill>
                  <a:srgbClr val="262626"/>
                </a:solidFill>
                <a:latin typeface="Calibri"/>
                <a:ea typeface="Calibri"/>
                <a:cs typeface="Calibri"/>
                <a:sym typeface="Calibri"/>
              </a:rPr>
              <a:t>Propuesta por Hines et al. (2024); Microsoft la combina con un clasificador y salvaguardas deterministas.</a:t>
            </a:r>
            <a:endParaRPr/>
          </a:p>
        </p:txBody>
      </p:sp>
      <p:sp>
        <p:nvSpPr>
          <p:cNvPr id="162" name="Google Shape;162;p18"/>
          <p:cNvSpPr/>
          <p:nvPr/>
        </p:nvSpPr>
        <p:spPr>
          <a:xfrm>
            <a:off x="4434840" y="2926080"/>
            <a:ext cx="3319272" cy="457200"/>
          </a:xfrm>
          <a:prstGeom prst="roundRect">
            <a:avLst>
              <a:gd fmla="val 6000" name="adj"/>
            </a:avLst>
          </a:prstGeom>
          <a:solidFill>
            <a:srgbClr val="FFFFFF"/>
          </a:solidFill>
          <a:ln>
            <a:noFill/>
          </a:ln>
        </p:spPr>
        <p:txBody>
          <a:bodyPr anchorCtr="0" anchor="ctr" bIns="36575" lIns="91425" spcFirstLastPara="1" rIns="91425" wrap="square" tIns="36575">
            <a:noAutofit/>
          </a:bodyPr>
          <a:lstStyle/>
          <a:p>
            <a:pPr indent="0" lvl="0" marL="0" marR="0" rtl="0" algn="l">
              <a:spcBef>
                <a:spcPts val="0"/>
              </a:spcBef>
              <a:spcAft>
                <a:spcPts val="0"/>
              </a:spcAft>
              <a:buNone/>
            </a:pPr>
            <a:r>
              <a:rPr b="1" i="0" lang="en-US" sz="1200" u="none" cap="none" strike="noStrike">
                <a:solidFill>
                  <a:srgbClr val="7B1C2E"/>
                </a:solidFill>
                <a:latin typeface="Calibri"/>
                <a:ea typeface="Calibri"/>
                <a:cs typeface="Calibri"/>
                <a:sym typeface="Calibri"/>
              </a:rPr>
              <a:t>Límite: </a:t>
            </a:r>
            <a:r>
              <a:rPr b="0" i="0" lang="en-US" sz="1200" u="none" cap="none" strike="noStrike">
                <a:solidFill>
                  <a:srgbClr val="7B1C2E"/>
                </a:solidFill>
                <a:latin typeface="Calibri"/>
                <a:ea typeface="Calibri"/>
                <a:cs typeface="Calibri"/>
                <a:sym typeface="Calibri"/>
              </a:rPr>
              <a:t>Depende de que el modelo respete la marca</a:t>
            </a:r>
            <a:endParaRPr/>
          </a:p>
        </p:txBody>
      </p:sp>
      <p:sp>
        <p:nvSpPr>
          <p:cNvPr id="163" name="Google Shape;163;p18"/>
          <p:cNvSpPr/>
          <p:nvPr/>
        </p:nvSpPr>
        <p:spPr>
          <a:xfrm>
            <a:off x="8046719" y="1371600"/>
            <a:ext cx="3593592" cy="2121408"/>
          </a:xfrm>
          <a:prstGeom prst="roundRect">
            <a:avLst>
              <a:gd fmla="val 6000" name="adj"/>
            </a:avLst>
          </a:prstGeom>
          <a:solidFill>
            <a:srgbClr val="F2F2F2"/>
          </a:solidFill>
          <a:ln cap="flat" cmpd="sng" w="12700">
            <a:solidFill>
              <a:srgbClr val="D0D0D0"/>
            </a:solidFill>
            <a:prstDash val="solid"/>
            <a:miter lim="8000"/>
            <a:headEnd len="sm" w="sm" type="none"/>
            <a:tailEnd len="sm" w="sm" type="none"/>
          </a:ln>
        </p:spPr>
        <p:txBody>
          <a:bodyPr anchorCtr="0" anchor="ctr" bIns="36575" lIns="91425" spcFirstLastPara="1" rIns="91425" wrap="square" tIns="36575">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4" name="Google Shape;164;p18"/>
          <p:cNvSpPr/>
          <p:nvPr/>
        </p:nvSpPr>
        <p:spPr>
          <a:xfrm>
            <a:off x="8046719" y="1371600"/>
            <a:ext cx="3593592" cy="73152"/>
          </a:xfrm>
          <a:prstGeom prst="rect">
            <a:avLst/>
          </a:prstGeom>
          <a:solidFill>
            <a:srgbClr val="7B1C2E"/>
          </a:solidFill>
          <a:ln>
            <a:noFill/>
          </a:ln>
        </p:spPr>
        <p:txBody>
          <a:bodyPr anchorCtr="0" anchor="ctr" bIns="36575" lIns="91425" spcFirstLastPara="1" rIns="91425" wrap="square" tIns="36575">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5" name="Google Shape;165;p18"/>
          <p:cNvSpPr txBox="1"/>
          <p:nvPr/>
        </p:nvSpPr>
        <p:spPr>
          <a:xfrm>
            <a:off x="8183879" y="1508760"/>
            <a:ext cx="3337560" cy="36576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1500" u="none" cap="none" strike="noStrike">
                <a:solidFill>
                  <a:srgbClr val="4A1020"/>
                </a:solidFill>
                <a:latin typeface="Calibri"/>
                <a:ea typeface="Calibri"/>
                <a:cs typeface="Calibri"/>
                <a:sym typeface="Calibri"/>
              </a:rPr>
              <a:t>Clasificadores</a:t>
            </a:r>
            <a:endParaRPr/>
          </a:p>
        </p:txBody>
      </p:sp>
      <p:sp>
        <p:nvSpPr>
          <p:cNvPr id="166" name="Google Shape;166;p18"/>
          <p:cNvSpPr txBox="1"/>
          <p:nvPr/>
        </p:nvSpPr>
        <p:spPr>
          <a:xfrm>
            <a:off x="8183879" y="1901952"/>
            <a:ext cx="3337560" cy="100584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0" i="0" lang="en-US" sz="1400" u="none" cap="none" strike="noStrike">
                <a:solidFill>
                  <a:srgbClr val="262626"/>
                </a:solidFill>
                <a:latin typeface="Calibri"/>
                <a:ea typeface="Calibri"/>
                <a:cs typeface="Calibri"/>
                <a:sym typeface="Calibri"/>
              </a:rPr>
              <a:t>Llama Guard (Meta), Prompt Shields y Lakera Guard validan la semántica de entrada y salida.</a:t>
            </a:r>
            <a:endParaRPr/>
          </a:p>
        </p:txBody>
      </p:sp>
      <p:sp>
        <p:nvSpPr>
          <p:cNvPr id="167" name="Google Shape;167;p18"/>
          <p:cNvSpPr/>
          <p:nvPr/>
        </p:nvSpPr>
        <p:spPr>
          <a:xfrm>
            <a:off x="8183879" y="2926080"/>
            <a:ext cx="3319272" cy="457200"/>
          </a:xfrm>
          <a:prstGeom prst="roundRect">
            <a:avLst>
              <a:gd fmla="val 6000" name="adj"/>
            </a:avLst>
          </a:prstGeom>
          <a:solidFill>
            <a:srgbClr val="FFFFFF"/>
          </a:solidFill>
          <a:ln>
            <a:noFill/>
          </a:ln>
        </p:spPr>
        <p:txBody>
          <a:bodyPr anchorCtr="0" anchor="ctr" bIns="36575" lIns="91425" spcFirstLastPara="1" rIns="91425" wrap="square" tIns="36575">
            <a:noAutofit/>
          </a:bodyPr>
          <a:lstStyle/>
          <a:p>
            <a:pPr indent="0" lvl="0" marL="0" marR="0" rtl="0" algn="l">
              <a:spcBef>
                <a:spcPts val="0"/>
              </a:spcBef>
              <a:spcAft>
                <a:spcPts val="0"/>
              </a:spcAft>
              <a:buNone/>
            </a:pPr>
            <a:r>
              <a:rPr b="1" i="0" lang="en-US" sz="1200" u="none" cap="none" strike="noStrike">
                <a:solidFill>
                  <a:srgbClr val="7B1C2E"/>
                </a:solidFill>
                <a:latin typeface="Calibri"/>
                <a:ea typeface="Calibri"/>
                <a:cs typeface="Calibri"/>
                <a:sym typeface="Calibri"/>
              </a:rPr>
              <a:t>Límite: </a:t>
            </a:r>
            <a:r>
              <a:rPr b="0" i="0" lang="en-US" sz="1200" u="none" cap="none" strike="noStrike">
                <a:solidFill>
                  <a:srgbClr val="7B1C2E"/>
                </a:solidFill>
                <a:latin typeface="Calibri"/>
                <a:ea typeface="Calibri"/>
                <a:cs typeface="Calibri"/>
                <a:sym typeface="Calibri"/>
              </a:rPr>
              <a:t>Bloquear el 100 % es imposible (Unit 42)</a:t>
            </a:r>
            <a:endParaRPr/>
          </a:p>
        </p:txBody>
      </p:sp>
      <p:sp>
        <p:nvSpPr>
          <p:cNvPr id="168" name="Google Shape;168;p18"/>
          <p:cNvSpPr/>
          <p:nvPr/>
        </p:nvSpPr>
        <p:spPr>
          <a:xfrm>
            <a:off x="548640" y="3611880"/>
            <a:ext cx="3593592" cy="2121408"/>
          </a:xfrm>
          <a:prstGeom prst="roundRect">
            <a:avLst>
              <a:gd fmla="val 6000" name="adj"/>
            </a:avLst>
          </a:prstGeom>
          <a:solidFill>
            <a:srgbClr val="F2F2F2"/>
          </a:solidFill>
          <a:ln cap="flat" cmpd="sng" w="12700">
            <a:solidFill>
              <a:srgbClr val="D0D0D0"/>
            </a:solidFill>
            <a:prstDash val="solid"/>
            <a:miter lim="8000"/>
            <a:headEnd len="sm" w="sm" type="none"/>
            <a:tailEnd len="sm" w="sm" type="none"/>
          </a:ln>
        </p:spPr>
        <p:txBody>
          <a:bodyPr anchorCtr="0" anchor="ctr" bIns="36575" lIns="91425" spcFirstLastPara="1" rIns="91425" wrap="square" tIns="36575">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9" name="Google Shape;169;p18"/>
          <p:cNvSpPr/>
          <p:nvPr/>
        </p:nvSpPr>
        <p:spPr>
          <a:xfrm>
            <a:off x="548640" y="3611880"/>
            <a:ext cx="3593592" cy="73152"/>
          </a:xfrm>
          <a:prstGeom prst="rect">
            <a:avLst/>
          </a:prstGeom>
          <a:solidFill>
            <a:srgbClr val="7B1C2E"/>
          </a:solidFill>
          <a:ln>
            <a:noFill/>
          </a:ln>
        </p:spPr>
        <p:txBody>
          <a:bodyPr anchorCtr="0" anchor="ctr" bIns="36575" lIns="91425" spcFirstLastPara="1" rIns="91425" wrap="square" tIns="36575">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0" name="Google Shape;170;p18"/>
          <p:cNvSpPr txBox="1"/>
          <p:nvPr/>
        </p:nvSpPr>
        <p:spPr>
          <a:xfrm>
            <a:off x="685800" y="3749040"/>
            <a:ext cx="3337560" cy="36576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1500" u="none" cap="none" strike="noStrike">
                <a:solidFill>
                  <a:srgbClr val="4A1020"/>
                </a:solidFill>
                <a:latin typeface="Calibri"/>
                <a:ea typeface="Calibri"/>
                <a:cs typeface="Calibri"/>
                <a:sym typeface="Calibri"/>
              </a:rPr>
              <a:t>Mínimo privilegio y humano</a:t>
            </a:r>
            <a:endParaRPr/>
          </a:p>
        </p:txBody>
      </p:sp>
      <p:sp>
        <p:nvSpPr>
          <p:cNvPr id="171" name="Google Shape;171;p18"/>
          <p:cNvSpPr txBox="1"/>
          <p:nvPr/>
        </p:nvSpPr>
        <p:spPr>
          <a:xfrm>
            <a:off x="685800" y="4142232"/>
            <a:ext cx="3337560" cy="100584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0" i="0" lang="en-US" sz="1400" u="none" cap="none" strike="noStrike">
                <a:solidFill>
                  <a:srgbClr val="262626"/>
                </a:solidFill>
                <a:latin typeface="Calibri"/>
                <a:ea typeface="Calibri"/>
                <a:cs typeface="Calibri"/>
                <a:sym typeface="Calibri"/>
              </a:rPr>
              <a:t>Unit 42: defensa dura y determinista; exige aprobación humana en acciones de alto impacto.</a:t>
            </a:r>
            <a:endParaRPr/>
          </a:p>
        </p:txBody>
      </p:sp>
      <p:sp>
        <p:nvSpPr>
          <p:cNvPr id="172" name="Google Shape;172;p18"/>
          <p:cNvSpPr/>
          <p:nvPr/>
        </p:nvSpPr>
        <p:spPr>
          <a:xfrm>
            <a:off x="685800" y="5166360"/>
            <a:ext cx="3319272" cy="457200"/>
          </a:xfrm>
          <a:prstGeom prst="roundRect">
            <a:avLst>
              <a:gd fmla="val 6000" name="adj"/>
            </a:avLst>
          </a:prstGeom>
          <a:solidFill>
            <a:srgbClr val="FFFFFF"/>
          </a:solidFill>
          <a:ln>
            <a:noFill/>
          </a:ln>
        </p:spPr>
        <p:txBody>
          <a:bodyPr anchorCtr="0" anchor="ctr" bIns="36575" lIns="91425" spcFirstLastPara="1" rIns="91425" wrap="square" tIns="36575">
            <a:noAutofit/>
          </a:bodyPr>
          <a:lstStyle/>
          <a:p>
            <a:pPr indent="0" lvl="0" marL="0" marR="0" rtl="0" algn="l">
              <a:spcBef>
                <a:spcPts val="0"/>
              </a:spcBef>
              <a:spcAft>
                <a:spcPts val="0"/>
              </a:spcAft>
              <a:buNone/>
            </a:pPr>
            <a:r>
              <a:rPr b="1" i="0" lang="en-US" sz="1200" u="none" cap="none" strike="noStrike">
                <a:solidFill>
                  <a:srgbClr val="7B1C2E"/>
                </a:solidFill>
                <a:latin typeface="Calibri"/>
                <a:ea typeface="Calibri"/>
                <a:cs typeface="Calibri"/>
                <a:sym typeface="Calibri"/>
              </a:rPr>
              <a:t>Límite: </a:t>
            </a:r>
            <a:r>
              <a:rPr b="0" i="0" lang="en-US" sz="1200" u="none" cap="none" strike="noStrike">
                <a:solidFill>
                  <a:srgbClr val="7B1C2E"/>
                </a:solidFill>
                <a:latin typeface="Calibri"/>
                <a:ea typeface="Calibri"/>
                <a:cs typeface="Calibri"/>
                <a:sym typeface="Calibri"/>
              </a:rPr>
              <a:t>No ve el contenido; el humano es lento</a:t>
            </a:r>
            <a:endParaRPr/>
          </a:p>
        </p:txBody>
      </p:sp>
      <p:sp>
        <p:nvSpPr>
          <p:cNvPr id="173" name="Google Shape;173;p18"/>
          <p:cNvSpPr/>
          <p:nvPr/>
        </p:nvSpPr>
        <p:spPr>
          <a:xfrm>
            <a:off x="4297679" y="3611880"/>
            <a:ext cx="3593592" cy="2121408"/>
          </a:xfrm>
          <a:prstGeom prst="roundRect">
            <a:avLst>
              <a:gd fmla="val 6000" name="adj"/>
            </a:avLst>
          </a:prstGeom>
          <a:solidFill>
            <a:srgbClr val="F2F2F2"/>
          </a:solidFill>
          <a:ln cap="flat" cmpd="sng" w="12700">
            <a:solidFill>
              <a:srgbClr val="D0D0D0"/>
            </a:solidFill>
            <a:prstDash val="solid"/>
            <a:miter lim="8000"/>
            <a:headEnd len="sm" w="sm" type="none"/>
            <a:tailEnd len="sm" w="sm" type="none"/>
          </a:ln>
        </p:spPr>
        <p:txBody>
          <a:bodyPr anchorCtr="0" anchor="ctr" bIns="36575" lIns="91425" spcFirstLastPara="1" rIns="91425" wrap="square" tIns="36575">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4" name="Google Shape;174;p18"/>
          <p:cNvSpPr/>
          <p:nvPr/>
        </p:nvSpPr>
        <p:spPr>
          <a:xfrm>
            <a:off x="4297679" y="3611880"/>
            <a:ext cx="3593592" cy="73152"/>
          </a:xfrm>
          <a:prstGeom prst="rect">
            <a:avLst/>
          </a:prstGeom>
          <a:solidFill>
            <a:srgbClr val="7B1C2E"/>
          </a:solidFill>
          <a:ln>
            <a:noFill/>
          </a:ln>
        </p:spPr>
        <p:txBody>
          <a:bodyPr anchorCtr="0" anchor="ctr" bIns="36575" lIns="91425" spcFirstLastPara="1" rIns="91425" wrap="square" tIns="36575">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5" name="Google Shape;175;p18"/>
          <p:cNvSpPr txBox="1"/>
          <p:nvPr/>
        </p:nvSpPr>
        <p:spPr>
          <a:xfrm>
            <a:off x="4434840" y="3749040"/>
            <a:ext cx="3337560" cy="36576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1500" u="none" cap="none" strike="noStrike">
                <a:solidFill>
                  <a:srgbClr val="4A1020"/>
                </a:solidFill>
                <a:latin typeface="Calibri"/>
                <a:ea typeface="Calibri"/>
                <a:cs typeface="Calibri"/>
                <a:sym typeface="Calibri"/>
              </a:rPr>
              <a:t>Herramientas de prueba</a:t>
            </a:r>
            <a:endParaRPr/>
          </a:p>
        </p:txBody>
      </p:sp>
      <p:sp>
        <p:nvSpPr>
          <p:cNvPr id="176" name="Google Shape;176;p18"/>
          <p:cNvSpPr txBox="1"/>
          <p:nvPr/>
        </p:nvSpPr>
        <p:spPr>
          <a:xfrm>
            <a:off x="4434840" y="4142232"/>
            <a:ext cx="3337560" cy="1005840"/>
          </a:xfrm>
          <a:prstGeom prst="rect">
            <a:avLst/>
          </a:prstGeom>
          <a:noFill/>
          <a:ln>
            <a:noFill/>
          </a:ln>
        </p:spPr>
        <p:txBody>
          <a:bodyPr anchorCtr="0" anchor="t" bIns="27425" lIns="45700" spcFirstLastPara="1" rIns="45700" wrap="square" tIns="27425">
            <a:noAutofit/>
          </a:bodyPr>
          <a:lstStyle/>
          <a:p>
            <a:pPr indent="0" lvl="0" marL="0" marR="0" rtl="0" algn="l">
              <a:spcBef>
                <a:spcPts val="0"/>
              </a:spcBef>
              <a:spcAft>
                <a:spcPts val="0"/>
              </a:spcAft>
              <a:buNone/>
            </a:pPr>
            <a:r>
              <a:rPr lang="en-US">
                <a:solidFill>
                  <a:srgbClr val="262626"/>
                </a:solidFill>
                <a:latin typeface="Calibri"/>
                <a:ea typeface="Calibri"/>
                <a:cs typeface="Calibri"/>
                <a:sym typeface="Calibri"/>
              </a:rPr>
              <a:t>Garak, PyRIT y Promptfoo atacan; NeMo Guardrails y Llama Guard defienden</a:t>
            </a:r>
            <a:r>
              <a:rPr b="0" i="0" lang="en-US" sz="1400" u="none" cap="none" strike="noStrike">
                <a:solidFill>
                  <a:srgbClr val="262626"/>
                </a:solidFill>
                <a:latin typeface="Calibri"/>
                <a:ea typeface="Calibri"/>
                <a:cs typeface="Calibri"/>
                <a:sym typeface="Calibri"/>
              </a:rPr>
              <a:t>.</a:t>
            </a:r>
            <a:endParaRPr/>
          </a:p>
        </p:txBody>
      </p:sp>
      <p:sp>
        <p:nvSpPr>
          <p:cNvPr id="177" name="Google Shape;177;p18"/>
          <p:cNvSpPr/>
          <p:nvPr/>
        </p:nvSpPr>
        <p:spPr>
          <a:xfrm>
            <a:off x="4434840" y="5166360"/>
            <a:ext cx="3319272" cy="457200"/>
          </a:xfrm>
          <a:prstGeom prst="roundRect">
            <a:avLst>
              <a:gd fmla="val 6000" name="adj"/>
            </a:avLst>
          </a:prstGeom>
          <a:solidFill>
            <a:srgbClr val="FFFFFF"/>
          </a:solidFill>
          <a:ln>
            <a:noFill/>
          </a:ln>
        </p:spPr>
        <p:txBody>
          <a:bodyPr anchorCtr="0" anchor="ctr" bIns="36575" lIns="91425" spcFirstLastPara="1" rIns="91425" wrap="square" tIns="36575">
            <a:noAutofit/>
          </a:bodyPr>
          <a:lstStyle/>
          <a:p>
            <a:pPr indent="0" lvl="0" marL="0" marR="0" rtl="0" algn="l">
              <a:spcBef>
                <a:spcPts val="0"/>
              </a:spcBef>
              <a:spcAft>
                <a:spcPts val="0"/>
              </a:spcAft>
              <a:buNone/>
            </a:pPr>
            <a:r>
              <a:rPr b="1" i="0" lang="en-US" sz="1200" u="none" cap="none" strike="noStrike">
                <a:solidFill>
                  <a:srgbClr val="7B1C2E"/>
                </a:solidFill>
                <a:latin typeface="Calibri"/>
                <a:ea typeface="Calibri"/>
                <a:cs typeface="Calibri"/>
                <a:sym typeface="Calibri"/>
              </a:rPr>
              <a:t>Límite: </a:t>
            </a:r>
            <a:r>
              <a:rPr b="0" i="0" lang="en-US" sz="1200" u="none" cap="none" strike="noStrike">
                <a:solidFill>
                  <a:srgbClr val="7B1C2E"/>
                </a:solidFill>
                <a:latin typeface="Calibri"/>
                <a:ea typeface="Calibri"/>
                <a:cs typeface="Calibri"/>
                <a:sym typeface="Calibri"/>
              </a:rPr>
              <a:t>Se usan por piezas, no comparadas</a:t>
            </a:r>
            <a:endParaRPr/>
          </a:p>
        </p:txBody>
      </p:sp>
      <p:sp>
        <p:nvSpPr>
          <p:cNvPr id="178" name="Google Shape;178;p18"/>
          <p:cNvSpPr/>
          <p:nvPr/>
        </p:nvSpPr>
        <p:spPr>
          <a:xfrm>
            <a:off x="8046719" y="3611880"/>
            <a:ext cx="3593592" cy="2121408"/>
          </a:xfrm>
          <a:prstGeom prst="roundRect">
            <a:avLst>
              <a:gd fmla="val 6000" name="adj"/>
            </a:avLst>
          </a:prstGeom>
          <a:solidFill>
            <a:srgbClr val="F2F2F2"/>
          </a:solidFill>
          <a:ln cap="flat" cmpd="sng" w="12700">
            <a:solidFill>
              <a:srgbClr val="D0D0D0"/>
            </a:solidFill>
            <a:prstDash val="solid"/>
            <a:miter lim="8000"/>
            <a:headEnd len="sm" w="sm" type="none"/>
            <a:tailEnd len="sm" w="sm" type="none"/>
          </a:ln>
        </p:spPr>
        <p:txBody>
          <a:bodyPr anchorCtr="0" anchor="ctr" bIns="36575" lIns="91425" spcFirstLastPara="1" rIns="91425" wrap="square" tIns="36575">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9" name="Google Shape;179;p18"/>
          <p:cNvSpPr/>
          <p:nvPr/>
        </p:nvSpPr>
        <p:spPr>
          <a:xfrm>
            <a:off x="8046719" y="3611880"/>
            <a:ext cx="3593592" cy="73152"/>
          </a:xfrm>
          <a:prstGeom prst="rect">
            <a:avLst/>
          </a:prstGeom>
          <a:solidFill>
            <a:srgbClr val="7B1C2E"/>
          </a:solidFill>
          <a:ln>
            <a:noFill/>
          </a:ln>
        </p:spPr>
        <p:txBody>
          <a:bodyPr anchorCtr="0" anchor="ctr" bIns="36575" lIns="91425" spcFirstLastPara="1" rIns="91425" wrap="square" tIns="36575">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0" name="Google Shape;180;p18"/>
          <p:cNvSpPr txBox="1"/>
          <p:nvPr/>
        </p:nvSpPr>
        <p:spPr>
          <a:xfrm>
            <a:off x="8183879" y="3749040"/>
            <a:ext cx="3337560" cy="36576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1500" u="none" cap="none" strike="noStrike">
                <a:solidFill>
                  <a:srgbClr val="4A1020"/>
                </a:solidFill>
                <a:latin typeface="Calibri"/>
                <a:ea typeface="Calibri"/>
                <a:cs typeface="Calibri"/>
                <a:sym typeface="Calibri"/>
              </a:rPr>
              <a:t>Productos comerciales</a:t>
            </a:r>
            <a:endParaRPr/>
          </a:p>
        </p:txBody>
      </p:sp>
      <p:sp>
        <p:nvSpPr>
          <p:cNvPr id="181" name="Google Shape;181;p18"/>
          <p:cNvSpPr txBox="1"/>
          <p:nvPr/>
        </p:nvSpPr>
        <p:spPr>
          <a:xfrm>
            <a:off x="8183879" y="4142232"/>
            <a:ext cx="3337560" cy="100584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0" i="0" lang="en-US" sz="1400" u="none" cap="none" strike="noStrike">
                <a:solidFill>
                  <a:srgbClr val="262626"/>
                </a:solidFill>
                <a:latin typeface="Calibri"/>
                <a:ea typeface="Calibri"/>
                <a:cs typeface="Calibri"/>
                <a:sym typeface="Calibri"/>
              </a:rPr>
              <a:t>Prisma AIRS, Lakera Guard y FortiAIGate: runtime, guardrails y red teaming.</a:t>
            </a:r>
            <a:endParaRPr/>
          </a:p>
        </p:txBody>
      </p:sp>
      <p:sp>
        <p:nvSpPr>
          <p:cNvPr id="182" name="Google Shape;182;p18"/>
          <p:cNvSpPr/>
          <p:nvPr/>
        </p:nvSpPr>
        <p:spPr>
          <a:xfrm>
            <a:off x="8183879" y="5166360"/>
            <a:ext cx="3319272" cy="457200"/>
          </a:xfrm>
          <a:prstGeom prst="roundRect">
            <a:avLst>
              <a:gd fmla="val 6000" name="adj"/>
            </a:avLst>
          </a:prstGeom>
          <a:solidFill>
            <a:srgbClr val="FFFFFF"/>
          </a:solidFill>
          <a:ln>
            <a:noFill/>
          </a:ln>
        </p:spPr>
        <p:txBody>
          <a:bodyPr anchorCtr="0" anchor="ctr" bIns="36575" lIns="91425" spcFirstLastPara="1" rIns="91425" wrap="square" tIns="36575">
            <a:noAutofit/>
          </a:bodyPr>
          <a:lstStyle/>
          <a:p>
            <a:pPr indent="0" lvl="0" marL="0" marR="0" rtl="0" algn="l">
              <a:spcBef>
                <a:spcPts val="0"/>
              </a:spcBef>
              <a:spcAft>
                <a:spcPts val="0"/>
              </a:spcAft>
              <a:buNone/>
            </a:pPr>
            <a:r>
              <a:rPr b="1" i="0" lang="en-US" sz="1200" u="none" cap="none" strike="noStrike">
                <a:solidFill>
                  <a:srgbClr val="7B1C2E"/>
                </a:solidFill>
                <a:latin typeface="Calibri"/>
                <a:ea typeface="Calibri"/>
                <a:cs typeface="Calibri"/>
                <a:sym typeface="Calibri"/>
              </a:rPr>
              <a:t>Límite: </a:t>
            </a:r>
            <a:r>
              <a:rPr b="0" i="0" lang="en-US" sz="1200" u="none" cap="none" strike="noStrike">
                <a:solidFill>
                  <a:srgbClr val="7B1C2E"/>
                </a:solidFill>
                <a:latin typeface="Calibri"/>
                <a:ea typeface="Calibri"/>
                <a:cs typeface="Calibri"/>
                <a:sym typeface="Calibri"/>
              </a:rPr>
              <a:t>Nube gestionada; cajas negras sin comparativa por capa</a:t>
            </a:r>
            <a:endParaRPr/>
          </a:p>
        </p:txBody>
      </p:sp>
      <p:sp>
        <p:nvSpPr>
          <p:cNvPr id="183" name="Google Shape;183;p18"/>
          <p:cNvSpPr/>
          <p:nvPr/>
        </p:nvSpPr>
        <p:spPr>
          <a:xfrm>
            <a:off x="548640" y="5897880"/>
            <a:ext cx="11091672" cy="502920"/>
          </a:xfrm>
          <a:prstGeom prst="rect">
            <a:avLst/>
          </a:prstGeom>
          <a:solidFill>
            <a:srgbClr val="F2F2F2"/>
          </a:solidFill>
          <a:ln>
            <a:noFill/>
          </a:ln>
        </p:spPr>
        <p:txBody>
          <a:bodyPr anchorCtr="0" anchor="ctr" bIns="36575" lIns="91425" spcFirstLastPara="1" rIns="91425" wrap="square" tIns="36575">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4" name="Google Shape;184;p18"/>
          <p:cNvSpPr/>
          <p:nvPr/>
        </p:nvSpPr>
        <p:spPr>
          <a:xfrm>
            <a:off x="548640" y="5897880"/>
            <a:ext cx="91440" cy="502920"/>
          </a:xfrm>
          <a:prstGeom prst="rect">
            <a:avLst/>
          </a:prstGeom>
          <a:solidFill>
            <a:srgbClr val="7B1C2E"/>
          </a:solidFill>
          <a:ln>
            <a:noFill/>
          </a:ln>
        </p:spPr>
        <p:txBody>
          <a:bodyPr anchorCtr="0" anchor="ctr" bIns="36575" lIns="91425" spcFirstLastPara="1" rIns="91425" wrap="square" tIns="36575">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5" name="Google Shape;185;p18"/>
          <p:cNvSpPr txBox="1"/>
          <p:nvPr/>
        </p:nvSpPr>
        <p:spPr>
          <a:xfrm>
            <a:off x="777240" y="5897880"/>
            <a:ext cx="10771632" cy="502920"/>
          </a:xfrm>
          <a:prstGeom prst="rect">
            <a:avLst/>
          </a:prstGeom>
          <a:noFill/>
          <a:ln>
            <a:noFill/>
          </a:ln>
        </p:spPr>
        <p:txBody>
          <a:bodyPr anchorCtr="0" anchor="ctr" bIns="27425" lIns="45700" spcFirstLastPara="1" rIns="45700" wrap="square" tIns="27425">
            <a:noAutofit/>
          </a:bodyPr>
          <a:lstStyle/>
          <a:p>
            <a:pPr indent="0" lvl="0" marL="0" marR="0" rtl="0" algn="l">
              <a:spcBef>
                <a:spcPts val="0"/>
              </a:spcBef>
              <a:spcAft>
                <a:spcPts val="0"/>
              </a:spcAft>
              <a:buNone/>
            </a:pPr>
            <a:r>
              <a:rPr b="1" i="0" lang="en-US" sz="1400" u="none" cap="none" strike="noStrike">
                <a:solidFill>
                  <a:srgbClr val="262626"/>
                </a:solidFill>
                <a:latin typeface="Calibri"/>
                <a:ea typeface="Calibri"/>
                <a:cs typeface="Calibri"/>
                <a:sym typeface="Calibri"/>
              </a:rPr>
              <a:t>Vacío: </a:t>
            </a:r>
            <a:r>
              <a:rPr lang="en-US">
                <a:solidFill>
                  <a:srgbClr val="262626"/>
                </a:solidFill>
                <a:latin typeface="Calibri"/>
                <a:ea typeface="Calibri"/>
                <a:cs typeface="Calibri"/>
                <a:sym typeface="Calibri"/>
              </a:rPr>
              <a:t>no encontramos estudios ni productos que comparen combinaciones heterogéneas de defensas sobre un mismo sistema autoalojado.</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19"/>
          <p:cNvSpPr txBox="1"/>
          <p:nvPr>
            <p:ph type="title"/>
          </p:nvPr>
        </p:nvSpPr>
        <p:spPr>
          <a:xfrm>
            <a:off x="1371600" y="457200"/>
            <a:ext cx="8869680" cy="64008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4A1020"/>
              </a:buClr>
              <a:buSzPts val="2800"/>
              <a:buFont typeface="Calibri"/>
              <a:buNone/>
            </a:pPr>
            <a:r>
              <a:rPr b="1" lang="en-US" sz="2800">
                <a:solidFill>
                  <a:srgbClr val="4A1020"/>
                </a:solidFill>
              </a:rPr>
              <a:t>La brecha y lo que aporta IronVeil</a:t>
            </a:r>
            <a:endParaRPr/>
          </a:p>
        </p:txBody>
      </p:sp>
      <p:pic>
        <p:nvPicPr>
          <p:cNvPr descr="ironveil_v6.png" id="192" name="Google Shape;192;p19"/>
          <p:cNvPicPr preferRelativeResize="0"/>
          <p:nvPr/>
        </p:nvPicPr>
        <p:blipFill rotWithShape="1">
          <a:blip r:embed="rId3">
            <a:alphaModFix/>
          </a:blip>
          <a:srcRect b="0" l="0" r="0" t="0"/>
          <a:stretch/>
        </p:blipFill>
        <p:spPr>
          <a:xfrm>
            <a:off x="502920" y="274320"/>
            <a:ext cx="822960" cy="822960"/>
          </a:xfrm>
          <a:prstGeom prst="rect">
            <a:avLst/>
          </a:prstGeom>
          <a:noFill/>
          <a:ln>
            <a:noFill/>
          </a:ln>
        </p:spPr>
      </p:pic>
      <p:sp>
        <p:nvSpPr>
          <p:cNvPr id="193" name="Google Shape;193;p19"/>
          <p:cNvSpPr txBox="1"/>
          <p:nvPr/>
        </p:nvSpPr>
        <p:spPr>
          <a:xfrm>
            <a:off x="1371600" y="246888"/>
            <a:ext cx="8229600" cy="27432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1100" u="none" cap="none" strike="noStrike">
                <a:solidFill>
                  <a:srgbClr val="7B1C2E"/>
                </a:solidFill>
                <a:latin typeface="Calibri"/>
                <a:ea typeface="Calibri"/>
                <a:cs typeface="Calibri"/>
                <a:sym typeface="Calibri"/>
              </a:rPr>
              <a:t>03 · ESTADO DEL ARTE</a:t>
            </a:r>
            <a:endParaRPr/>
          </a:p>
        </p:txBody>
      </p:sp>
      <p:cxnSp>
        <p:nvCxnSpPr>
          <p:cNvPr id="194" name="Google Shape;194;p19"/>
          <p:cNvCxnSpPr/>
          <p:nvPr/>
        </p:nvCxnSpPr>
        <p:spPr>
          <a:xfrm>
            <a:off x="548640" y="1188720"/>
            <a:ext cx="11091672" cy="0"/>
          </a:xfrm>
          <a:prstGeom prst="straightConnector1">
            <a:avLst/>
          </a:prstGeom>
          <a:noFill/>
          <a:ln cap="flat" cmpd="sng" w="25400">
            <a:solidFill>
              <a:srgbClr val="7B1C2E"/>
            </a:solidFill>
            <a:prstDash val="solid"/>
            <a:miter lim="8000"/>
            <a:headEnd len="sm" w="sm" type="none"/>
            <a:tailEnd len="sm" w="sm" type="none"/>
          </a:ln>
        </p:spPr>
      </p:cxnSp>
      <p:sp>
        <p:nvSpPr>
          <p:cNvPr id="195" name="Google Shape;195;p19"/>
          <p:cNvSpPr/>
          <p:nvPr/>
        </p:nvSpPr>
        <p:spPr>
          <a:xfrm>
            <a:off x="0" y="6510528"/>
            <a:ext cx="12191695" cy="347472"/>
          </a:xfrm>
          <a:prstGeom prst="rect">
            <a:avLst/>
          </a:prstGeom>
          <a:solidFill>
            <a:srgbClr val="7B1C2E"/>
          </a:solidFill>
          <a:ln>
            <a:noFill/>
          </a:ln>
        </p:spPr>
        <p:txBody>
          <a:bodyPr anchorCtr="0" anchor="ctr" bIns="36575" lIns="91425" spcFirstLastPara="1" rIns="91425" wrap="square" tIns="36575">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ronveil_v6_inv.png" id="196" name="Google Shape;196;p19"/>
          <p:cNvPicPr preferRelativeResize="0"/>
          <p:nvPr/>
        </p:nvPicPr>
        <p:blipFill rotWithShape="1">
          <a:blip r:embed="rId4">
            <a:alphaModFix/>
          </a:blip>
          <a:srcRect b="0" l="0" r="0" t="0"/>
          <a:stretch/>
        </p:blipFill>
        <p:spPr>
          <a:xfrm>
            <a:off x="457200" y="6537960"/>
            <a:ext cx="292608" cy="292608"/>
          </a:xfrm>
          <a:prstGeom prst="rect">
            <a:avLst/>
          </a:prstGeom>
          <a:noFill/>
          <a:ln>
            <a:noFill/>
          </a:ln>
        </p:spPr>
      </p:pic>
      <p:sp>
        <p:nvSpPr>
          <p:cNvPr id="197" name="Google Shape;197;p19"/>
          <p:cNvSpPr txBox="1"/>
          <p:nvPr/>
        </p:nvSpPr>
        <p:spPr>
          <a:xfrm>
            <a:off x="822960" y="6528816"/>
            <a:ext cx="5486400" cy="310896"/>
          </a:xfrm>
          <a:prstGeom prst="rect">
            <a:avLst/>
          </a:prstGeom>
          <a:noFill/>
          <a:ln>
            <a:noFill/>
          </a:ln>
        </p:spPr>
        <p:txBody>
          <a:bodyPr anchorCtr="0" anchor="ctr" bIns="27425" lIns="45700" spcFirstLastPara="1" rIns="45700" wrap="square" tIns="27425">
            <a:noAutofit/>
          </a:bodyPr>
          <a:lstStyle/>
          <a:p>
            <a:pPr indent="0" lvl="0" marL="0" marR="0" rtl="0" algn="l">
              <a:spcBef>
                <a:spcPts val="0"/>
              </a:spcBef>
              <a:spcAft>
                <a:spcPts val="0"/>
              </a:spcAft>
              <a:buNone/>
            </a:pPr>
            <a:r>
              <a:rPr b="1" lang="en-US" sz="1050">
                <a:solidFill>
                  <a:srgbClr val="F2F2F2"/>
                </a:solidFill>
                <a:latin typeface="Calibri"/>
                <a:ea typeface="Calibri"/>
                <a:cs typeface="Calibri"/>
                <a:sym typeface="Calibri"/>
              </a:rPr>
              <a:t>IronVeil · Framework de defensa para LLMs autoalojados</a:t>
            </a:r>
            <a:endParaRPr/>
          </a:p>
        </p:txBody>
      </p:sp>
      <p:sp>
        <p:nvSpPr>
          <p:cNvPr id="198" name="Google Shape;198;p19"/>
          <p:cNvSpPr txBox="1"/>
          <p:nvPr/>
        </p:nvSpPr>
        <p:spPr>
          <a:xfrm>
            <a:off x="6217920" y="6528816"/>
            <a:ext cx="5303520" cy="310896"/>
          </a:xfrm>
          <a:prstGeom prst="rect">
            <a:avLst/>
          </a:prstGeom>
          <a:noFill/>
          <a:ln>
            <a:noFill/>
          </a:ln>
        </p:spPr>
        <p:txBody>
          <a:bodyPr anchorCtr="0" anchor="ctr" bIns="27425" lIns="45700" spcFirstLastPara="1" rIns="45700" wrap="square" tIns="27425">
            <a:spAutoFit/>
          </a:bodyPr>
          <a:lstStyle/>
          <a:p>
            <a:pPr indent="0" lvl="0" marL="0" marR="0" rtl="0" algn="r">
              <a:spcBef>
                <a:spcPts val="0"/>
              </a:spcBef>
              <a:spcAft>
                <a:spcPts val="0"/>
              </a:spcAft>
              <a:buNone/>
            </a:pPr>
            <a:r>
              <a:rPr b="0" i="0" lang="en-US" sz="1050" u="none" cap="none" strike="noStrike">
                <a:solidFill>
                  <a:srgbClr val="D9D9D9"/>
                </a:solidFill>
                <a:latin typeface="Calibri"/>
                <a:ea typeface="Calibri"/>
                <a:cs typeface="Calibri"/>
                <a:sym typeface="Calibri"/>
              </a:rPr>
              <a:t>Escuela Colombiana de Ingeniería Julio Garavito · 2026</a:t>
            </a:r>
            <a:endParaRPr/>
          </a:p>
        </p:txBody>
      </p:sp>
      <p:sp>
        <p:nvSpPr>
          <p:cNvPr id="199" name="Google Shape;199;p19"/>
          <p:cNvSpPr txBox="1"/>
          <p:nvPr/>
        </p:nvSpPr>
        <p:spPr>
          <a:xfrm>
            <a:off x="11475720" y="6528816"/>
            <a:ext cx="548640" cy="310896"/>
          </a:xfrm>
          <a:prstGeom prst="rect">
            <a:avLst/>
          </a:prstGeom>
          <a:noFill/>
          <a:ln>
            <a:noFill/>
          </a:ln>
        </p:spPr>
        <p:txBody>
          <a:bodyPr anchorCtr="0" anchor="ctr" bIns="27425" lIns="45700" spcFirstLastPara="1" rIns="45700" wrap="square" tIns="27425">
            <a:spAutoFit/>
          </a:bodyPr>
          <a:lstStyle/>
          <a:p>
            <a:pPr indent="0" lvl="0" marL="0" marR="0" rtl="0" algn="r">
              <a:spcBef>
                <a:spcPts val="0"/>
              </a:spcBef>
              <a:spcAft>
                <a:spcPts val="0"/>
              </a:spcAft>
              <a:buNone/>
            </a:pPr>
            <a:r>
              <a:rPr b="1" i="0" lang="en-US" sz="1100" u="none" cap="none" strike="noStrike">
                <a:solidFill>
                  <a:srgbClr val="FFFFFF"/>
                </a:solidFill>
                <a:latin typeface="Calibri"/>
                <a:ea typeface="Calibri"/>
                <a:cs typeface="Calibri"/>
                <a:sym typeface="Calibri"/>
              </a:rPr>
              <a:t>5</a:t>
            </a:r>
            <a:endParaRPr/>
          </a:p>
        </p:txBody>
      </p:sp>
      <p:sp>
        <p:nvSpPr>
          <p:cNvPr id="200" name="Google Shape;200;p19"/>
          <p:cNvSpPr txBox="1"/>
          <p:nvPr/>
        </p:nvSpPr>
        <p:spPr>
          <a:xfrm>
            <a:off x="548640" y="1298448"/>
            <a:ext cx="5212080" cy="36576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1300" u="none" cap="none" strike="noStrike">
                <a:solidFill>
                  <a:srgbClr val="7B1C2E"/>
                </a:solidFill>
                <a:latin typeface="Calibri"/>
                <a:ea typeface="Calibri"/>
                <a:cs typeface="Calibri"/>
                <a:sym typeface="Calibri"/>
              </a:rPr>
              <a:t>LA BRECHA</a:t>
            </a:r>
            <a:endParaRPr/>
          </a:p>
        </p:txBody>
      </p:sp>
      <p:sp>
        <p:nvSpPr>
          <p:cNvPr id="201" name="Google Shape;201;p19"/>
          <p:cNvSpPr/>
          <p:nvPr/>
        </p:nvSpPr>
        <p:spPr>
          <a:xfrm>
            <a:off x="548640" y="1691640"/>
            <a:ext cx="5212080" cy="1463040"/>
          </a:xfrm>
          <a:prstGeom prst="roundRect">
            <a:avLst>
              <a:gd fmla="val 6000" name="adj"/>
            </a:avLst>
          </a:prstGeom>
          <a:solidFill>
            <a:srgbClr val="F2F2F2"/>
          </a:solidFill>
          <a:ln cap="flat" cmpd="sng" w="12700">
            <a:solidFill>
              <a:srgbClr val="D0D0D0"/>
            </a:solidFill>
            <a:prstDash val="solid"/>
            <a:miter lim="8000"/>
            <a:headEnd len="sm" w="sm" type="none"/>
            <a:tailEnd len="sm" w="sm" type="none"/>
          </a:ln>
        </p:spPr>
        <p:txBody>
          <a:bodyPr anchorCtr="0" anchor="ctr" bIns="36575" lIns="91425" spcFirstLastPara="1" rIns="91425" wrap="square" tIns="36575">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02" name="Google Shape;202;p19"/>
          <p:cNvSpPr/>
          <p:nvPr/>
        </p:nvSpPr>
        <p:spPr>
          <a:xfrm>
            <a:off x="548640" y="1691640"/>
            <a:ext cx="91440" cy="1463040"/>
          </a:xfrm>
          <a:prstGeom prst="rect">
            <a:avLst/>
          </a:prstGeom>
          <a:solidFill>
            <a:srgbClr val="7B1C2E"/>
          </a:solidFill>
          <a:ln>
            <a:noFill/>
          </a:ln>
        </p:spPr>
        <p:txBody>
          <a:bodyPr anchorCtr="0" anchor="ctr" bIns="36575" lIns="91425" spcFirstLastPara="1" rIns="91425" wrap="square" tIns="36575">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03" name="Google Shape;203;p19"/>
          <p:cNvSpPr txBox="1"/>
          <p:nvPr/>
        </p:nvSpPr>
        <p:spPr>
          <a:xfrm>
            <a:off x="822960" y="1783080"/>
            <a:ext cx="4846320" cy="36576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1600" u="none" cap="none" strike="noStrike">
                <a:solidFill>
                  <a:srgbClr val="4A1020"/>
                </a:solidFill>
                <a:latin typeface="Calibri"/>
                <a:ea typeface="Calibri"/>
                <a:cs typeface="Calibri"/>
                <a:sym typeface="Calibri"/>
              </a:rPr>
              <a:t>Defensas sueltas</a:t>
            </a:r>
            <a:endParaRPr/>
          </a:p>
        </p:txBody>
      </p:sp>
      <p:sp>
        <p:nvSpPr>
          <p:cNvPr id="204" name="Google Shape;204;p19"/>
          <p:cNvSpPr txBox="1"/>
          <p:nvPr/>
        </p:nvSpPr>
        <p:spPr>
          <a:xfrm>
            <a:off x="822960" y="2194560"/>
            <a:ext cx="4846320" cy="914400"/>
          </a:xfrm>
          <a:prstGeom prst="rect">
            <a:avLst/>
          </a:prstGeom>
          <a:noFill/>
          <a:ln>
            <a:noFill/>
          </a:ln>
        </p:spPr>
        <p:txBody>
          <a:bodyPr anchorCtr="0" anchor="t" bIns="27425" lIns="45700" spcFirstLastPara="1" rIns="45700" wrap="square" tIns="27425">
            <a:noAutofit/>
          </a:bodyPr>
          <a:lstStyle/>
          <a:p>
            <a:pPr indent="0" lvl="0" marL="0" marR="0" rtl="0" algn="l">
              <a:spcBef>
                <a:spcPts val="0"/>
              </a:spcBef>
              <a:spcAft>
                <a:spcPts val="0"/>
              </a:spcAft>
              <a:buNone/>
            </a:pPr>
            <a:r>
              <a:rPr lang="en-US" sz="1450">
                <a:solidFill>
                  <a:srgbClr val="262626"/>
                </a:solidFill>
                <a:latin typeface="Calibri"/>
                <a:ea typeface="Calibri"/>
                <a:cs typeface="Calibri"/>
                <a:sym typeface="Calibri"/>
              </a:rPr>
              <a:t>Decenas de defensas propuestas por separado; en la búsqueda del equipo, pocos estudios comparan</a:t>
            </a:r>
            <a:r>
              <a:rPr b="0" i="0" lang="en-US" sz="1450" u="none" cap="none" strike="noStrike">
                <a:solidFill>
                  <a:srgbClr val="262626"/>
                </a:solidFill>
                <a:latin typeface="Calibri"/>
                <a:ea typeface="Calibri"/>
                <a:cs typeface="Calibri"/>
                <a:sym typeface="Calibri"/>
              </a:rPr>
              <a:t> combinaciones heterogéneas con la misma batería de ataques.</a:t>
            </a:r>
            <a:endParaRPr/>
          </a:p>
        </p:txBody>
      </p:sp>
      <p:sp>
        <p:nvSpPr>
          <p:cNvPr id="205" name="Google Shape;205;p19"/>
          <p:cNvSpPr/>
          <p:nvPr/>
        </p:nvSpPr>
        <p:spPr>
          <a:xfrm>
            <a:off x="548640" y="3282696"/>
            <a:ext cx="5212080" cy="1463040"/>
          </a:xfrm>
          <a:prstGeom prst="roundRect">
            <a:avLst>
              <a:gd fmla="val 6000" name="adj"/>
            </a:avLst>
          </a:prstGeom>
          <a:solidFill>
            <a:srgbClr val="F2F2F2"/>
          </a:solidFill>
          <a:ln cap="flat" cmpd="sng" w="12700">
            <a:solidFill>
              <a:srgbClr val="D0D0D0"/>
            </a:solidFill>
            <a:prstDash val="solid"/>
            <a:miter lim="8000"/>
            <a:headEnd len="sm" w="sm" type="none"/>
            <a:tailEnd len="sm" w="sm" type="none"/>
          </a:ln>
        </p:spPr>
        <p:txBody>
          <a:bodyPr anchorCtr="0" anchor="ctr" bIns="36575" lIns="91425" spcFirstLastPara="1" rIns="91425" wrap="square" tIns="36575">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06" name="Google Shape;206;p19"/>
          <p:cNvSpPr/>
          <p:nvPr/>
        </p:nvSpPr>
        <p:spPr>
          <a:xfrm>
            <a:off x="548640" y="3282696"/>
            <a:ext cx="91440" cy="1463040"/>
          </a:xfrm>
          <a:prstGeom prst="rect">
            <a:avLst/>
          </a:prstGeom>
          <a:solidFill>
            <a:srgbClr val="7B1C2E"/>
          </a:solidFill>
          <a:ln>
            <a:noFill/>
          </a:ln>
        </p:spPr>
        <p:txBody>
          <a:bodyPr anchorCtr="0" anchor="ctr" bIns="36575" lIns="91425" spcFirstLastPara="1" rIns="91425" wrap="square" tIns="36575">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07" name="Google Shape;207;p19"/>
          <p:cNvSpPr txBox="1"/>
          <p:nvPr/>
        </p:nvSpPr>
        <p:spPr>
          <a:xfrm>
            <a:off x="822960" y="3374136"/>
            <a:ext cx="4846320" cy="36576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1600" u="none" cap="none" strike="noStrike">
                <a:solidFill>
                  <a:srgbClr val="4A1020"/>
                </a:solidFill>
                <a:latin typeface="Calibri"/>
                <a:ea typeface="Calibri"/>
                <a:cs typeface="Calibri"/>
                <a:sym typeface="Calibri"/>
              </a:rPr>
              <a:t>Nicho sin cubrir</a:t>
            </a:r>
            <a:endParaRPr/>
          </a:p>
        </p:txBody>
      </p:sp>
      <p:sp>
        <p:nvSpPr>
          <p:cNvPr id="208" name="Google Shape;208;p19"/>
          <p:cNvSpPr txBox="1"/>
          <p:nvPr/>
        </p:nvSpPr>
        <p:spPr>
          <a:xfrm>
            <a:off x="822960" y="3785615"/>
            <a:ext cx="4846320" cy="91440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0" i="0" lang="en-US" sz="1450" u="none" cap="none" strike="noStrike">
                <a:solidFill>
                  <a:srgbClr val="262626"/>
                </a:solidFill>
                <a:latin typeface="Calibri"/>
                <a:ea typeface="Calibri"/>
                <a:cs typeface="Calibri"/>
                <a:sym typeface="Calibri"/>
              </a:rPr>
              <a:t>Los productos comerciales protegen modelos en nube gestionada: el modelo autoalojado queda sin cobertura.</a:t>
            </a:r>
            <a:endParaRPr/>
          </a:p>
        </p:txBody>
      </p:sp>
      <p:sp>
        <p:nvSpPr>
          <p:cNvPr id="209" name="Google Shape;209;p19"/>
          <p:cNvSpPr/>
          <p:nvPr/>
        </p:nvSpPr>
        <p:spPr>
          <a:xfrm>
            <a:off x="548640" y="4873752"/>
            <a:ext cx="5212080" cy="1463040"/>
          </a:xfrm>
          <a:prstGeom prst="roundRect">
            <a:avLst>
              <a:gd fmla="val 6000" name="adj"/>
            </a:avLst>
          </a:prstGeom>
          <a:solidFill>
            <a:srgbClr val="F2F2F2"/>
          </a:solidFill>
          <a:ln cap="flat" cmpd="sng" w="12700">
            <a:solidFill>
              <a:srgbClr val="D0D0D0"/>
            </a:solidFill>
            <a:prstDash val="solid"/>
            <a:miter lim="8000"/>
            <a:headEnd len="sm" w="sm" type="none"/>
            <a:tailEnd len="sm" w="sm" type="none"/>
          </a:ln>
        </p:spPr>
        <p:txBody>
          <a:bodyPr anchorCtr="0" anchor="ctr" bIns="36575" lIns="91425" spcFirstLastPara="1" rIns="91425" wrap="square" tIns="36575">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10" name="Google Shape;210;p19"/>
          <p:cNvSpPr/>
          <p:nvPr/>
        </p:nvSpPr>
        <p:spPr>
          <a:xfrm>
            <a:off x="548640" y="4873752"/>
            <a:ext cx="91440" cy="1463040"/>
          </a:xfrm>
          <a:prstGeom prst="rect">
            <a:avLst/>
          </a:prstGeom>
          <a:solidFill>
            <a:srgbClr val="7B1C2E"/>
          </a:solidFill>
          <a:ln>
            <a:noFill/>
          </a:ln>
        </p:spPr>
        <p:txBody>
          <a:bodyPr anchorCtr="0" anchor="ctr" bIns="36575" lIns="91425" spcFirstLastPara="1" rIns="91425" wrap="square" tIns="36575">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11" name="Google Shape;211;p19"/>
          <p:cNvSpPr txBox="1"/>
          <p:nvPr/>
        </p:nvSpPr>
        <p:spPr>
          <a:xfrm>
            <a:off x="822960" y="4965192"/>
            <a:ext cx="4846320" cy="36576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1600" u="none" cap="none" strike="noStrike">
                <a:solidFill>
                  <a:srgbClr val="4A1020"/>
                </a:solidFill>
                <a:latin typeface="Calibri"/>
                <a:ea typeface="Calibri"/>
                <a:cs typeface="Calibri"/>
                <a:sym typeface="Calibri"/>
              </a:rPr>
              <a:t>Bloqueos silenciosos</a:t>
            </a:r>
            <a:endParaRPr/>
          </a:p>
        </p:txBody>
      </p:sp>
      <p:sp>
        <p:nvSpPr>
          <p:cNvPr id="212" name="Google Shape;212;p19"/>
          <p:cNvSpPr txBox="1"/>
          <p:nvPr/>
        </p:nvSpPr>
        <p:spPr>
          <a:xfrm>
            <a:off x="822960" y="5376672"/>
            <a:ext cx="4846320" cy="91440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0" i="0" lang="en-US" sz="1450" u="none" cap="none" strike="noStrike">
                <a:solidFill>
                  <a:srgbClr val="262626"/>
                </a:solidFill>
                <a:latin typeface="Calibri"/>
                <a:ea typeface="Calibri"/>
                <a:cs typeface="Calibri"/>
                <a:sym typeface="Calibri"/>
              </a:rPr>
              <a:t>Un bloqueo sin notificación ni SIEM no cierra el ciclo de detección y respuesta.</a:t>
            </a:r>
            <a:endParaRPr/>
          </a:p>
        </p:txBody>
      </p:sp>
      <p:sp>
        <p:nvSpPr>
          <p:cNvPr id="213" name="Google Shape;213;p19"/>
          <p:cNvSpPr txBox="1"/>
          <p:nvPr/>
        </p:nvSpPr>
        <p:spPr>
          <a:xfrm>
            <a:off x="6126480" y="1298448"/>
            <a:ext cx="5486400" cy="36576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1300" u="none" cap="none" strike="noStrike">
                <a:solidFill>
                  <a:srgbClr val="7B1C2E"/>
                </a:solidFill>
                <a:latin typeface="Calibri"/>
                <a:ea typeface="Calibri"/>
                <a:cs typeface="Calibri"/>
                <a:sym typeface="Calibri"/>
              </a:rPr>
              <a:t>LO QUE APORTA LA PROPUESTA</a:t>
            </a:r>
            <a:endParaRPr/>
          </a:p>
        </p:txBody>
      </p:sp>
      <p:sp>
        <p:nvSpPr>
          <p:cNvPr id="214" name="Google Shape;214;p19"/>
          <p:cNvSpPr/>
          <p:nvPr/>
        </p:nvSpPr>
        <p:spPr>
          <a:xfrm>
            <a:off x="6126480" y="1691640"/>
            <a:ext cx="5513832" cy="1078992"/>
          </a:xfrm>
          <a:prstGeom prst="roundRect">
            <a:avLst>
              <a:gd fmla="val 6000" name="adj"/>
            </a:avLst>
          </a:prstGeom>
          <a:solidFill>
            <a:srgbClr val="F2F2F2"/>
          </a:solidFill>
          <a:ln>
            <a:noFill/>
          </a:ln>
        </p:spPr>
        <p:txBody>
          <a:bodyPr anchorCtr="0" anchor="ctr" bIns="36575" lIns="91425" spcFirstLastPara="1" rIns="91425" wrap="square" tIns="36575">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15" name="Google Shape;215;p19"/>
          <p:cNvSpPr/>
          <p:nvPr/>
        </p:nvSpPr>
        <p:spPr>
          <a:xfrm>
            <a:off x="6291072" y="1965960"/>
            <a:ext cx="530352" cy="530352"/>
          </a:xfrm>
          <a:prstGeom prst="ellipse">
            <a:avLst/>
          </a:prstGeom>
          <a:solidFill>
            <a:srgbClr val="7B1C2E"/>
          </a:solidFill>
          <a:ln>
            <a:noFill/>
          </a:ln>
        </p:spPr>
        <p:txBody>
          <a:bodyPr anchorCtr="0" anchor="ctr" bIns="36575" lIns="91425" spcFirstLastPara="1" rIns="91425" wrap="square" tIns="36575">
            <a:noAutofit/>
          </a:bodyPr>
          <a:lstStyle/>
          <a:p>
            <a:pPr indent="0" lvl="0" marL="0" marR="0" rtl="0" algn="ctr">
              <a:spcBef>
                <a:spcPts val="0"/>
              </a:spcBef>
              <a:spcAft>
                <a:spcPts val="0"/>
              </a:spcAft>
              <a:buNone/>
            </a:pPr>
            <a:r>
              <a:rPr b="1" i="0" lang="en-US" sz="1700" u="none" cap="none" strike="noStrike">
                <a:solidFill>
                  <a:srgbClr val="FFFFFF"/>
                </a:solidFill>
                <a:latin typeface="Calibri"/>
                <a:ea typeface="Calibri"/>
                <a:cs typeface="Calibri"/>
                <a:sym typeface="Calibri"/>
              </a:rPr>
              <a:t>1</a:t>
            </a:r>
            <a:endParaRPr/>
          </a:p>
        </p:txBody>
      </p:sp>
      <p:sp>
        <p:nvSpPr>
          <p:cNvPr id="216" name="Google Shape;216;p19"/>
          <p:cNvSpPr txBox="1"/>
          <p:nvPr/>
        </p:nvSpPr>
        <p:spPr>
          <a:xfrm>
            <a:off x="6995160" y="1783080"/>
            <a:ext cx="4572000" cy="36576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1550" u="none" cap="none" strike="noStrike">
                <a:solidFill>
                  <a:srgbClr val="4A1020"/>
                </a:solidFill>
                <a:latin typeface="Calibri"/>
                <a:ea typeface="Calibri"/>
                <a:cs typeface="Calibri"/>
                <a:sym typeface="Calibri"/>
              </a:rPr>
              <a:t>Un solo proxy, cinco defensas</a:t>
            </a:r>
            <a:endParaRPr/>
          </a:p>
        </p:txBody>
      </p:sp>
      <p:sp>
        <p:nvSpPr>
          <p:cNvPr id="217" name="Google Shape;217;p19"/>
          <p:cNvSpPr txBox="1"/>
          <p:nvPr/>
        </p:nvSpPr>
        <p:spPr>
          <a:xfrm>
            <a:off x="6995160" y="2194560"/>
            <a:ext cx="4572000" cy="54864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0" i="0" lang="en-US" sz="1350" u="none" cap="none" strike="noStrike">
                <a:solidFill>
                  <a:srgbClr val="262626"/>
                </a:solidFill>
                <a:latin typeface="Calibri"/>
                <a:ea typeface="Calibri"/>
                <a:cs typeface="Calibri"/>
                <a:sym typeface="Calibri"/>
              </a:rPr>
              <a:t>Se activan por bandera; el mismo código ejecuta C0 a C6.</a:t>
            </a:r>
            <a:endParaRPr/>
          </a:p>
        </p:txBody>
      </p:sp>
      <p:sp>
        <p:nvSpPr>
          <p:cNvPr id="218" name="Google Shape;218;p19"/>
          <p:cNvSpPr/>
          <p:nvPr/>
        </p:nvSpPr>
        <p:spPr>
          <a:xfrm>
            <a:off x="6126480" y="2880360"/>
            <a:ext cx="5513832" cy="1078992"/>
          </a:xfrm>
          <a:prstGeom prst="roundRect">
            <a:avLst>
              <a:gd fmla="val 6000" name="adj"/>
            </a:avLst>
          </a:prstGeom>
          <a:solidFill>
            <a:srgbClr val="F2F2F2"/>
          </a:solidFill>
          <a:ln>
            <a:noFill/>
          </a:ln>
        </p:spPr>
        <p:txBody>
          <a:bodyPr anchorCtr="0" anchor="ctr" bIns="36575" lIns="91425" spcFirstLastPara="1" rIns="91425" wrap="square" tIns="36575">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19" name="Google Shape;219;p19"/>
          <p:cNvSpPr/>
          <p:nvPr/>
        </p:nvSpPr>
        <p:spPr>
          <a:xfrm>
            <a:off x="6291072" y="3154680"/>
            <a:ext cx="530352" cy="530352"/>
          </a:xfrm>
          <a:prstGeom prst="ellipse">
            <a:avLst/>
          </a:prstGeom>
          <a:solidFill>
            <a:srgbClr val="7B1C2E"/>
          </a:solidFill>
          <a:ln>
            <a:noFill/>
          </a:ln>
        </p:spPr>
        <p:txBody>
          <a:bodyPr anchorCtr="0" anchor="ctr" bIns="36575" lIns="91425" spcFirstLastPara="1" rIns="91425" wrap="square" tIns="36575">
            <a:noAutofit/>
          </a:bodyPr>
          <a:lstStyle/>
          <a:p>
            <a:pPr indent="0" lvl="0" marL="0" marR="0" rtl="0" algn="ctr">
              <a:spcBef>
                <a:spcPts val="0"/>
              </a:spcBef>
              <a:spcAft>
                <a:spcPts val="0"/>
              </a:spcAft>
              <a:buNone/>
            </a:pPr>
            <a:r>
              <a:rPr b="1" i="0" lang="en-US" sz="1700" u="none" cap="none" strike="noStrike">
                <a:solidFill>
                  <a:srgbClr val="FFFFFF"/>
                </a:solidFill>
                <a:latin typeface="Calibri"/>
                <a:ea typeface="Calibri"/>
                <a:cs typeface="Calibri"/>
                <a:sym typeface="Calibri"/>
              </a:rPr>
              <a:t>2</a:t>
            </a:r>
            <a:endParaRPr/>
          </a:p>
        </p:txBody>
      </p:sp>
      <p:sp>
        <p:nvSpPr>
          <p:cNvPr id="220" name="Google Shape;220;p19"/>
          <p:cNvSpPr txBox="1"/>
          <p:nvPr/>
        </p:nvSpPr>
        <p:spPr>
          <a:xfrm>
            <a:off x="6995160" y="2971800"/>
            <a:ext cx="4572000" cy="36576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1550" u="none" cap="none" strike="noStrike">
                <a:solidFill>
                  <a:srgbClr val="4A1020"/>
                </a:solidFill>
                <a:latin typeface="Calibri"/>
                <a:ea typeface="Calibri"/>
                <a:cs typeface="Calibri"/>
                <a:sym typeface="Calibri"/>
              </a:rPr>
              <a:t>Medición con evidencia</a:t>
            </a:r>
            <a:endParaRPr/>
          </a:p>
        </p:txBody>
      </p:sp>
      <p:sp>
        <p:nvSpPr>
          <p:cNvPr id="221" name="Google Shape;221;p19"/>
          <p:cNvSpPr txBox="1"/>
          <p:nvPr/>
        </p:nvSpPr>
        <p:spPr>
          <a:xfrm>
            <a:off x="6995160" y="3383280"/>
            <a:ext cx="4572000" cy="54864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0" i="0" lang="en-US" sz="1350" u="none" cap="none" strike="noStrike">
                <a:solidFill>
                  <a:srgbClr val="262626"/>
                </a:solidFill>
                <a:latin typeface="Calibri"/>
                <a:ea typeface="Calibri"/>
                <a:cs typeface="Calibri"/>
                <a:sym typeface="Calibri"/>
              </a:rPr>
              <a:t>ASR por fuga verificada del canario, con k/n y prueba exacta de Fisher.</a:t>
            </a:r>
            <a:endParaRPr/>
          </a:p>
        </p:txBody>
      </p:sp>
      <p:sp>
        <p:nvSpPr>
          <p:cNvPr id="222" name="Google Shape;222;p19"/>
          <p:cNvSpPr/>
          <p:nvPr/>
        </p:nvSpPr>
        <p:spPr>
          <a:xfrm>
            <a:off x="6126480" y="4069080"/>
            <a:ext cx="5513832" cy="1078992"/>
          </a:xfrm>
          <a:prstGeom prst="roundRect">
            <a:avLst>
              <a:gd fmla="val 6000" name="adj"/>
            </a:avLst>
          </a:prstGeom>
          <a:solidFill>
            <a:srgbClr val="F2F2F2"/>
          </a:solidFill>
          <a:ln>
            <a:noFill/>
          </a:ln>
        </p:spPr>
        <p:txBody>
          <a:bodyPr anchorCtr="0" anchor="ctr" bIns="36575" lIns="91425" spcFirstLastPara="1" rIns="91425" wrap="square" tIns="36575">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3" name="Google Shape;223;p19"/>
          <p:cNvSpPr/>
          <p:nvPr/>
        </p:nvSpPr>
        <p:spPr>
          <a:xfrm>
            <a:off x="6291072" y="4343400"/>
            <a:ext cx="530352" cy="530352"/>
          </a:xfrm>
          <a:prstGeom prst="ellipse">
            <a:avLst/>
          </a:prstGeom>
          <a:solidFill>
            <a:srgbClr val="7B1C2E"/>
          </a:solidFill>
          <a:ln>
            <a:noFill/>
          </a:ln>
        </p:spPr>
        <p:txBody>
          <a:bodyPr anchorCtr="0" anchor="ctr" bIns="36575" lIns="91425" spcFirstLastPara="1" rIns="91425" wrap="square" tIns="36575">
            <a:noAutofit/>
          </a:bodyPr>
          <a:lstStyle/>
          <a:p>
            <a:pPr indent="0" lvl="0" marL="0" marR="0" rtl="0" algn="ctr">
              <a:spcBef>
                <a:spcPts val="0"/>
              </a:spcBef>
              <a:spcAft>
                <a:spcPts val="0"/>
              </a:spcAft>
              <a:buNone/>
            </a:pPr>
            <a:r>
              <a:rPr b="1" i="0" lang="en-US" sz="1700" u="none" cap="none" strike="noStrike">
                <a:solidFill>
                  <a:srgbClr val="FFFFFF"/>
                </a:solidFill>
                <a:latin typeface="Calibri"/>
                <a:ea typeface="Calibri"/>
                <a:cs typeface="Calibri"/>
                <a:sym typeface="Calibri"/>
              </a:rPr>
              <a:t>3</a:t>
            </a:r>
            <a:endParaRPr/>
          </a:p>
        </p:txBody>
      </p:sp>
      <p:sp>
        <p:nvSpPr>
          <p:cNvPr id="224" name="Google Shape;224;p19"/>
          <p:cNvSpPr txBox="1"/>
          <p:nvPr/>
        </p:nvSpPr>
        <p:spPr>
          <a:xfrm>
            <a:off x="6995160" y="4160520"/>
            <a:ext cx="4572000" cy="36576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1550" u="none" cap="none" strike="noStrike">
                <a:solidFill>
                  <a:srgbClr val="4A1020"/>
                </a:solidFill>
                <a:latin typeface="Calibri"/>
                <a:ea typeface="Calibri"/>
                <a:cs typeface="Calibri"/>
                <a:sym typeface="Calibri"/>
              </a:rPr>
              <a:t>Costo de cada pieza</a:t>
            </a:r>
            <a:endParaRPr/>
          </a:p>
        </p:txBody>
      </p:sp>
      <p:sp>
        <p:nvSpPr>
          <p:cNvPr id="225" name="Google Shape;225;p19"/>
          <p:cNvSpPr txBox="1"/>
          <p:nvPr/>
        </p:nvSpPr>
        <p:spPr>
          <a:xfrm>
            <a:off x="6995160" y="4572000"/>
            <a:ext cx="4572000" cy="54864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0" i="0" lang="en-US" sz="1350" u="none" cap="none" strike="noStrike">
                <a:solidFill>
                  <a:srgbClr val="262626"/>
                </a:solidFill>
                <a:latin typeface="Calibri"/>
                <a:ea typeface="Calibri"/>
                <a:cs typeface="Calibri"/>
                <a:sym typeface="Calibri"/>
              </a:rPr>
              <a:t>Latencia propia medida en microsegundos dentro de cada petición.</a:t>
            </a:r>
            <a:endParaRPr/>
          </a:p>
        </p:txBody>
      </p:sp>
      <p:sp>
        <p:nvSpPr>
          <p:cNvPr id="226" name="Google Shape;226;p19"/>
          <p:cNvSpPr/>
          <p:nvPr/>
        </p:nvSpPr>
        <p:spPr>
          <a:xfrm>
            <a:off x="6126480" y="5257800"/>
            <a:ext cx="5513832" cy="1078992"/>
          </a:xfrm>
          <a:prstGeom prst="roundRect">
            <a:avLst>
              <a:gd fmla="val 6000" name="adj"/>
            </a:avLst>
          </a:prstGeom>
          <a:solidFill>
            <a:srgbClr val="F2F2F2"/>
          </a:solidFill>
          <a:ln>
            <a:noFill/>
          </a:ln>
        </p:spPr>
        <p:txBody>
          <a:bodyPr anchorCtr="0" anchor="ctr" bIns="36575" lIns="91425" spcFirstLastPara="1" rIns="91425" wrap="square" tIns="36575">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7" name="Google Shape;227;p19"/>
          <p:cNvSpPr/>
          <p:nvPr/>
        </p:nvSpPr>
        <p:spPr>
          <a:xfrm>
            <a:off x="6291072" y="5532120"/>
            <a:ext cx="530352" cy="530352"/>
          </a:xfrm>
          <a:prstGeom prst="ellipse">
            <a:avLst/>
          </a:prstGeom>
          <a:solidFill>
            <a:srgbClr val="7B1C2E"/>
          </a:solidFill>
          <a:ln>
            <a:noFill/>
          </a:ln>
        </p:spPr>
        <p:txBody>
          <a:bodyPr anchorCtr="0" anchor="ctr" bIns="36575" lIns="91425" spcFirstLastPara="1" rIns="91425" wrap="square" tIns="36575">
            <a:noAutofit/>
          </a:bodyPr>
          <a:lstStyle/>
          <a:p>
            <a:pPr indent="0" lvl="0" marL="0" marR="0" rtl="0" algn="ctr">
              <a:spcBef>
                <a:spcPts val="0"/>
              </a:spcBef>
              <a:spcAft>
                <a:spcPts val="0"/>
              </a:spcAft>
              <a:buNone/>
            </a:pPr>
            <a:r>
              <a:rPr b="1" i="0" lang="en-US" sz="1700" u="none" cap="none" strike="noStrike">
                <a:solidFill>
                  <a:srgbClr val="FFFFFF"/>
                </a:solidFill>
                <a:latin typeface="Calibri"/>
                <a:ea typeface="Calibri"/>
                <a:cs typeface="Calibri"/>
                <a:sym typeface="Calibri"/>
              </a:rPr>
              <a:t>4</a:t>
            </a:r>
            <a:endParaRPr/>
          </a:p>
        </p:txBody>
      </p:sp>
      <p:sp>
        <p:nvSpPr>
          <p:cNvPr id="228" name="Google Shape;228;p19"/>
          <p:cNvSpPr txBox="1"/>
          <p:nvPr/>
        </p:nvSpPr>
        <p:spPr>
          <a:xfrm>
            <a:off x="6995160" y="5349240"/>
            <a:ext cx="4572000" cy="36576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1550" u="none" cap="none" strike="noStrike">
                <a:solidFill>
                  <a:srgbClr val="4A1020"/>
                </a:solidFill>
                <a:latin typeface="Calibri"/>
                <a:ea typeface="Calibri"/>
                <a:cs typeface="Calibri"/>
                <a:sym typeface="Calibri"/>
              </a:rPr>
              <a:t>Falla cerrada y trazable</a:t>
            </a:r>
            <a:endParaRPr/>
          </a:p>
        </p:txBody>
      </p:sp>
      <p:sp>
        <p:nvSpPr>
          <p:cNvPr id="229" name="Google Shape;229;p19"/>
          <p:cNvSpPr txBox="1"/>
          <p:nvPr/>
        </p:nvSpPr>
        <p:spPr>
          <a:xfrm>
            <a:off x="6995160" y="5760720"/>
            <a:ext cx="4572000" cy="548640"/>
          </a:xfrm>
          <a:prstGeom prst="rect">
            <a:avLst/>
          </a:prstGeom>
          <a:noFill/>
          <a:ln>
            <a:noFill/>
          </a:ln>
        </p:spPr>
        <p:txBody>
          <a:bodyPr anchorCtr="0" anchor="t" bIns="27425" lIns="45700" spcFirstLastPara="1" rIns="45700" wrap="square" tIns="27425">
            <a:noAutofit/>
          </a:bodyPr>
          <a:lstStyle/>
          <a:p>
            <a:pPr indent="0" lvl="0" marL="0" marR="0" rtl="0" algn="l">
              <a:spcBef>
                <a:spcPts val="0"/>
              </a:spcBef>
              <a:spcAft>
                <a:spcPts val="0"/>
              </a:spcAft>
              <a:buNone/>
            </a:pPr>
            <a:r>
              <a:rPr b="0" i="0" lang="en-US" sz="1350" u="none" cap="none" strike="noStrike">
                <a:solidFill>
                  <a:srgbClr val="262626"/>
                </a:solidFill>
                <a:latin typeface="Calibri"/>
                <a:ea typeface="Calibri"/>
                <a:cs typeface="Calibri"/>
                <a:sym typeface="Calibri"/>
              </a:rPr>
              <a:t>Si el clasificador falla, bloquea; </a:t>
            </a:r>
            <a:r>
              <a:rPr lang="en-US" sz="1350">
                <a:solidFill>
                  <a:srgbClr val="262626"/>
                </a:solidFill>
                <a:latin typeface="Calibri"/>
                <a:ea typeface="Calibri"/>
                <a:cs typeface="Calibri"/>
                <a:sym typeface="Calibri"/>
              </a:rPr>
              <a:t>todo evento queda en JSONL y, si se activa, en cualquier SIEM</a:t>
            </a:r>
            <a:r>
              <a:rPr b="0" i="0" lang="en-US" sz="1350" u="none" cap="none" strike="noStrike">
                <a:solidFill>
                  <a:srgbClr val="262626"/>
                </a:solidFill>
                <a:latin typeface="Calibri"/>
                <a:ea typeface="Calibri"/>
                <a:cs typeface="Calibri"/>
                <a:sym typeface="Calibri"/>
              </a:rPr>
              <a:t>.</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34" name="Shape 234"/>
        <p:cNvGrpSpPr/>
        <p:nvPr/>
      </p:nvGrpSpPr>
      <p:grpSpPr>
        <a:xfrm>
          <a:off x="0" y="0"/>
          <a:ext cx="0" cy="0"/>
          <a:chOff x="0" y="0"/>
          <a:chExt cx="0" cy="0"/>
        </a:xfrm>
      </p:grpSpPr>
      <p:sp>
        <p:nvSpPr>
          <p:cNvPr id="235" name="Google Shape;235;p20"/>
          <p:cNvSpPr txBox="1"/>
          <p:nvPr>
            <p:ph type="title"/>
          </p:nvPr>
        </p:nvSpPr>
        <p:spPr>
          <a:xfrm>
            <a:off x="1371600" y="457200"/>
            <a:ext cx="8869680" cy="64008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4A1020"/>
              </a:buClr>
              <a:buSzPts val="2800"/>
              <a:buFont typeface="Calibri"/>
              <a:buNone/>
            </a:pPr>
            <a:r>
              <a:rPr b="1" lang="en-US" sz="2800">
                <a:solidFill>
                  <a:srgbClr val="4A1020"/>
                </a:solidFill>
              </a:rPr>
              <a:t>Arquitectura de la solución</a:t>
            </a:r>
            <a:endParaRPr/>
          </a:p>
        </p:txBody>
      </p:sp>
      <p:pic>
        <p:nvPicPr>
          <p:cNvPr descr="ironveil_v6.png" id="236" name="Google Shape;236;p20"/>
          <p:cNvPicPr preferRelativeResize="0"/>
          <p:nvPr/>
        </p:nvPicPr>
        <p:blipFill rotWithShape="1">
          <a:blip r:embed="rId3">
            <a:alphaModFix/>
          </a:blip>
          <a:srcRect b="0" l="0" r="0" t="0"/>
          <a:stretch/>
        </p:blipFill>
        <p:spPr>
          <a:xfrm>
            <a:off x="502920" y="274320"/>
            <a:ext cx="822960" cy="822960"/>
          </a:xfrm>
          <a:prstGeom prst="rect">
            <a:avLst/>
          </a:prstGeom>
          <a:noFill/>
          <a:ln>
            <a:noFill/>
          </a:ln>
        </p:spPr>
      </p:pic>
      <p:sp>
        <p:nvSpPr>
          <p:cNvPr id="237" name="Google Shape;237;p20"/>
          <p:cNvSpPr txBox="1"/>
          <p:nvPr/>
        </p:nvSpPr>
        <p:spPr>
          <a:xfrm>
            <a:off x="1371600" y="246888"/>
            <a:ext cx="8229600" cy="27432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1100" u="none" cap="none" strike="noStrike">
                <a:solidFill>
                  <a:srgbClr val="7B1C2E"/>
                </a:solidFill>
                <a:latin typeface="Calibri"/>
                <a:ea typeface="Calibri"/>
                <a:cs typeface="Calibri"/>
                <a:sym typeface="Calibri"/>
              </a:rPr>
              <a:t>04 · ARQUITECTURA</a:t>
            </a:r>
            <a:endParaRPr/>
          </a:p>
        </p:txBody>
      </p:sp>
      <p:cxnSp>
        <p:nvCxnSpPr>
          <p:cNvPr id="238" name="Google Shape;238;p20"/>
          <p:cNvCxnSpPr/>
          <p:nvPr/>
        </p:nvCxnSpPr>
        <p:spPr>
          <a:xfrm>
            <a:off x="548640" y="1188720"/>
            <a:ext cx="11091672" cy="0"/>
          </a:xfrm>
          <a:prstGeom prst="straightConnector1">
            <a:avLst/>
          </a:prstGeom>
          <a:noFill/>
          <a:ln cap="flat" cmpd="sng" w="25400">
            <a:solidFill>
              <a:srgbClr val="7B1C2E"/>
            </a:solidFill>
            <a:prstDash val="solid"/>
            <a:miter lim="8000"/>
            <a:headEnd len="sm" w="sm" type="none"/>
            <a:tailEnd len="sm" w="sm" type="none"/>
          </a:ln>
        </p:spPr>
      </p:cxnSp>
      <p:sp>
        <p:nvSpPr>
          <p:cNvPr id="239" name="Google Shape;239;p20"/>
          <p:cNvSpPr/>
          <p:nvPr/>
        </p:nvSpPr>
        <p:spPr>
          <a:xfrm>
            <a:off x="0" y="6510528"/>
            <a:ext cx="12191695" cy="347472"/>
          </a:xfrm>
          <a:prstGeom prst="rect">
            <a:avLst/>
          </a:prstGeom>
          <a:solidFill>
            <a:srgbClr val="7B1C2E"/>
          </a:solidFill>
          <a:ln>
            <a:noFill/>
          </a:ln>
        </p:spPr>
        <p:txBody>
          <a:bodyPr anchorCtr="0" anchor="ctr" bIns="36575" lIns="91425" spcFirstLastPara="1" rIns="91425" wrap="square" tIns="36575">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ronveil_v6_inv.png" id="240" name="Google Shape;240;p20"/>
          <p:cNvPicPr preferRelativeResize="0"/>
          <p:nvPr/>
        </p:nvPicPr>
        <p:blipFill rotWithShape="1">
          <a:blip r:embed="rId4">
            <a:alphaModFix/>
          </a:blip>
          <a:srcRect b="0" l="0" r="0" t="0"/>
          <a:stretch/>
        </p:blipFill>
        <p:spPr>
          <a:xfrm>
            <a:off x="457200" y="6537960"/>
            <a:ext cx="292608" cy="292608"/>
          </a:xfrm>
          <a:prstGeom prst="rect">
            <a:avLst/>
          </a:prstGeom>
          <a:noFill/>
          <a:ln>
            <a:noFill/>
          </a:ln>
        </p:spPr>
      </p:pic>
      <p:sp>
        <p:nvSpPr>
          <p:cNvPr id="241" name="Google Shape;241;p20"/>
          <p:cNvSpPr txBox="1"/>
          <p:nvPr/>
        </p:nvSpPr>
        <p:spPr>
          <a:xfrm>
            <a:off x="822960" y="6528816"/>
            <a:ext cx="5486400" cy="310896"/>
          </a:xfrm>
          <a:prstGeom prst="rect">
            <a:avLst/>
          </a:prstGeom>
          <a:noFill/>
          <a:ln>
            <a:noFill/>
          </a:ln>
        </p:spPr>
        <p:txBody>
          <a:bodyPr anchorCtr="0" anchor="ctr" bIns="27425" lIns="45700" spcFirstLastPara="1" rIns="45700" wrap="square" tIns="27425">
            <a:noAutofit/>
          </a:bodyPr>
          <a:lstStyle/>
          <a:p>
            <a:pPr indent="0" lvl="0" marL="0" marR="0" rtl="0" algn="l">
              <a:spcBef>
                <a:spcPts val="0"/>
              </a:spcBef>
              <a:spcAft>
                <a:spcPts val="0"/>
              </a:spcAft>
              <a:buNone/>
            </a:pPr>
            <a:r>
              <a:rPr b="1" lang="en-US" sz="1050">
                <a:solidFill>
                  <a:srgbClr val="F2F2F2"/>
                </a:solidFill>
                <a:latin typeface="Calibri"/>
                <a:ea typeface="Calibri"/>
                <a:cs typeface="Calibri"/>
                <a:sym typeface="Calibri"/>
              </a:rPr>
              <a:t>IronVeil · Framework de defensa para LLMs autoalojados</a:t>
            </a:r>
            <a:endParaRPr/>
          </a:p>
        </p:txBody>
      </p:sp>
      <p:sp>
        <p:nvSpPr>
          <p:cNvPr id="242" name="Google Shape;242;p20"/>
          <p:cNvSpPr txBox="1"/>
          <p:nvPr/>
        </p:nvSpPr>
        <p:spPr>
          <a:xfrm>
            <a:off x="6217920" y="6528816"/>
            <a:ext cx="5303520" cy="310896"/>
          </a:xfrm>
          <a:prstGeom prst="rect">
            <a:avLst/>
          </a:prstGeom>
          <a:noFill/>
          <a:ln>
            <a:noFill/>
          </a:ln>
        </p:spPr>
        <p:txBody>
          <a:bodyPr anchorCtr="0" anchor="ctr" bIns="27425" lIns="45700" spcFirstLastPara="1" rIns="45700" wrap="square" tIns="27425">
            <a:spAutoFit/>
          </a:bodyPr>
          <a:lstStyle/>
          <a:p>
            <a:pPr indent="0" lvl="0" marL="0" marR="0" rtl="0" algn="r">
              <a:spcBef>
                <a:spcPts val="0"/>
              </a:spcBef>
              <a:spcAft>
                <a:spcPts val="0"/>
              </a:spcAft>
              <a:buNone/>
            </a:pPr>
            <a:r>
              <a:rPr b="0" i="0" lang="en-US" sz="1050" u="none" cap="none" strike="noStrike">
                <a:solidFill>
                  <a:srgbClr val="D9D9D9"/>
                </a:solidFill>
                <a:latin typeface="Calibri"/>
                <a:ea typeface="Calibri"/>
                <a:cs typeface="Calibri"/>
                <a:sym typeface="Calibri"/>
              </a:rPr>
              <a:t>Escuela Colombiana de Ingeniería Julio Garavito · 2026</a:t>
            </a:r>
            <a:endParaRPr/>
          </a:p>
        </p:txBody>
      </p:sp>
      <p:sp>
        <p:nvSpPr>
          <p:cNvPr id="243" name="Google Shape;243;p20"/>
          <p:cNvSpPr txBox="1"/>
          <p:nvPr/>
        </p:nvSpPr>
        <p:spPr>
          <a:xfrm>
            <a:off x="11475720" y="6528816"/>
            <a:ext cx="548640" cy="310896"/>
          </a:xfrm>
          <a:prstGeom prst="rect">
            <a:avLst/>
          </a:prstGeom>
          <a:noFill/>
          <a:ln>
            <a:noFill/>
          </a:ln>
        </p:spPr>
        <p:txBody>
          <a:bodyPr anchorCtr="0" anchor="ctr" bIns="27425" lIns="45700" spcFirstLastPara="1" rIns="45700" wrap="square" tIns="27425">
            <a:spAutoFit/>
          </a:bodyPr>
          <a:lstStyle/>
          <a:p>
            <a:pPr indent="0" lvl="0" marL="0" marR="0" rtl="0" algn="r">
              <a:spcBef>
                <a:spcPts val="0"/>
              </a:spcBef>
              <a:spcAft>
                <a:spcPts val="0"/>
              </a:spcAft>
              <a:buNone/>
            </a:pPr>
            <a:r>
              <a:rPr b="1" i="0" lang="en-US" sz="1100" u="none" cap="none" strike="noStrike">
                <a:solidFill>
                  <a:srgbClr val="FFFFFF"/>
                </a:solidFill>
                <a:latin typeface="Calibri"/>
                <a:ea typeface="Calibri"/>
                <a:cs typeface="Calibri"/>
                <a:sym typeface="Calibri"/>
              </a:rPr>
              <a:t>6</a:t>
            </a:r>
            <a:endParaRPr/>
          </a:p>
        </p:txBody>
      </p:sp>
      <p:sp>
        <p:nvSpPr>
          <p:cNvPr id="244" name="Google Shape;244;p20"/>
          <p:cNvSpPr/>
          <p:nvPr/>
        </p:nvSpPr>
        <p:spPr>
          <a:xfrm>
            <a:off x="411480" y="1920240"/>
            <a:ext cx="1234440" cy="3291840"/>
          </a:xfrm>
          <a:prstGeom prst="roundRect">
            <a:avLst>
              <a:gd fmla="val 6000" name="adj"/>
            </a:avLst>
          </a:prstGeom>
          <a:solidFill>
            <a:srgbClr val="F2F2F2"/>
          </a:solidFill>
          <a:ln cap="flat" cmpd="sng" w="12700">
            <a:solidFill>
              <a:srgbClr val="D0D0D0"/>
            </a:solidFill>
            <a:prstDash val="solid"/>
            <a:miter lim="8000"/>
            <a:headEnd len="sm" w="sm" type="none"/>
            <a:tailEnd len="sm" w="sm" type="none"/>
          </a:ln>
        </p:spPr>
        <p:txBody>
          <a:bodyPr anchorCtr="0" anchor="ctr" bIns="36575" lIns="91425" spcFirstLastPara="1" rIns="91425" wrap="square" tIns="36575">
            <a:noAutofit/>
          </a:bodyPr>
          <a:lstStyle/>
          <a:p>
            <a:pPr indent="0" lvl="0" marL="0" marR="0" rtl="0" algn="ctr">
              <a:spcBef>
                <a:spcPts val="0"/>
              </a:spcBef>
              <a:spcAft>
                <a:spcPts val="0"/>
              </a:spcAft>
              <a:buNone/>
            </a:pPr>
            <a:r>
              <a:rPr b="1" i="0" lang="en-US" sz="1300" u="none" cap="none" strike="noStrike">
                <a:solidFill>
                  <a:srgbClr val="4A1020"/>
                </a:solidFill>
                <a:latin typeface="Calibri"/>
                <a:ea typeface="Calibri"/>
                <a:cs typeface="Calibri"/>
                <a:sym typeface="Calibri"/>
              </a:rPr>
              <a:t>Cliente /</a:t>
            </a:r>
            <a:endParaRPr/>
          </a:p>
          <a:p>
            <a:pPr indent="0" lvl="0" marL="0" marR="0" rtl="0" algn="ctr">
              <a:spcBef>
                <a:spcPts val="0"/>
              </a:spcBef>
              <a:spcAft>
                <a:spcPts val="0"/>
              </a:spcAft>
              <a:buNone/>
            </a:pPr>
            <a:r>
              <a:rPr b="1" i="0" lang="en-US" sz="1300" u="none" cap="none" strike="noStrike">
                <a:solidFill>
                  <a:srgbClr val="4A1020"/>
                </a:solidFill>
                <a:latin typeface="Calibri"/>
                <a:ea typeface="Calibri"/>
                <a:cs typeface="Calibri"/>
                <a:sym typeface="Calibri"/>
              </a:rPr>
              <a:t>atacante</a:t>
            </a:r>
            <a:endParaRPr/>
          </a:p>
          <a:p>
            <a:pPr indent="0" lvl="0" marL="0" marR="0" rtl="0" algn="ctr">
              <a:spcBef>
                <a:spcPts val="0"/>
              </a:spcBef>
              <a:spcAft>
                <a:spcPts val="0"/>
              </a:spcAft>
              <a:buNone/>
            </a:pPr>
            <a:r>
              <a:rPr b="0" i="0" lang="en-US" sz="1100" u="none" cap="none" strike="noStrike">
                <a:solidFill>
                  <a:srgbClr val="4A1020"/>
                </a:solidFill>
                <a:latin typeface="Calibri"/>
                <a:ea typeface="Calibri"/>
                <a:cs typeface="Calibri"/>
                <a:sym typeface="Calibri"/>
              </a:rPr>
              <a:t>POST /chat</a:t>
            </a:r>
            <a:endParaRPr/>
          </a:p>
        </p:txBody>
      </p:sp>
      <p:sp>
        <p:nvSpPr>
          <p:cNvPr id="245" name="Google Shape;245;p20"/>
          <p:cNvSpPr/>
          <p:nvPr/>
        </p:nvSpPr>
        <p:spPr>
          <a:xfrm>
            <a:off x="1965960" y="1371600"/>
            <a:ext cx="7726679" cy="4343400"/>
          </a:xfrm>
          <a:prstGeom prst="roundRect">
            <a:avLst>
              <a:gd fmla="val 3000" name="adj"/>
            </a:avLst>
          </a:prstGeom>
          <a:solidFill>
            <a:srgbClr val="FFFFFF"/>
          </a:solidFill>
          <a:ln cap="flat" cmpd="sng" w="19050">
            <a:solidFill>
              <a:srgbClr val="7B1C2E"/>
            </a:solidFill>
            <a:prstDash val="dash"/>
            <a:miter lim="8000"/>
            <a:headEnd len="sm" w="sm" type="none"/>
            <a:tailEnd len="sm" w="sm" type="none"/>
          </a:ln>
        </p:spPr>
        <p:txBody>
          <a:bodyPr anchorCtr="0" anchor="ctr" bIns="36575" lIns="91425" spcFirstLastPara="1" rIns="91425" wrap="square" tIns="36575">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46" name="Google Shape;246;p20"/>
          <p:cNvSpPr txBox="1"/>
          <p:nvPr/>
        </p:nvSpPr>
        <p:spPr>
          <a:xfrm>
            <a:off x="2103120" y="1389888"/>
            <a:ext cx="7406640" cy="32004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1200" u="none" cap="none" strike="noStrike">
                <a:solidFill>
                  <a:srgbClr val="7B1C2E"/>
                </a:solidFill>
                <a:latin typeface="Calibri"/>
                <a:ea typeface="Calibri"/>
                <a:cs typeface="Calibri"/>
                <a:sym typeface="Calibri"/>
              </a:rPr>
              <a:t>Proxy FastAPI :8000 (único puerto publicado)  ·  banderas en config.yaml</a:t>
            </a:r>
            <a:endParaRPr/>
          </a:p>
        </p:txBody>
      </p:sp>
      <p:sp>
        <p:nvSpPr>
          <p:cNvPr id="247" name="Google Shape;247;p20"/>
          <p:cNvSpPr txBox="1"/>
          <p:nvPr/>
        </p:nvSpPr>
        <p:spPr>
          <a:xfrm>
            <a:off x="2103120" y="1719072"/>
            <a:ext cx="2743200" cy="27432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1100" u="none" cap="none" strike="noStrike">
                <a:solidFill>
                  <a:srgbClr val="7B1C2E"/>
                </a:solidFill>
                <a:latin typeface="Calibri"/>
                <a:ea typeface="Calibri"/>
                <a:cs typeface="Calibri"/>
                <a:sym typeface="Calibri"/>
              </a:rPr>
              <a:t>ENTRADA</a:t>
            </a:r>
            <a:endParaRPr/>
          </a:p>
        </p:txBody>
      </p:sp>
      <p:sp>
        <p:nvSpPr>
          <p:cNvPr id="248" name="Google Shape;248;p20"/>
          <p:cNvSpPr/>
          <p:nvPr/>
        </p:nvSpPr>
        <p:spPr>
          <a:xfrm>
            <a:off x="2148840" y="2011680"/>
            <a:ext cx="1280160" cy="914400"/>
          </a:xfrm>
          <a:prstGeom prst="roundRect">
            <a:avLst>
              <a:gd fmla="val 6000" name="adj"/>
            </a:avLst>
          </a:prstGeom>
          <a:solidFill>
            <a:srgbClr val="F2F2F2"/>
          </a:solidFill>
          <a:ln cap="flat" cmpd="sng" w="12700">
            <a:solidFill>
              <a:srgbClr val="D0D0D0"/>
            </a:solidFill>
            <a:prstDash val="solid"/>
            <a:miter lim="8000"/>
            <a:headEnd len="sm" w="sm" type="none"/>
            <a:tailEnd len="sm" w="sm" type="none"/>
          </a:ln>
        </p:spPr>
        <p:txBody>
          <a:bodyPr anchorCtr="0" anchor="ctr" bIns="36575" lIns="91425" spcFirstLastPara="1" rIns="91425" wrap="square" tIns="36575">
            <a:noAutofit/>
          </a:bodyPr>
          <a:lstStyle/>
          <a:p>
            <a:pPr indent="0" lvl="0" marL="0" marR="0" rtl="0" algn="ctr">
              <a:spcBef>
                <a:spcPts val="0"/>
              </a:spcBef>
              <a:spcAft>
                <a:spcPts val="0"/>
              </a:spcAft>
              <a:buNone/>
            </a:pPr>
            <a:r>
              <a:rPr b="1" i="0" lang="en-US" sz="1200" u="none" cap="none" strike="noStrike">
                <a:solidFill>
                  <a:srgbClr val="4A1020"/>
                </a:solidFill>
                <a:latin typeface="Calibri"/>
                <a:ea typeface="Calibri"/>
                <a:cs typeface="Calibri"/>
                <a:sym typeface="Calibri"/>
              </a:rPr>
              <a:t>5 · Límite de peticiones</a:t>
            </a:r>
            <a:endParaRPr/>
          </a:p>
        </p:txBody>
      </p:sp>
      <p:sp>
        <p:nvSpPr>
          <p:cNvPr id="249" name="Google Shape;249;p20"/>
          <p:cNvSpPr/>
          <p:nvPr/>
        </p:nvSpPr>
        <p:spPr>
          <a:xfrm>
            <a:off x="3657600" y="2011680"/>
            <a:ext cx="1280160" cy="914400"/>
          </a:xfrm>
          <a:prstGeom prst="roundRect">
            <a:avLst>
              <a:gd fmla="val 6000" name="adj"/>
            </a:avLst>
          </a:prstGeom>
          <a:solidFill>
            <a:srgbClr val="F2F2F2"/>
          </a:solidFill>
          <a:ln cap="flat" cmpd="sng" w="12700">
            <a:solidFill>
              <a:srgbClr val="D0D0D0"/>
            </a:solidFill>
            <a:prstDash val="solid"/>
            <a:miter lim="8000"/>
            <a:headEnd len="sm" w="sm" type="none"/>
            <a:tailEnd len="sm" w="sm" type="none"/>
          </a:ln>
        </p:spPr>
        <p:txBody>
          <a:bodyPr anchorCtr="0" anchor="ctr" bIns="36575" lIns="91425" spcFirstLastPara="1" rIns="91425" wrap="square" tIns="36575">
            <a:noAutofit/>
          </a:bodyPr>
          <a:lstStyle/>
          <a:p>
            <a:pPr indent="0" lvl="0" marL="0" marR="0" rtl="0" algn="ctr">
              <a:spcBef>
                <a:spcPts val="0"/>
              </a:spcBef>
              <a:spcAft>
                <a:spcPts val="0"/>
              </a:spcAft>
              <a:buNone/>
            </a:pPr>
            <a:r>
              <a:rPr b="1" i="0" lang="en-US" sz="1200" u="none" cap="none" strike="noStrike">
                <a:solidFill>
                  <a:srgbClr val="4A1020"/>
                </a:solidFill>
                <a:latin typeface="Calibri"/>
                <a:ea typeface="Calibri"/>
                <a:cs typeface="Calibri"/>
                <a:sym typeface="Calibri"/>
              </a:rPr>
              <a:t>1 · Filtrado</a:t>
            </a:r>
            <a:endParaRPr/>
          </a:p>
          <a:p>
            <a:pPr indent="0" lvl="0" marL="0" marR="0" rtl="0" algn="ctr">
              <a:spcBef>
                <a:spcPts val="0"/>
              </a:spcBef>
              <a:spcAft>
                <a:spcPts val="0"/>
              </a:spcAft>
              <a:buNone/>
            </a:pPr>
            <a:r>
              <a:rPr b="0" i="0" lang="en-US" sz="1100" u="none" cap="none" strike="noStrike">
                <a:solidFill>
                  <a:srgbClr val="4A1020"/>
                </a:solidFill>
                <a:latin typeface="Calibri"/>
                <a:ea typeface="Calibri"/>
                <a:cs typeface="Calibri"/>
                <a:sym typeface="Calibri"/>
              </a:rPr>
              <a:t>(regex)</a:t>
            </a:r>
            <a:endParaRPr/>
          </a:p>
        </p:txBody>
      </p:sp>
      <p:sp>
        <p:nvSpPr>
          <p:cNvPr id="250" name="Google Shape;250;p20"/>
          <p:cNvSpPr/>
          <p:nvPr/>
        </p:nvSpPr>
        <p:spPr>
          <a:xfrm>
            <a:off x="5166360" y="2011680"/>
            <a:ext cx="1280160" cy="914400"/>
          </a:xfrm>
          <a:prstGeom prst="roundRect">
            <a:avLst>
              <a:gd fmla="val 6000" name="adj"/>
            </a:avLst>
          </a:prstGeom>
          <a:solidFill>
            <a:srgbClr val="7B1C2E"/>
          </a:solidFill>
          <a:ln cap="flat" cmpd="sng" w="12700">
            <a:solidFill>
              <a:srgbClr val="7B1C2E"/>
            </a:solidFill>
            <a:prstDash val="solid"/>
            <a:miter lim="8000"/>
            <a:headEnd len="sm" w="sm" type="none"/>
            <a:tailEnd len="sm" w="sm" type="none"/>
          </a:ln>
        </p:spPr>
        <p:txBody>
          <a:bodyPr anchorCtr="0" anchor="ctr" bIns="36575" lIns="91425" spcFirstLastPara="1" rIns="91425" wrap="square" tIns="36575">
            <a:noAutofit/>
          </a:bodyPr>
          <a:lstStyle/>
          <a:p>
            <a:pPr indent="0" lvl="0" marL="0" marR="0" rtl="0" algn="ctr">
              <a:spcBef>
                <a:spcPts val="0"/>
              </a:spcBef>
              <a:spcAft>
                <a:spcPts val="0"/>
              </a:spcAft>
              <a:buNone/>
            </a:pPr>
            <a:r>
              <a:rPr b="1" i="0" lang="en-US" sz="1200" u="none" cap="none" strike="noStrike">
                <a:solidFill>
                  <a:srgbClr val="FFFFFF"/>
                </a:solidFill>
                <a:latin typeface="Calibri"/>
                <a:ea typeface="Calibri"/>
                <a:cs typeface="Calibri"/>
                <a:sym typeface="Calibri"/>
              </a:rPr>
              <a:t>3 · Clasificación</a:t>
            </a:r>
            <a:endParaRPr/>
          </a:p>
          <a:p>
            <a:pPr indent="0" lvl="0" marL="0" marR="0" rtl="0" algn="ctr">
              <a:spcBef>
                <a:spcPts val="0"/>
              </a:spcBef>
              <a:spcAft>
                <a:spcPts val="0"/>
              </a:spcAft>
              <a:buNone/>
            </a:pPr>
            <a:r>
              <a:rPr b="0" i="0" lang="en-US" sz="1100" u="none" cap="none" strike="noStrike">
                <a:solidFill>
                  <a:srgbClr val="FFFFFF"/>
                </a:solidFill>
                <a:latin typeface="Calibri"/>
                <a:ea typeface="Calibri"/>
                <a:cs typeface="Calibri"/>
                <a:sym typeface="Calibri"/>
              </a:rPr>
              <a:t>Prompt Guard 2</a:t>
            </a:r>
            <a:endParaRPr/>
          </a:p>
        </p:txBody>
      </p:sp>
      <p:sp>
        <p:nvSpPr>
          <p:cNvPr id="251" name="Google Shape;251;p20"/>
          <p:cNvSpPr/>
          <p:nvPr/>
        </p:nvSpPr>
        <p:spPr>
          <a:xfrm>
            <a:off x="6675119" y="2011680"/>
            <a:ext cx="1280160" cy="914400"/>
          </a:xfrm>
          <a:prstGeom prst="roundRect">
            <a:avLst>
              <a:gd fmla="val 6000" name="adj"/>
            </a:avLst>
          </a:prstGeom>
          <a:solidFill>
            <a:srgbClr val="F2F2F2"/>
          </a:solidFill>
          <a:ln cap="flat" cmpd="sng" w="12700">
            <a:solidFill>
              <a:srgbClr val="D0D0D0"/>
            </a:solidFill>
            <a:prstDash val="solid"/>
            <a:miter lim="8000"/>
            <a:headEnd len="sm" w="sm" type="none"/>
            <a:tailEnd len="sm" w="sm" type="none"/>
          </a:ln>
        </p:spPr>
        <p:txBody>
          <a:bodyPr anchorCtr="0" anchor="ctr" bIns="36575" lIns="91425" spcFirstLastPara="1" rIns="91425" wrap="square" tIns="36575">
            <a:noAutofit/>
          </a:bodyPr>
          <a:lstStyle/>
          <a:p>
            <a:pPr indent="0" lvl="0" marL="0" marR="0" rtl="0" algn="ctr">
              <a:spcBef>
                <a:spcPts val="0"/>
              </a:spcBef>
              <a:spcAft>
                <a:spcPts val="0"/>
              </a:spcAft>
              <a:buNone/>
            </a:pPr>
            <a:r>
              <a:rPr b="1" i="0" lang="en-US" sz="1200" u="none" cap="none" strike="noStrike">
                <a:solidFill>
                  <a:srgbClr val="4A1020"/>
                </a:solidFill>
                <a:latin typeface="Calibri"/>
                <a:ea typeface="Calibri"/>
                <a:cs typeface="Calibri"/>
                <a:sym typeface="Calibri"/>
              </a:rPr>
              <a:t>4 · Mínimo privilegio</a:t>
            </a:r>
            <a:endParaRPr/>
          </a:p>
        </p:txBody>
      </p:sp>
      <p:sp>
        <p:nvSpPr>
          <p:cNvPr id="252" name="Google Shape;252;p20"/>
          <p:cNvSpPr/>
          <p:nvPr/>
        </p:nvSpPr>
        <p:spPr>
          <a:xfrm>
            <a:off x="8183879" y="2011680"/>
            <a:ext cx="1280160" cy="914400"/>
          </a:xfrm>
          <a:prstGeom prst="roundRect">
            <a:avLst>
              <a:gd fmla="val 6000" name="adj"/>
            </a:avLst>
          </a:prstGeom>
          <a:solidFill>
            <a:srgbClr val="F2F2F2"/>
          </a:solidFill>
          <a:ln cap="flat" cmpd="sng" w="12700">
            <a:solidFill>
              <a:srgbClr val="D0D0D0"/>
            </a:solidFill>
            <a:prstDash val="solid"/>
            <a:miter lim="8000"/>
            <a:headEnd len="sm" w="sm" type="none"/>
            <a:tailEnd len="sm" w="sm" type="none"/>
          </a:ln>
        </p:spPr>
        <p:txBody>
          <a:bodyPr anchorCtr="0" anchor="ctr" bIns="36575" lIns="91425" spcFirstLastPara="1" rIns="91425" wrap="square" tIns="36575">
            <a:noAutofit/>
          </a:bodyPr>
          <a:lstStyle/>
          <a:p>
            <a:pPr indent="0" lvl="0" marL="0" marR="0" rtl="0" algn="ctr">
              <a:spcBef>
                <a:spcPts val="0"/>
              </a:spcBef>
              <a:spcAft>
                <a:spcPts val="0"/>
              </a:spcAft>
              <a:buNone/>
            </a:pPr>
            <a:r>
              <a:rPr b="1" i="0" lang="en-US" sz="1200" u="none" cap="none" strike="noStrike">
                <a:solidFill>
                  <a:srgbClr val="4A1020"/>
                </a:solidFill>
                <a:latin typeface="Calibri"/>
                <a:ea typeface="Calibri"/>
                <a:cs typeface="Calibri"/>
                <a:sym typeface="Calibri"/>
              </a:rPr>
              <a:t>2 · Delimitación</a:t>
            </a:r>
            <a:endParaRPr/>
          </a:p>
          <a:p>
            <a:pPr indent="0" lvl="0" marL="0" marR="0" rtl="0" algn="ctr">
              <a:spcBef>
                <a:spcPts val="0"/>
              </a:spcBef>
              <a:spcAft>
                <a:spcPts val="0"/>
              </a:spcAft>
              <a:buNone/>
            </a:pPr>
            <a:r>
              <a:rPr b="0" i="0" lang="en-US" sz="1100" u="none" cap="none" strike="noStrike">
                <a:solidFill>
                  <a:srgbClr val="4A1020"/>
                </a:solidFill>
                <a:latin typeface="Calibri"/>
                <a:ea typeface="Calibri"/>
                <a:cs typeface="Calibri"/>
                <a:sym typeface="Calibri"/>
              </a:rPr>
              <a:t>(no bloquea)</a:t>
            </a:r>
            <a:endParaRPr/>
          </a:p>
        </p:txBody>
      </p:sp>
      <p:cxnSp>
        <p:nvCxnSpPr>
          <p:cNvPr id="253" name="Google Shape;253;p20"/>
          <p:cNvCxnSpPr/>
          <p:nvPr/>
        </p:nvCxnSpPr>
        <p:spPr>
          <a:xfrm>
            <a:off x="3429000" y="2468880"/>
            <a:ext cx="228600" cy="0"/>
          </a:xfrm>
          <a:prstGeom prst="straightConnector1">
            <a:avLst/>
          </a:prstGeom>
          <a:noFill/>
          <a:ln cap="flat" cmpd="sng" w="22225">
            <a:solidFill>
              <a:srgbClr val="595959"/>
            </a:solidFill>
            <a:prstDash val="solid"/>
            <a:miter lim="8000"/>
            <a:headEnd len="sm" w="sm" type="none"/>
            <a:tailEnd len="med" w="med" type="triangle"/>
          </a:ln>
        </p:spPr>
      </p:cxnSp>
      <p:cxnSp>
        <p:nvCxnSpPr>
          <p:cNvPr id="254" name="Google Shape;254;p20"/>
          <p:cNvCxnSpPr/>
          <p:nvPr/>
        </p:nvCxnSpPr>
        <p:spPr>
          <a:xfrm>
            <a:off x="4937760" y="2468880"/>
            <a:ext cx="228600" cy="0"/>
          </a:xfrm>
          <a:prstGeom prst="straightConnector1">
            <a:avLst/>
          </a:prstGeom>
          <a:noFill/>
          <a:ln cap="flat" cmpd="sng" w="22225">
            <a:solidFill>
              <a:srgbClr val="595959"/>
            </a:solidFill>
            <a:prstDash val="solid"/>
            <a:miter lim="8000"/>
            <a:headEnd len="sm" w="sm" type="none"/>
            <a:tailEnd len="med" w="med" type="triangle"/>
          </a:ln>
        </p:spPr>
      </p:cxnSp>
      <p:cxnSp>
        <p:nvCxnSpPr>
          <p:cNvPr id="255" name="Google Shape;255;p20"/>
          <p:cNvCxnSpPr/>
          <p:nvPr/>
        </p:nvCxnSpPr>
        <p:spPr>
          <a:xfrm>
            <a:off x="6446520" y="2468880"/>
            <a:ext cx="228599" cy="0"/>
          </a:xfrm>
          <a:prstGeom prst="straightConnector1">
            <a:avLst/>
          </a:prstGeom>
          <a:noFill/>
          <a:ln cap="flat" cmpd="sng" w="22225">
            <a:solidFill>
              <a:srgbClr val="595959"/>
            </a:solidFill>
            <a:prstDash val="solid"/>
            <a:miter lim="8000"/>
            <a:headEnd len="sm" w="sm" type="none"/>
            <a:tailEnd len="med" w="med" type="triangle"/>
          </a:ln>
        </p:spPr>
      </p:cxnSp>
      <p:cxnSp>
        <p:nvCxnSpPr>
          <p:cNvPr id="256" name="Google Shape;256;p20"/>
          <p:cNvCxnSpPr/>
          <p:nvPr/>
        </p:nvCxnSpPr>
        <p:spPr>
          <a:xfrm>
            <a:off x="7955279" y="2468880"/>
            <a:ext cx="228600" cy="0"/>
          </a:xfrm>
          <a:prstGeom prst="straightConnector1">
            <a:avLst/>
          </a:prstGeom>
          <a:noFill/>
          <a:ln cap="flat" cmpd="sng" w="22225">
            <a:solidFill>
              <a:srgbClr val="595959"/>
            </a:solidFill>
            <a:prstDash val="solid"/>
            <a:miter lim="8000"/>
            <a:headEnd len="sm" w="sm" type="none"/>
            <a:tailEnd len="med" w="med" type="triangle"/>
          </a:ln>
        </p:spPr>
      </p:cxnSp>
      <p:cxnSp>
        <p:nvCxnSpPr>
          <p:cNvPr id="257" name="Google Shape;257;p20"/>
          <p:cNvCxnSpPr/>
          <p:nvPr/>
        </p:nvCxnSpPr>
        <p:spPr>
          <a:xfrm>
            <a:off x="1645920" y="2468880"/>
            <a:ext cx="502920" cy="0"/>
          </a:xfrm>
          <a:prstGeom prst="straightConnector1">
            <a:avLst/>
          </a:prstGeom>
          <a:noFill/>
          <a:ln cap="flat" cmpd="sng" w="22225">
            <a:solidFill>
              <a:srgbClr val="595959"/>
            </a:solidFill>
            <a:prstDash val="solid"/>
            <a:miter lim="8000"/>
            <a:headEnd len="sm" w="sm" type="none"/>
            <a:tailEnd len="med" w="med" type="triangle"/>
          </a:ln>
        </p:spPr>
      </p:cxnSp>
      <p:sp>
        <p:nvSpPr>
          <p:cNvPr id="258" name="Google Shape;258;p20"/>
          <p:cNvSpPr/>
          <p:nvPr/>
        </p:nvSpPr>
        <p:spPr>
          <a:xfrm>
            <a:off x="5074920" y="3246120"/>
            <a:ext cx="2743200" cy="731520"/>
          </a:xfrm>
          <a:prstGeom prst="roundRect">
            <a:avLst>
              <a:gd fmla="val 6000" name="adj"/>
            </a:avLst>
          </a:prstGeom>
          <a:solidFill>
            <a:srgbClr val="FFFFFF"/>
          </a:solidFill>
          <a:ln cap="flat" cmpd="sng" w="12700">
            <a:solidFill>
              <a:srgbClr val="7B1C2E"/>
            </a:solidFill>
            <a:prstDash val="solid"/>
            <a:miter lim="8000"/>
            <a:headEnd len="sm" w="sm" type="none"/>
            <a:tailEnd len="sm" w="sm" type="none"/>
          </a:ln>
        </p:spPr>
        <p:txBody>
          <a:bodyPr anchorCtr="0" anchor="ctr" bIns="36575" lIns="91425" spcFirstLastPara="1" rIns="91425" wrap="square" tIns="36575">
            <a:noAutofit/>
          </a:bodyPr>
          <a:lstStyle/>
          <a:p>
            <a:pPr indent="0" lvl="0" marL="0" marR="0" rtl="0" algn="ctr">
              <a:spcBef>
                <a:spcPts val="0"/>
              </a:spcBef>
              <a:spcAft>
                <a:spcPts val="0"/>
              </a:spcAft>
              <a:buNone/>
            </a:pPr>
            <a:r>
              <a:rPr b="1" i="0" lang="en-US" sz="1200" u="none" cap="none" strike="noStrike">
                <a:solidFill>
                  <a:srgbClr val="7B1C2E"/>
                </a:solidFill>
                <a:latin typeface="Calibri"/>
                <a:ea typeface="Calibri"/>
                <a:cs typeface="Calibri"/>
                <a:sym typeface="Calibri"/>
              </a:rPr>
              <a:t>5 · Cola de revisión humana</a:t>
            </a:r>
            <a:endParaRPr/>
          </a:p>
          <a:p>
            <a:pPr indent="0" lvl="0" marL="0" marR="0" rtl="0" algn="ctr">
              <a:spcBef>
                <a:spcPts val="0"/>
              </a:spcBef>
              <a:spcAft>
                <a:spcPts val="0"/>
              </a:spcAft>
              <a:buNone/>
            </a:pPr>
            <a:r>
              <a:rPr b="0" i="0" lang="en-US" sz="1100" u="none" cap="none" strike="noStrike">
                <a:solidFill>
                  <a:srgbClr val="7B1C2E"/>
                </a:solidFill>
                <a:latin typeface="Calibri"/>
                <a:ea typeface="Calibri"/>
                <a:cs typeface="Calibri"/>
                <a:sym typeface="Calibri"/>
              </a:rPr>
              <a:t>bloqueo + 5 activo → 429; si no → 400</a:t>
            </a:r>
            <a:endParaRPr/>
          </a:p>
        </p:txBody>
      </p:sp>
      <p:cxnSp>
        <p:nvCxnSpPr>
          <p:cNvPr id="259" name="Google Shape;259;p20"/>
          <p:cNvCxnSpPr/>
          <p:nvPr/>
        </p:nvCxnSpPr>
        <p:spPr>
          <a:xfrm>
            <a:off x="7315199" y="2926080"/>
            <a:ext cx="0" cy="320040"/>
          </a:xfrm>
          <a:prstGeom prst="straightConnector1">
            <a:avLst/>
          </a:prstGeom>
          <a:noFill/>
          <a:ln cap="flat" cmpd="sng" w="22225">
            <a:solidFill>
              <a:srgbClr val="7B1C2E"/>
            </a:solidFill>
            <a:prstDash val="dash"/>
            <a:miter lim="8000"/>
            <a:headEnd len="sm" w="sm" type="none"/>
            <a:tailEnd len="med" w="med" type="triangle"/>
          </a:ln>
        </p:spPr>
      </p:cxnSp>
      <p:sp>
        <p:nvSpPr>
          <p:cNvPr id="260" name="Google Shape;260;p20"/>
          <p:cNvSpPr/>
          <p:nvPr/>
        </p:nvSpPr>
        <p:spPr>
          <a:xfrm>
            <a:off x="9966960" y="2011680"/>
            <a:ext cx="1828800" cy="914400"/>
          </a:xfrm>
          <a:prstGeom prst="roundRect">
            <a:avLst>
              <a:gd fmla="val 6000" name="adj"/>
            </a:avLst>
          </a:prstGeom>
          <a:solidFill>
            <a:srgbClr val="4A1020"/>
          </a:solidFill>
          <a:ln>
            <a:noFill/>
          </a:ln>
        </p:spPr>
        <p:txBody>
          <a:bodyPr anchorCtr="0" anchor="ctr" bIns="36575" lIns="91425" spcFirstLastPara="1" rIns="91425" wrap="square" tIns="36575">
            <a:noAutofit/>
          </a:bodyPr>
          <a:lstStyle/>
          <a:p>
            <a:pPr indent="0" lvl="0" marL="0" marR="0" rtl="0" algn="ctr">
              <a:spcBef>
                <a:spcPts val="0"/>
              </a:spcBef>
              <a:spcAft>
                <a:spcPts val="0"/>
              </a:spcAft>
              <a:buNone/>
            </a:pPr>
            <a:r>
              <a:rPr b="1" i="0" lang="en-US" sz="1200" u="none" cap="none" strike="noStrike">
                <a:solidFill>
                  <a:srgbClr val="FFFFFF"/>
                </a:solidFill>
                <a:latin typeface="Calibri"/>
                <a:ea typeface="Calibri"/>
                <a:cs typeface="Calibri"/>
                <a:sym typeface="Calibri"/>
              </a:rPr>
              <a:t>Modelo protegido</a:t>
            </a:r>
            <a:endParaRPr/>
          </a:p>
          <a:p>
            <a:pPr indent="0" lvl="0" marL="0" marR="0" rtl="0" algn="ctr">
              <a:spcBef>
                <a:spcPts val="0"/>
              </a:spcBef>
              <a:spcAft>
                <a:spcPts val="0"/>
              </a:spcAft>
              <a:buNone/>
            </a:pPr>
            <a:r>
              <a:rPr b="0" i="0" lang="en-US" sz="1000" u="none" cap="none" strike="noStrike">
                <a:solidFill>
                  <a:srgbClr val="FFFFFF"/>
                </a:solidFill>
                <a:latin typeface="Calibri"/>
                <a:ea typeface="Calibri"/>
                <a:cs typeface="Calibri"/>
                <a:sym typeface="Calibri"/>
              </a:rPr>
              <a:t>Ollama :11434 (red interna)</a:t>
            </a:r>
            <a:endParaRPr/>
          </a:p>
          <a:p>
            <a:pPr indent="0" lvl="0" marL="0" marR="0" rtl="0" algn="ctr">
              <a:spcBef>
                <a:spcPts val="0"/>
              </a:spcBef>
              <a:spcAft>
                <a:spcPts val="0"/>
              </a:spcAft>
              <a:buNone/>
            </a:pPr>
            <a:r>
              <a:rPr b="0" i="0" lang="en-US" sz="1000" u="none" cap="none" strike="noStrike">
                <a:solidFill>
                  <a:srgbClr val="FFFFFF"/>
                </a:solidFill>
                <a:latin typeface="Calibri"/>
                <a:ea typeface="Calibri"/>
                <a:cs typeface="Calibri"/>
                <a:sym typeface="Calibri"/>
              </a:rPr>
              <a:t>soporte · rrhh</a:t>
            </a:r>
            <a:endParaRPr/>
          </a:p>
        </p:txBody>
      </p:sp>
      <p:cxnSp>
        <p:nvCxnSpPr>
          <p:cNvPr id="261" name="Google Shape;261;p20"/>
          <p:cNvCxnSpPr/>
          <p:nvPr/>
        </p:nvCxnSpPr>
        <p:spPr>
          <a:xfrm>
            <a:off x="9464040" y="2468880"/>
            <a:ext cx="502920" cy="0"/>
          </a:xfrm>
          <a:prstGeom prst="straightConnector1">
            <a:avLst/>
          </a:prstGeom>
          <a:noFill/>
          <a:ln cap="flat" cmpd="sng" w="22225">
            <a:solidFill>
              <a:srgbClr val="595959"/>
            </a:solidFill>
            <a:prstDash val="solid"/>
            <a:miter lim="8000"/>
            <a:headEnd len="sm" w="sm" type="none"/>
            <a:tailEnd len="med" w="med" type="triangle"/>
          </a:ln>
        </p:spPr>
      </p:cxnSp>
      <p:sp>
        <p:nvSpPr>
          <p:cNvPr id="262" name="Google Shape;262;p20"/>
          <p:cNvSpPr txBox="1"/>
          <p:nvPr/>
        </p:nvSpPr>
        <p:spPr>
          <a:xfrm>
            <a:off x="2103120" y="4160520"/>
            <a:ext cx="2743200" cy="27432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1100" u="none" cap="none" strike="noStrike">
                <a:solidFill>
                  <a:srgbClr val="7B1C2E"/>
                </a:solidFill>
                <a:latin typeface="Calibri"/>
                <a:ea typeface="Calibri"/>
                <a:cs typeface="Calibri"/>
                <a:sym typeface="Calibri"/>
              </a:rPr>
              <a:t>SALIDA</a:t>
            </a:r>
            <a:endParaRPr/>
          </a:p>
        </p:txBody>
      </p:sp>
      <p:sp>
        <p:nvSpPr>
          <p:cNvPr id="263" name="Google Shape;263;p20"/>
          <p:cNvSpPr/>
          <p:nvPr/>
        </p:nvSpPr>
        <p:spPr>
          <a:xfrm>
            <a:off x="8183879" y="4434840"/>
            <a:ext cx="1280160" cy="914400"/>
          </a:xfrm>
          <a:prstGeom prst="roundRect">
            <a:avLst>
              <a:gd fmla="val 6000" name="adj"/>
            </a:avLst>
          </a:prstGeom>
          <a:solidFill>
            <a:srgbClr val="F2F2F2"/>
          </a:solidFill>
          <a:ln cap="flat" cmpd="sng" w="12700">
            <a:solidFill>
              <a:srgbClr val="D0D0D0"/>
            </a:solidFill>
            <a:prstDash val="solid"/>
            <a:miter lim="8000"/>
            <a:headEnd len="sm" w="sm" type="none"/>
            <a:tailEnd len="sm" w="sm" type="none"/>
          </a:ln>
        </p:spPr>
        <p:txBody>
          <a:bodyPr anchorCtr="0" anchor="ctr" bIns="36575" lIns="91425" spcFirstLastPara="1" rIns="91425" wrap="square" tIns="36575">
            <a:noAutofit/>
          </a:bodyPr>
          <a:lstStyle/>
          <a:p>
            <a:pPr indent="0" lvl="0" marL="0" marR="0" rtl="0" algn="ctr">
              <a:spcBef>
                <a:spcPts val="0"/>
              </a:spcBef>
              <a:spcAft>
                <a:spcPts val="0"/>
              </a:spcAft>
              <a:buNone/>
            </a:pPr>
            <a:r>
              <a:rPr b="1" i="0" lang="en-US" sz="1200" u="none" cap="none" strike="noStrike">
                <a:solidFill>
                  <a:srgbClr val="4A1020"/>
                </a:solidFill>
                <a:latin typeface="Calibri"/>
                <a:ea typeface="Calibri"/>
                <a:cs typeface="Calibri"/>
                <a:sym typeface="Calibri"/>
              </a:rPr>
              <a:t>1 · Filtrado</a:t>
            </a:r>
            <a:endParaRPr/>
          </a:p>
          <a:p>
            <a:pPr indent="0" lvl="0" marL="0" marR="0" rtl="0" algn="ctr">
              <a:spcBef>
                <a:spcPts val="0"/>
              </a:spcBef>
              <a:spcAft>
                <a:spcPts val="0"/>
              </a:spcAft>
              <a:buNone/>
            </a:pPr>
            <a:r>
              <a:rPr b="0" i="0" lang="en-US" sz="1100" u="none" cap="none" strike="noStrike">
                <a:solidFill>
                  <a:srgbClr val="4A1020"/>
                </a:solidFill>
                <a:latin typeface="Calibri"/>
                <a:ea typeface="Calibri"/>
                <a:cs typeface="Calibri"/>
                <a:sym typeface="Calibri"/>
              </a:rPr>
              <a:t>salida</a:t>
            </a:r>
            <a:endParaRPr/>
          </a:p>
        </p:txBody>
      </p:sp>
      <p:sp>
        <p:nvSpPr>
          <p:cNvPr id="264" name="Google Shape;264;p20"/>
          <p:cNvSpPr/>
          <p:nvPr/>
        </p:nvSpPr>
        <p:spPr>
          <a:xfrm>
            <a:off x="5074920" y="4434840"/>
            <a:ext cx="2011680" cy="914400"/>
          </a:xfrm>
          <a:prstGeom prst="roundRect">
            <a:avLst>
              <a:gd fmla="val 6000" name="adj"/>
            </a:avLst>
          </a:prstGeom>
          <a:solidFill>
            <a:srgbClr val="7B1C2E"/>
          </a:solidFill>
          <a:ln cap="flat" cmpd="sng" w="12700">
            <a:solidFill>
              <a:srgbClr val="7B1C2E"/>
            </a:solidFill>
            <a:prstDash val="solid"/>
            <a:miter lim="8000"/>
            <a:headEnd len="sm" w="sm" type="none"/>
            <a:tailEnd len="sm" w="sm" type="none"/>
          </a:ln>
        </p:spPr>
        <p:txBody>
          <a:bodyPr anchorCtr="0" anchor="ctr" bIns="36575" lIns="91425" spcFirstLastPara="1" rIns="91425" wrap="square" tIns="36575">
            <a:noAutofit/>
          </a:bodyPr>
          <a:lstStyle/>
          <a:p>
            <a:pPr indent="0" lvl="0" marL="0" marR="0" rtl="0" algn="ctr">
              <a:spcBef>
                <a:spcPts val="0"/>
              </a:spcBef>
              <a:spcAft>
                <a:spcPts val="0"/>
              </a:spcAft>
              <a:buNone/>
            </a:pPr>
            <a:r>
              <a:rPr b="1" i="0" lang="en-US" sz="1200" u="none" cap="none" strike="noStrike">
                <a:solidFill>
                  <a:srgbClr val="FFFFFF"/>
                </a:solidFill>
                <a:latin typeface="Calibri"/>
                <a:ea typeface="Calibri"/>
                <a:cs typeface="Calibri"/>
                <a:sym typeface="Calibri"/>
              </a:rPr>
              <a:t>3 · Clasificación</a:t>
            </a:r>
            <a:endParaRPr/>
          </a:p>
          <a:p>
            <a:pPr indent="0" lvl="0" marL="0" marR="0" rtl="0" algn="ctr">
              <a:spcBef>
                <a:spcPts val="0"/>
              </a:spcBef>
              <a:spcAft>
                <a:spcPts val="0"/>
              </a:spcAft>
              <a:buNone/>
            </a:pPr>
            <a:r>
              <a:rPr b="0" i="0" lang="en-US" sz="1100" u="none" cap="none" strike="noStrike">
                <a:solidFill>
                  <a:srgbClr val="FFFFFF"/>
                </a:solidFill>
                <a:latin typeface="Calibri"/>
                <a:ea typeface="Calibri"/>
                <a:cs typeface="Calibri"/>
                <a:sym typeface="Calibri"/>
              </a:rPr>
              <a:t>Llama Guard 3 (salida)</a:t>
            </a:r>
            <a:endParaRPr/>
          </a:p>
        </p:txBody>
      </p:sp>
      <p:sp>
        <p:nvSpPr>
          <p:cNvPr id="265" name="Google Shape;265;p20"/>
          <p:cNvSpPr/>
          <p:nvPr/>
        </p:nvSpPr>
        <p:spPr>
          <a:xfrm>
            <a:off x="2148840" y="4434840"/>
            <a:ext cx="1554480" cy="914400"/>
          </a:xfrm>
          <a:prstGeom prst="roundRect">
            <a:avLst>
              <a:gd fmla="val 6000" name="adj"/>
            </a:avLst>
          </a:prstGeom>
          <a:solidFill>
            <a:srgbClr val="F2F2F2"/>
          </a:solidFill>
          <a:ln cap="flat" cmpd="sng" w="12700">
            <a:solidFill>
              <a:srgbClr val="D0D0D0"/>
            </a:solidFill>
            <a:prstDash val="solid"/>
            <a:miter lim="8000"/>
            <a:headEnd len="sm" w="sm" type="none"/>
            <a:tailEnd len="sm" w="sm" type="none"/>
          </a:ln>
        </p:spPr>
        <p:txBody>
          <a:bodyPr anchorCtr="0" anchor="ctr" bIns="36575" lIns="91425" spcFirstLastPara="1" rIns="91425" wrap="square" tIns="36575">
            <a:noAutofit/>
          </a:bodyPr>
          <a:lstStyle/>
          <a:p>
            <a:pPr indent="0" lvl="0" marL="0" marR="0" rtl="0" algn="ctr">
              <a:spcBef>
                <a:spcPts val="0"/>
              </a:spcBef>
              <a:spcAft>
                <a:spcPts val="0"/>
              </a:spcAft>
              <a:buNone/>
            </a:pPr>
            <a:r>
              <a:rPr b="1" i="0" lang="en-US" sz="1200" u="none" cap="none" strike="noStrike">
                <a:solidFill>
                  <a:srgbClr val="4A1020"/>
                </a:solidFill>
                <a:latin typeface="Calibri"/>
                <a:ea typeface="Calibri"/>
                <a:cs typeface="Calibri"/>
                <a:sym typeface="Calibri"/>
              </a:rPr>
              <a:t>Registro</a:t>
            </a:r>
            <a:endParaRPr/>
          </a:p>
          <a:p>
            <a:pPr indent="0" lvl="0" marL="0" marR="0" rtl="0" algn="ctr">
              <a:spcBef>
                <a:spcPts val="0"/>
              </a:spcBef>
              <a:spcAft>
                <a:spcPts val="0"/>
              </a:spcAft>
              <a:buNone/>
            </a:pPr>
            <a:r>
              <a:rPr b="0" i="0" lang="en-US" sz="1100" u="none" cap="none" strike="noStrike">
                <a:solidFill>
                  <a:srgbClr val="4A1020"/>
                </a:solidFill>
                <a:latin typeface="Calibri"/>
                <a:ea typeface="Calibri"/>
                <a:cs typeface="Calibri"/>
                <a:sym typeface="Calibri"/>
              </a:rPr>
              <a:t>eventos.jsonl</a:t>
            </a:r>
            <a:endParaRPr/>
          </a:p>
        </p:txBody>
      </p:sp>
      <p:cxnSp>
        <p:nvCxnSpPr>
          <p:cNvPr id="266" name="Google Shape;266;p20"/>
          <p:cNvCxnSpPr/>
          <p:nvPr/>
        </p:nvCxnSpPr>
        <p:spPr>
          <a:xfrm>
            <a:off x="10149840" y="2926080"/>
            <a:ext cx="0" cy="1965960"/>
          </a:xfrm>
          <a:prstGeom prst="straightConnector1">
            <a:avLst/>
          </a:prstGeom>
          <a:noFill/>
          <a:ln cap="flat" cmpd="sng" w="22225">
            <a:solidFill>
              <a:srgbClr val="595959"/>
            </a:solidFill>
            <a:prstDash val="solid"/>
            <a:miter lim="8000"/>
            <a:headEnd len="sm" w="sm" type="none"/>
            <a:tailEnd len="sm" w="sm" type="none"/>
          </a:ln>
        </p:spPr>
      </p:cxnSp>
      <p:cxnSp>
        <p:nvCxnSpPr>
          <p:cNvPr id="267" name="Google Shape;267;p20"/>
          <p:cNvCxnSpPr/>
          <p:nvPr/>
        </p:nvCxnSpPr>
        <p:spPr>
          <a:xfrm rot="10800000">
            <a:off x="9464040" y="4892040"/>
            <a:ext cx="685800" cy="0"/>
          </a:xfrm>
          <a:prstGeom prst="straightConnector1">
            <a:avLst/>
          </a:prstGeom>
          <a:noFill/>
          <a:ln cap="flat" cmpd="sng" w="22225">
            <a:solidFill>
              <a:srgbClr val="595959"/>
            </a:solidFill>
            <a:prstDash val="solid"/>
            <a:miter lim="8000"/>
            <a:headEnd len="sm" w="sm" type="none"/>
            <a:tailEnd len="med" w="med" type="triangle"/>
          </a:ln>
        </p:spPr>
      </p:cxnSp>
      <p:cxnSp>
        <p:nvCxnSpPr>
          <p:cNvPr id="268" name="Google Shape;268;p20"/>
          <p:cNvCxnSpPr/>
          <p:nvPr/>
        </p:nvCxnSpPr>
        <p:spPr>
          <a:xfrm rot="10800000">
            <a:off x="7086600" y="4892040"/>
            <a:ext cx="1097279" cy="0"/>
          </a:xfrm>
          <a:prstGeom prst="straightConnector1">
            <a:avLst/>
          </a:prstGeom>
          <a:noFill/>
          <a:ln cap="flat" cmpd="sng" w="22225">
            <a:solidFill>
              <a:srgbClr val="595959"/>
            </a:solidFill>
            <a:prstDash val="solid"/>
            <a:miter lim="8000"/>
            <a:headEnd len="sm" w="sm" type="none"/>
            <a:tailEnd len="med" w="med" type="triangle"/>
          </a:ln>
        </p:spPr>
      </p:cxnSp>
      <p:cxnSp>
        <p:nvCxnSpPr>
          <p:cNvPr id="269" name="Google Shape;269;p20"/>
          <p:cNvCxnSpPr/>
          <p:nvPr/>
        </p:nvCxnSpPr>
        <p:spPr>
          <a:xfrm rot="10800000">
            <a:off x="3703320" y="4892040"/>
            <a:ext cx="1371600" cy="0"/>
          </a:xfrm>
          <a:prstGeom prst="straightConnector1">
            <a:avLst/>
          </a:prstGeom>
          <a:noFill/>
          <a:ln cap="flat" cmpd="sng" w="22225">
            <a:solidFill>
              <a:srgbClr val="595959"/>
            </a:solidFill>
            <a:prstDash val="solid"/>
            <a:miter lim="8000"/>
            <a:headEnd len="sm" w="sm" type="none"/>
            <a:tailEnd len="med" w="med" type="triangle"/>
          </a:ln>
        </p:spPr>
      </p:cxnSp>
      <p:cxnSp>
        <p:nvCxnSpPr>
          <p:cNvPr id="270" name="Google Shape;270;p20"/>
          <p:cNvCxnSpPr/>
          <p:nvPr/>
        </p:nvCxnSpPr>
        <p:spPr>
          <a:xfrm rot="10800000">
            <a:off x="1645920" y="4892040"/>
            <a:ext cx="502920" cy="0"/>
          </a:xfrm>
          <a:prstGeom prst="straightConnector1">
            <a:avLst/>
          </a:prstGeom>
          <a:noFill/>
          <a:ln cap="flat" cmpd="sng" w="22225">
            <a:solidFill>
              <a:srgbClr val="595959"/>
            </a:solidFill>
            <a:prstDash val="solid"/>
            <a:miter lim="8000"/>
            <a:headEnd len="sm" w="sm" type="none"/>
            <a:tailEnd len="med" w="med" type="triangle"/>
          </a:ln>
        </p:spPr>
      </p:cxnSp>
      <p:sp>
        <p:nvSpPr>
          <p:cNvPr id="271" name="Google Shape;271;p20"/>
          <p:cNvSpPr/>
          <p:nvPr/>
        </p:nvSpPr>
        <p:spPr>
          <a:xfrm>
            <a:off x="10332720" y="4983480"/>
            <a:ext cx="1508760" cy="548640"/>
          </a:xfrm>
          <a:prstGeom prst="roundRect">
            <a:avLst>
              <a:gd fmla="val 6000" name="adj"/>
            </a:avLst>
          </a:prstGeom>
          <a:solidFill>
            <a:srgbClr val="F2F2F2"/>
          </a:solidFill>
          <a:ln cap="flat" cmpd="sng" w="12700">
            <a:solidFill>
              <a:srgbClr val="D0D0D0"/>
            </a:solidFill>
            <a:prstDash val="solid"/>
            <a:miter lim="8000"/>
            <a:headEnd len="sm" w="sm" type="none"/>
            <a:tailEnd len="sm" w="sm" type="none"/>
          </a:ln>
        </p:spPr>
        <p:txBody>
          <a:bodyPr anchorCtr="0" anchor="ctr" bIns="36575" lIns="91425" spcFirstLastPara="1" rIns="91425" wrap="square" tIns="36575">
            <a:noAutofit/>
          </a:bodyPr>
          <a:lstStyle/>
          <a:p>
            <a:pPr indent="0" lvl="0" marL="0" marR="0" rtl="0" algn="ctr">
              <a:spcBef>
                <a:spcPts val="0"/>
              </a:spcBef>
              <a:spcAft>
                <a:spcPts val="0"/>
              </a:spcAft>
              <a:buNone/>
            </a:pPr>
            <a:r>
              <a:rPr b="1" i="0" lang="en-US" sz="1100" u="none" cap="none" strike="noStrike">
                <a:solidFill>
                  <a:srgbClr val="4A1020"/>
                </a:solidFill>
                <a:latin typeface="Calibri"/>
                <a:ea typeface="Calibri"/>
                <a:cs typeface="Calibri"/>
                <a:sym typeface="Calibri"/>
              </a:rPr>
              <a:t>SIEM (opcional)</a:t>
            </a:r>
            <a:endParaRPr/>
          </a:p>
          <a:p>
            <a:pPr indent="0" lvl="0" marL="0" marR="0" rtl="0" algn="ctr">
              <a:spcBef>
                <a:spcPts val="0"/>
              </a:spcBef>
              <a:spcAft>
                <a:spcPts val="0"/>
              </a:spcAft>
              <a:buNone/>
            </a:pPr>
            <a:r>
              <a:rPr b="0" i="0" lang="en-US" sz="900" u="none" cap="none" strike="noStrike">
                <a:solidFill>
                  <a:srgbClr val="4A1020"/>
                </a:solidFill>
                <a:latin typeface="Calibri"/>
                <a:ea typeface="Calibri"/>
                <a:cs typeface="Calibri"/>
                <a:sym typeface="Calibri"/>
              </a:rPr>
              <a:t>Wazuh · Splunk · Elastic</a:t>
            </a:r>
            <a:endParaRPr/>
          </a:p>
        </p:txBody>
      </p:sp>
      <p:cxnSp>
        <p:nvCxnSpPr>
          <p:cNvPr id="272" name="Google Shape;272;p20"/>
          <p:cNvCxnSpPr/>
          <p:nvPr/>
        </p:nvCxnSpPr>
        <p:spPr>
          <a:xfrm>
            <a:off x="2926080" y="5349240"/>
            <a:ext cx="0" cy="365760"/>
          </a:xfrm>
          <a:prstGeom prst="straightConnector1">
            <a:avLst/>
          </a:prstGeom>
          <a:noFill/>
          <a:ln cap="flat" cmpd="sng" w="22225">
            <a:solidFill>
              <a:srgbClr val="595959"/>
            </a:solidFill>
            <a:prstDash val="dash"/>
            <a:miter lim="8000"/>
            <a:headEnd len="sm" w="sm" type="none"/>
            <a:tailEnd len="sm" w="sm" type="none"/>
          </a:ln>
        </p:spPr>
      </p:cxnSp>
      <p:cxnSp>
        <p:nvCxnSpPr>
          <p:cNvPr id="273" name="Google Shape;273;p20"/>
          <p:cNvCxnSpPr/>
          <p:nvPr/>
        </p:nvCxnSpPr>
        <p:spPr>
          <a:xfrm>
            <a:off x="2926080" y="5715000"/>
            <a:ext cx="8138160" cy="0"/>
          </a:xfrm>
          <a:prstGeom prst="straightConnector1">
            <a:avLst/>
          </a:prstGeom>
          <a:noFill/>
          <a:ln cap="flat" cmpd="sng" w="22225">
            <a:solidFill>
              <a:srgbClr val="595959"/>
            </a:solidFill>
            <a:prstDash val="dash"/>
            <a:miter lim="8000"/>
            <a:headEnd len="sm" w="sm" type="none"/>
            <a:tailEnd len="sm" w="sm" type="none"/>
          </a:ln>
        </p:spPr>
      </p:cxnSp>
      <p:cxnSp>
        <p:nvCxnSpPr>
          <p:cNvPr id="274" name="Google Shape;274;p20"/>
          <p:cNvCxnSpPr/>
          <p:nvPr/>
        </p:nvCxnSpPr>
        <p:spPr>
          <a:xfrm rot="10800000">
            <a:off x="11064240" y="5532120"/>
            <a:ext cx="0" cy="182880"/>
          </a:xfrm>
          <a:prstGeom prst="straightConnector1">
            <a:avLst/>
          </a:prstGeom>
          <a:noFill/>
          <a:ln cap="flat" cmpd="sng" w="22225">
            <a:solidFill>
              <a:srgbClr val="595959"/>
            </a:solidFill>
            <a:prstDash val="dash"/>
            <a:miter lim="8000"/>
            <a:headEnd len="sm" w="sm" type="none"/>
            <a:tailEnd len="med" w="med" type="triangle"/>
          </a:ln>
        </p:spPr>
      </p:cxnSp>
      <p:sp>
        <p:nvSpPr>
          <p:cNvPr id="275" name="Google Shape;275;p20"/>
          <p:cNvSpPr/>
          <p:nvPr/>
        </p:nvSpPr>
        <p:spPr>
          <a:xfrm>
            <a:off x="548640" y="6016752"/>
            <a:ext cx="274320" cy="228600"/>
          </a:xfrm>
          <a:prstGeom prst="roundRect">
            <a:avLst>
              <a:gd fmla="val 6000" name="adj"/>
            </a:avLst>
          </a:prstGeom>
          <a:solidFill>
            <a:srgbClr val="7B1C2E"/>
          </a:solidFill>
          <a:ln cap="flat" cmpd="sng" w="12700">
            <a:solidFill>
              <a:srgbClr val="7B1C2E"/>
            </a:solidFill>
            <a:prstDash val="solid"/>
            <a:miter lim="8000"/>
            <a:headEnd len="sm" w="sm" type="none"/>
            <a:tailEnd len="sm" w="sm" type="none"/>
          </a:ln>
        </p:spPr>
        <p:txBody>
          <a:bodyPr anchorCtr="0" anchor="ctr" bIns="36575" lIns="91425" spcFirstLastPara="1" rIns="91425" wrap="square" tIns="36575">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76" name="Google Shape;276;p20"/>
          <p:cNvSpPr txBox="1"/>
          <p:nvPr/>
        </p:nvSpPr>
        <p:spPr>
          <a:xfrm>
            <a:off x="896112" y="5971032"/>
            <a:ext cx="2468880" cy="32004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0" i="0" lang="en-US" sz="1200" u="none" cap="none" strike="noStrike">
                <a:solidFill>
                  <a:srgbClr val="262626"/>
                </a:solidFill>
                <a:latin typeface="Calibri"/>
                <a:ea typeface="Calibri"/>
                <a:cs typeface="Calibri"/>
                <a:sym typeface="Calibri"/>
              </a:rPr>
              <a:t>IA de defensa (clasificadores)</a:t>
            </a:r>
            <a:endParaRPr/>
          </a:p>
        </p:txBody>
      </p:sp>
      <p:sp>
        <p:nvSpPr>
          <p:cNvPr id="277" name="Google Shape;277;p20"/>
          <p:cNvSpPr/>
          <p:nvPr/>
        </p:nvSpPr>
        <p:spPr>
          <a:xfrm>
            <a:off x="3383280" y="6016752"/>
            <a:ext cx="274320" cy="228600"/>
          </a:xfrm>
          <a:prstGeom prst="roundRect">
            <a:avLst>
              <a:gd fmla="val 6000" name="adj"/>
            </a:avLst>
          </a:prstGeom>
          <a:solidFill>
            <a:srgbClr val="F2F2F2"/>
          </a:solidFill>
          <a:ln cap="flat" cmpd="sng" w="12700">
            <a:solidFill>
              <a:srgbClr val="D0D0D0"/>
            </a:solidFill>
            <a:prstDash val="solid"/>
            <a:miter lim="8000"/>
            <a:headEnd len="sm" w="sm" type="none"/>
            <a:tailEnd len="sm" w="sm" type="none"/>
          </a:ln>
        </p:spPr>
        <p:txBody>
          <a:bodyPr anchorCtr="0" anchor="ctr" bIns="36575" lIns="91425" spcFirstLastPara="1" rIns="91425" wrap="square" tIns="36575">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78" name="Google Shape;278;p20"/>
          <p:cNvSpPr txBox="1"/>
          <p:nvPr/>
        </p:nvSpPr>
        <p:spPr>
          <a:xfrm>
            <a:off x="3730752" y="5971032"/>
            <a:ext cx="2468880" cy="32004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0" i="0" lang="en-US" sz="1200" u="none" cap="none" strike="noStrike">
                <a:solidFill>
                  <a:srgbClr val="262626"/>
                </a:solidFill>
                <a:latin typeface="Calibri"/>
                <a:ea typeface="Calibri"/>
                <a:cs typeface="Calibri"/>
                <a:sym typeface="Calibri"/>
              </a:rPr>
              <a:t>Determinista</a:t>
            </a:r>
            <a:endParaRPr/>
          </a:p>
        </p:txBody>
      </p:sp>
      <p:sp>
        <p:nvSpPr>
          <p:cNvPr id="279" name="Google Shape;279;p20"/>
          <p:cNvSpPr/>
          <p:nvPr/>
        </p:nvSpPr>
        <p:spPr>
          <a:xfrm>
            <a:off x="6217920" y="6016752"/>
            <a:ext cx="274320" cy="228600"/>
          </a:xfrm>
          <a:prstGeom prst="roundRect">
            <a:avLst>
              <a:gd fmla="val 6000" name="adj"/>
            </a:avLst>
          </a:prstGeom>
          <a:solidFill>
            <a:srgbClr val="FFFFFF"/>
          </a:solidFill>
          <a:ln cap="flat" cmpd="sng" w="12700">
            <a:solidFill>
              <a:srgbClr val="7B1C2E"/>
            </a:solidFill>
            <a:prstDash val="solid"/>
            <a:miter lim="8000"/>
            <a:headEnd len="sm" w="sm" type="none"/>
            <a:tailEnd len="sm" w="sm" type="none"/>
          </a:ln>
        </p:spPr>
        <p:txBody>
          <a:bodyPr anchorCtr="0" anchor="ctr" bIns="36575" lIns="91425" spcFirstLastPara="1" rIns="91425" wrap="square" tIns="36575">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80" name="Google Shape;280;p20"/>
          <p:cNvSpPr txBox="1"/>
          <p:nvPr/>
        </p:nvSpPr>
        <p:spPr>
          <a:xfrm>
            <a:off x="6565392" y="5971032"/>
            <a:ext cx="2468880" cy="32004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0" i="0" lang="en-US" sz="1200" u="none" cap="none" strike="noStrike">
                <a:solidFill>
                  <a:srgbClr val="262626"/>
                </a:solidFill>
                <a:latin typeface="Calibri"/>
                <a:ea typeface="Calibri"/>
                <a:cs typeface="Calibri"/>
                <a:sym typeface="Calibri"/>
              </a:rPr>
              <a:t>Humano en el bucle</a:t>
            </a:r>
            <a:endParaRPr/>
          </a:p>
        </p:txBody>
      </p:sp>
      <p:sp>
        <p:nvSpPr>
          <p:cNvPr id="281" name="Google Shape;281;p20"/>
          <p:cNvSpPr/>
          <p:nvPr/>
        </p:nvSpPr>
        <p:spPr>
          <a:xfrm>
            <a:off x="9052560" y="6016752"/>
            <a:ext cx="274320" cy="228600"/>
          </a:xfrm>
          <a:prstGeom prst="roundRect">
            <a:avLst>
              <a:gd fmla="val 6000" name="adj"/>
            </a:avLst>
          </a:prstGeom>
          <a:solidFill>
            <a:srgbClr val="4A1020"/>
          </a:solidFill>
          <a:ln cap="flat" cmpd="sng" w="12700">
            <a:solidFill>
              <a:srgbClr val="4A1020"/>
            </a:solidFill>
            <a:prstDash val="solid"/>
            <a:miter lim="8000"/>
            <a:headEnd len="sm" w="sm" type="none"/>
            <a:tailEnd len="sm" w="sm" type="none"/>
          </a:ln>
        </p:spPr>
        <p:txBody>
          <a:bodyPr anchorCtr="0" anchor="ctr" bIns="36575" lIns="91425" spcFirstLastPara="1" rIns="91425" wrap="square" tIns="36575">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82" name="Google Shape;282;p20"/>
          <p:cNvSpPr txBox="1"/>
          <p:nvPr/>
        </p:nvSpPr>
        <p:spPr>
          <a:xfrm>
            <a:off x="9400032" y="5971032"/>
            <a:ext cx="2468880" cy="32004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0" i="0" lang="en-US" sz="1200" u="none" cap="none" strike="noStrike">
                <a:solidFill>
                  <a:srgbClr val="262626"/>
                </a:solidFill>
                <a:latin typeface="Calibri"/>
                <a:ea typeface="Calibri"/>
                <a:cs typeface="Calibri"/>
                <a:sym typeface="Calibri"/>
              </a:rPr>
              <a:t>Modelo protegido</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21"/>
          <p:cNvSpPr txBox="1"/>
          <p:nvPr>
            <p:ph type="title"/>
          </p:nvPr>
        </p:nvSpPr>
        <p:spPr>
          <a:xfrm>
            <a:off x="1371600" y="457200"/>
            <a:ext cx="8869680" cy="64008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4A1020"/>
              </a:buClr>
              <a:buSzPts val="2800"/>
              <a:buFont typeface="Calibri"/>
              <a:buNone/>
            </a:pPr>
            <a:r>
              <a:rPr b="1" lang="en-US" sz="2800">
                <a:solidFill>
                  <a:srgbClr val="4A1020"/>
                </a:solidFill>
              </a:rPr>
              <a:t>Flujo de datos e integraciones</a:t>
            </a:r>
            <a:endParaRPr/>
          </a:p>
        </p:txBody>
      </p:sp>
      <p:pic>
        <p:nvPicPr>
          <p:cNvPr descr="ironveil_v6.png" id="289" name="Google Shape;289;p21"/>
          <p:cNvPicPr preferRelativeResize="0"/>
          <p:nvPr/>
        </p:nvPicPr>
        <p:blipFill rotWithShape="1">
          <a:blip r:embed="rId3">
            <a:alphaModFix/>
          </a:blip>
          <a:srcRect b="0" l="0" r="0" t="0"/>
          <a:stretch/>
        </p:blipFill>
        <p:spPr>
          <a:xfrm>
            <a:off x="502920" y="274320"/>
            <a:ext cx="822960" cy="822960"/>
          </a:xfrm>
          <a:prstGeom prst="rect">
            <a:avLst/>
          </a:prstGeom>
          <a:noFill/>
          <a:ln>
            <a:noFill/>
          </a:ln>
        </p:spPr>
      </p:pic>
      <p:sp>
        <p:nvSpPr>
          <p:cNvPr id="290" name="Google Shape;290;p21"/>
          <p:cNvSpPr txBox="1"/>
          <p:nvPr/>
        </p:nvSpPr>
        <p:spPr>
          <a:xfrm>
            <a:off x="1371600" y="246888"/>
            <a:ext cx="8229600" cy="27432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1100" u="none" cap="none" strike="noStrike">
                <a:solidFill>
                  <a:srgbClr val="7B1C2E"/>
                </a:solidFill>
                <a:latin typeface="Calibri"/>
                <a:ea typeface="Calibri"/>
                <a:cs typeface="Calibri"/>
                <a:sym typeface="Calibri"/>
              </a:rPr>
              <a:t>04 · ARQUITECTURA</a:t>
            </a:r>
            <a:endParaRPr/>
          </a:p>
        </p:txBody>
      </p:sp>
      <p:cxnSp>
        <p:nvCxnSpPr>
          <p:cNvPr id="291" name="Google Shape;291;p21"/>
          <p:cNvCxnSpPr/>
          <p:nvPr/>
        </p:nvCxnSpPr>
        <p:spPr>
          <a:xfrm>
            <a:off x="548640" y="1188720"/>
            <a:ext cx="11091672" cy="0"/>
          </a:xfrm>
          <a:prstGeom prst="straightConnector1">
            <a:avLst/>
          </a:prstGeom>
          <a:noFill/>
          <a:ln cap="flat" cmpd="sng" w="25400">
            <a:solidFill>
              <a:srgbClr val="7B1C2E"/>
            </a:solidFill>
            <a:prstDash val="solid"/>
            <a:miter lim="8000"/>
            <a:headEnd len="sm" w="sm" type="none"/>
            <a:tailEnd len="sm" w="sm" type="none"/>
          </a:ln>
        </p:spPr>
      </p:cxnSp>
      <p:sp>
        <p:nvSpPr>
          <p:cNvPr id="292" name="Google Shape;292;p21"/>
          <p:cNvSpPr/>
          <p:nvPr/>
        </p:nvSpPr>
        <p:spPr>
          <a:xfrm>
            <a:off x="0" y="6510528"/>
            <a:ext cx="12191695" cy="347472"/>
          </a:xfrm>
          <a:prstGeom prst="rect">
            <a:avLst/>
          </a:prstGeom>
          <a:solidFill>
            <a:srgbClr val="7B1C2E"/>
          </a:solidFill>
          <a:ln>
            <a:noFill/>
          </a:ln>
        </p:spPr>
        <p:txBody>
          <a:bodyPr anchorCtr="0" anchor="ctr" bIns="36575" lIns="91425" spcFirstLastPara="1" rIns="91425" wrap="square" tIns="36575">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ronveil_v6_inv.png" id="293" name="Google Shape;293;p21"/>
          <p:cNvPicPr preferRelativeResize="0"/>
          <p:nvPr/>
        </p:nvPicPr>
        <p:blipFill rotWithShape="1">
          <a:blip r:embed="rId4">
            <a:alphaModFix/>
          </a:blip>
          <a:srcRect b="0" l="0" r="0" t="0"/>
          <a:stretch/>
        </p:blipFill>
        <p:spPr>
          <a:xfrm>
            <a:off x="457200" y="6537960"/>
            <a:ext cx="292608" cy="292608"/>
          </a:xfrm>
          <a:prstGeom prst="rect">
            <a:avLst/>
          </a:prstGeom>
          <a:noFill/>
          <a:ln>
            <a:noFill/>
          </a:ln>
        </p:spPr>
      </p:pic>
      <p:sp>
        <p:nvSpPr>
          <p:cNvPr id="294" name="Google Shape;294;p21"/>
          <p:cNvSpPr txBox="1"/>
          <p:nvPr/>
        </p:nvSpPr>
        <p:spPr>
          <a:xfrm>
            <a:off x="822960" y="6528816"/>
            <a:ext cx="5486400" cy="310896"/>
          </a:xfrm>
          <a:prstGeom prst="rect">
            <a:avLst/>
          </a:prstGeom>
          <a:noFill/>
          <a:ln>
            <a:noFill/>
          </a:ln>
        </p:spPr>
        <p:txBody>
          <a:bodyPr anchorCtr="0" anchor="ctr" bIns="27425" lIns="45700" spcFirstLastPara="1" rIns="45700" wrap="square" tIns="27425">
            <a:noAutofit/>
          </a:bodyPr>
          <a:lstStyle/>
          <a:p>
            <a:pPr indent="0" lvl="0" marL="0" marR="0" rtl="0" algn="l">
              <a:spcBef>
                <a:spcPts val="0"/>
              </a:spcBef>
              <a:spcAft>
                <a:spcPts val="0"/>
              </a:spcAft>
              <a:buNone/>
            </a:pPr>
            <a:r>
              <a:rPr b="1" lang="en-US" sz="1050">
                <a:solidFill>
                  <a:srgbClr val="F2F2F2"/>
                </a:solidFill>
                <a:latin typeface="Calibri"/>
                <a:ea typeface="Calibri"/>
                <a:cs typeface="Calibri"/>
                <a:sym typeface="Calibri"/>
              </a:rPr>
              <a:t>IronVeil · Framework de defensa para LLMs autoalojados</a:t>
            </a:r>
            <a:endParaRPr/>
          </a:p>
        </p:txBody>
      </p:sp>
      <p:sp>
        <p:nvSpPr>
          <p:cNvPr id="295" name="Google Shape;295;p21"/>
          <p:cNvSpPr txBox="1"/>
          <p:nvPr/>
        </p:nvSpPr>
        <p:spPr>
          <a:xfrm>
            <a:off x="6217920" y="6528816"/>
            <a:ext cx="5303520" cy="310896"/>
          </a:xfrm>
          <a:prstGeom prst="rect">
            <a:avLst/>
          </a:prstGeom>
          <a:noFill/>
          <a:ln>
            <a:noFill/>
          </a:ln>
        </p:spPr>
        <p:txBody>
          <a:bodyPr anchorCtr="0" anchor="ctr" bIns="27425" lIns="45700" spcFirstLastPara="1" rIns="45700" wrap="square" tIns="27425">
            <a:spAutoFit/>
          </a:bodyPr>
          <a:lstStyle/>
          <a:p>
            <a:pPr indent="0" lvl="0" marL="0" marR="0" rtl="0" algn="r">
              <a:spcBef>
                <a:spcPts val="0"/>
              </a:spcBef>
              <a:spcAft>
                <a:spcPts val="0"/>
              </a:spcAft>
              <a:buNone/>
            </a:pPr>
            <a:r>
              <a:rPr b="0" i="0" lang="en-US" sz="1050" u="none" cap="none" strike="noStrike">
                <a:solidFill>
                  <a:srgbClr val="D9D9D9"/>
                </a:solidFill>
                <a:latin typeface="Calibri"/>
                <a:ea typeface="Calibri"/>
                <a:cs typeface="Calibri"/>
                <a:sym typeface="Calibri"/>
              </a:rPr>
              <a:t>Escuela Colombiana de Ingeniería Julio Garavito · 2026</a:t>
            </a:r>
            <a:endParaRPr/>
          </a:p>
        </p:txBody>
      </p:sp>
      <p:sp>
        <p:nvSpPr>
          <p:cNvPr id="296" name="Google Shape;296;p21"/>
          <p:cNvSpPr txBox="1"/>
          <p:nvPr/>
        </p:nvSpPr>
        <p:spPr>
          <a:xfrm>
            <a:off x="11475720" y="6528816"/>
            <a:ext cx="548640" cy="310896"/>
          </a:xfrm>
          <a:prstGeom prst="rect">
            <a:avLst/>
          </a:prstGeom>
          <a:noFill/>
          <a:ln>
            <a:noFill/>
          </a:ln>
        </p:spPr>
        <p:txBody>
          <a:bodyPr anchorCtr="0" anchor="ctr" bIns="27425" lIns="45700" spcFirstLastPara="1" rIns="45700" wrap="square" tIns="27425">
            <a:spAutoFit/>
          </a:bodyPr>
          <a:lstStyle/>
          <a:p>
            <a:pPr indent="0" lvl="0" marL="0" marR="0" rtl="0" algn="r">
              <a:spcBef>
                <a:spcPts val="0"/>
              </a:spcBef>
              <a:spcAft>
                <a:spcPts val="0"/>
              </a:spcAft>
              <a:buNone/>
            </a:pPr>
            <a:r>
              <a:rPr b="1" i="0" lang="en-US" sz="1100" u="none" cap="none" strike="noStrike">
                <a:solidFill>
                  <a:srgbClr val="FFFFFF"/>
                </a:solidFill>
                <a:latin typeface="Calibri"/>
                <a:ea typeface="Calibri"/>
                <a:cs typeface="Calibri"/>
                <a:sym typeface="Calibri"/>
              </a:rPr>
              <a:t>7</a:t>
            </a:r>
            <a:endParaRPr/>
          </a:p>
        </p:txBody>
      </p:sp>
      <p:sp>
        <p:nvSpPr>
          <p:cNvPr id="297" name="Google Shape;297;p21"/>
          <p:cNvSpPr txBox="1"/>
          <p:nvPr/>
        </p:nvSpPr>
        <p:spPr>
          <a:xfrm>
            <a:off x="548640" y="1298448"/>
            <a:ext cx="5669280" cy="36576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1300" u="none" cap="none" strike="noStrike">
                <a:solidFill>
                  <a:srgbClr val="7B1C2E"/>
                </a:solidFill>
                <a:latin typeface="Calibri"/>
                <a:ea typeface="Calibri"/>
                <a:cs typeface="Calibri"/>
                <a:sym typeface="Calibri"/>
              </a:rPr>
              <a:t>RECORRIDO DE UNA PETICIÓN</a:t>
            </a:r>
            <a:endParaRPr/>
          </a:p>
        </p:txBody>
      </p:sp>
      <p:sp>
        <p:nvSpPr>
          <p:cNvPr id="298" name="Google Shape;298;p21"/>
          <p:cNvSpPr/>
          <p:nvPr/>
        </p:nvSpPr>
        <p:spPr>
          <a:xfrm>
            <a:off x="548640" y="1691640"/>
            <a:ext cx="5760720" cy="594360"/>
          </a:xfrm>
          <a:prstGeom prst="roundRect">
            <a:avLst>
              <a:gd fmla="val 6000" name="adj"/>
            </a:avLst>
          </a:prstGeom>
          <a:solidFill>
            <a:srgbClr val="F2F2F2"/>
          </a:solidFill>
          <a:ln cap="flat" cmpd="sng" w="12700">
            <a:solidFill>
              <a:srgbClr val="D0D0D0"/>
            </a:solidFill>
            <a:prstDash val="solid"/>
            <a:miter lim="8000"/>
            <a:headEnd len="sm" w="sm" type="none"/>
            <a:tailEnd len="sm" w="sm" type="none"/>
          </a:ln>
        </p:spPr>
        <p:txBody>
          <a:bodyPr anchorCtr="0" anchor="ctr" bIns="36575" lIns="91425" spcFirstLastPara="1" rIns="91425" wrap="square" tIns="36575">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99" name="Google Shape;299;p21"/>
          <p:cNvSpPr/>
          <p:nvPr/>
        </p:nvSpPr>
        <p:spPr>
          <a:xfrm>
            <a:off x="640080" y="1801368"/>
            <a:ext cx="384048" cy="384048"/>
          </a:xfrm>
          <a:prstGeom prst="ellipse">
            <a:avLst/>
          </a:prstGeom>
          <a:solidFill>
            <a:srgbClr val="4A1020"/>
          </a:solidFill>
          <a:ln>
            <a:noFill/>
          </a:ln>
        </p:spPr>
        <p:txBody>
          <a:bodyPr anchorCtr="0" anchor="ctr" bIns="36575" lIns="91425" spcFirstLastPara="1" rIns="91425" wrap="square" tIns="36575">
            <a:noAutofit/>
          </a:bodyPr>
          <a:lstStyle/>
          <a:p>
            <a:pPr indent="0" lvl="0" marL="0" marR="0" rtl="0" algn="ctr">
              <a:spcBef>
                <a:spcPts val="0"/>
              </a:spcBef>
              <a:spcAft>
                <a:spcPts val="0"/>
              </a:spcAft>
              <a:buNone/>
            </a:pPr>
            <a:r>
              <a:rPr b="1" i="0" lang="en-US" sz="1200" u="none" cap="none" strike="noStrike">
                <a:solidFill>
                  <a:srgbClr val="FFFFFF"/>
                </a:solidFill>
                <a:latin typeface="Calibri"/>
                <a:ea typeface="Calibri"/>
                <a:cs typeface="Calibri"/>
                <a:sym typeface="Calibri"/>
              </a:rPr>
              <a:t>1</a:t>
            </a:r>
            <a:endParaRPr/>
          </a:p>
        </p:txBody>
      </p:sp>
      <p:sp>
        <p:nvSpPr>
          <p:cNvPr id="300" name="Google Shape;300;p21"/>
          <p:cNvSpPr txBox="1"/>
          <p:nvPr/>
        </p:nvSpPr>
        <p:spPr>
          <a:xfrm>
            <a:off x="1097280" y="1709928"/>
            <a:ext cx="5166360" cy="566928"/>
          </a:xfrm>
          <a:prstGeom prst="rect">
            <a:avLst/>
          </a:prstGeom>
          <a:noFill/>
          <a:ln>
            <a:noFill/>
          </a:ln>
        </p:spPr>
        <p:txBody>
          <a:bodyPr anchorCtr="0" anchor="ctr" bIns="27425" lIns="45700" spcFirstLastPara="1" rIns="45700" wrap="square" tIns="27425">
            <a:spAutoFit/>
          </a:bodyPr>
          <a:lstStyle/>
          <a:p>
            <a:pPr indent="0" lvl="0" marL="0" marR="0" rtl="0" algn="l">
              <a:spcBef>
                <a:spcPts val="0"/>
              </a:spcBef>
              <a:spcAft>
                <a:spcPts val="0"/>
              </a:spcAft>
              <a:buNone/>
            </a:pPr>
            <a:r>
              <a:rPr b="0" i="0" lang="en-US" sz="1250" u="none" cap="none" strike="noStrike">
                <a:solidFill>
                  <a:srgbClr val="262626"/>
                </a:solidFill>
                <a:latin typeface="Calibri"/>
                <a:ea typeface="Calibri"/>
                <a:cs typeface="Calibri"/>
                <a:sym typeface="Calibri"/>
              </a:rPr>
              <a:t>El cliente envía POST /chat con modelo y mensaje.</a:t>
            </a:r>
            <a:endParaRPr/>
          </a:p>
        </p:txBody>
      </p:sp>
      <p:sp>
        <p:nvSpPr>
          <p:cNvPr id="301" name="Google Shape;301;p21"/>
          <p:cNvSpPr/>
          <p:nvPr/>
        </p:nvSpPr>
        <p:spPr>
          <a:xfrm>
            <a:off x="548640" y="2359152"/>
            <a:ext cx="5760720" cy="594360"/>
          </a:xfrm>
          <a:prstGeom prst="roundRect">
            <a:avLst>
              <a:gd fmla="val 6000" name="adj"/>
            </a:avLst>
          </a:prstGeom>
          <a:solidFill>
            <a:srgbClr val="F2F2F2"/>
          </a:solidFill>
          <a:ln cap="flat" cmpd="sng" w="12700">
            <a:solidFill>
              <a:srgbClr val="D0D0D0"/>
            </a:solidFill>
            <a:prstDash val="solid"/>
            <a:miter lim="8000"/>
            <a:headEnd len="sm" w="sm" type="none"/>
            <a:tailEnd len="sm" w="sm" type="none"/>
          </a:ln>
        </p:spPr>
        <p:txBody>
          <a:bodyPr anchorCtr="0" anchor="ctr" bIns="36575" lIns="91425" spcFirstLastPara="1" rIns="91425" wrap="square" tIns="36575">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02" name="Google Shape;302;p21"/>
          <p:cNvSpPr/>
          <p:nvPr/>
        </p:nvSpPr>
        <p:spPr>
          <a:xfrm>
            <a:off x="640080" y="2468880"/>
            <a:ext cx="384048" cy="384048"/>
          </a:xfrm>
          <a:prstGeom prst="ellipse">
            <a:avLst/>
          </a:prstGeom>
          <a:solidFill>
            <a:srgbClr val="4A1020"/>
          </a:solidFill>
          <a:ln>
            <a:noFill/>
          </a:ln>
        </p:spPr>
        <p:txBody>
          <a:bodyPr anchorCtr="0" anchor="ctr" bIns="36575" lIns="91425" spcFirstLastPara="1" rIns="91425" wrap="square" tIns="36575">
            <a:noAutofit/>
          </a:bodyPr>
          <a:lstStyle/>
          <a:p>
            <a:pPr indent="0" lvl="0" marL="0" marR="0" rtl="0" algn="ctr">
              <a:spcBef>
                <a:spcPts val="0"/>
              </a:spcBef>
              <a:spcAft>
                <a:spcPts val="0"/>
              </a:spcAft>
              <a:buNone/>
            </a:pPr>
            <a:r>
              <a:rPr b="1" i="0" lang="en-US" sz="1200" u="none" cap="none" strike="noStrike">
                <a:solidFill>
                  <a:srgbClr val="FFFFFF"/>
                </a:solidFill>
                <a:latin typeface="Calibri"/>
                <a:ea typeface="Calibri"/>
                <a:cs typeface="Calibri"/>
                <a:sym typeface="Calibri"/>
              </a:rPr>
              <a:t>2</a:t>
            </a:r>
            <a:endParaRPr/>
          </a:p>
        </p:txBody>
      </p:sp>
      <p:sp>
        <p:nvSpPr>
          <p:cNvPr id="303" name="Google Shape;303;p21"/>
          <p:cNvSpPr txBox="1"/>
          <p:nvPr/>
        </p:nvSpPr>
        <p:spPr>
          <a:xfrm>
            <a:off x="1097280" y="2377440"/>
            <a:ext cx="5166360" cy="566928"/>
          </a:xfrm>
          <a:prstGeom prst="rect">
            <a:avLst/>
          </a:prstGeom>
          <a:noFill/>
          <a:ln>
            <a:noFill/>
          </a:ln>
        </p:spPr>
        <p:txBody>
          <a:bodyPr anchorCtr="0" anchor="ctr" bIns="27425" lIns="45700" spcFirstLastPara="1" rIns="45700" wrap="square" tIns="27425">
            <a:spAutoFit/>
          </a:bodyPr>
          <a:lstStyle/>
          <a:p>
            <a:pPr indent="0" lvl="0" marL="0" marR="0" rtl="0" algn="l">
              <a:spcBef>
                <a:spcPts val="0"/>
              </a:spcBef>
              <a:spcAft>
                <a:spcPts val="0"/>
              </a:spcAft>
              <a:buNone/>
            </a:pPr>
            <a:r>
              <a:rPr b="0" i="0" lang="en-US" sz="1250" u="none" cap="none" strike="noStrike">
                <a:solidFill>
                  <a:srgbClr val="262626"/>
                </a:solidFill>
                <a:latin typeface="Calibri"/>
                <a:ea typeface="Calibri"/>
                <a:cs typeface="Calibri"/>
                <a:sym typeface="Calibri"/>
              </a:rPr>
              <a:t>El proxy lee config.yaml y aplica el límite de peticiones por minuto.</a:t>
            </a:r>
            <a:endParaRPr/>
          </a:p>
        </p:txBody>
      </p:sp>
      <p:sp>
        <p:nvSpPr>
          <p:cNvPr id="304" name="Google Shape;304;p21"/>
          <p:cNvSpPr/>
          <p:nvPr/>
        </p:nvSpPr>
        <p:spPr>
          <a:xfrm>
            <a:off x="548640" y="3026664"/>
            <a:ext cx="5760720" cy="594360"/>
          </a:xfrm>
          <a:prstGeom prst="roundRect">
            <a:avLst>
              <a:gd fmla="val 6000" name="adj"/>
            </a:avLst>
          </a:prstGeom>
          <a:solidFill>
            <a:srgbClr val="F2F2F2"/>
          </a:solidFill>
          <a:ln cap="flat" cmpd="sng" w="12700">
            <a:solidFill>
              <a:srgbClr val="D0D0D0"/>
            </a:solidFill>
            <a:prstDash val="solid"/>
            <a:miter lim="8000"/>
            <a:headEnd len="sm" w="sm" type="none"/>
            <a:tailEnd len="sm" w="sm" type="none"/>
          </a:ln>
        </p:spPr>
        <p:txBody>
          <a:bodyPr anchorCtr="0" anchor="ctr" bIns="36575" lIns="91425" spcFirstLastPara="1" rIns="91425" wrap="square" tIns="36575">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05" name="Google Shape;305;p21"/>
          <p:cNvSpPr/>
          <p:nvPr/>
        </p:nvSpPr>
        <p:spPr>
          <a:xfrm>
            <a:off x="640080" y="3136392"/>
            <a:ext cx="384048" cy="384048"/>
          </a:xfrm>
          <a:prstGeom prst="ellipse">
            <a:avLst/>
          </a:prstGeom>
          <a:solidFill>
            <a:srgbClr val="7B1C2E"/>
          </a:solidFill>
          <a:ln>
            <a:noFill/>
          </a:ln>
        </p:spPr>
        <p:txBody>
          <a:bodyPr anchorCtr="0" anchor="ctr" bIns="36575" lIns="91425" spcFirstLastPara="1" rIns="91425" wrap="square" tIns="36575">
            <a:noAutofit/>
          </a:bodyPr>
          <a:lstStyle/>
          <a:p>
            <a:pPr indent="0" lvl="0" marL="0" marR="0" rtl="0" algn="ctr">
              <a:spcBef>
                <a:spcPts val="0"/>
              </a:spcBef>
              <a:spcAft>
                <a:spcPts val="0"/>
              </a:spcAft>
              <a:buNone/>
            </a:pPr>
            <a:r>
              <a:rPr b="1" i="0" lang="en-US" sz="1200" u="none" cap="none" strike="noStrike">
                <a:solidFill>
                  <a:srgbClr val="FFFFFF"/>
                </a:solidFill>
                <a:latin typeface="Calibri"/>
                <a:ea typeface="Calibri"/>
                <a:cs typeface="Calibri"/>
                <a:sym typeface="Calibri"/>
              </a:rPr>
              <a:t>3</a:t>
            </a:r>
            <a:endParaRPr/>
          </a:p>
        </p:txBody>
      </p:sp>
      <p:sp>
        <p:nvSpPr>
          <p:cNvPr id="306" name="Google Shape;306;p21"/>
          <p:cNvSpPr txBox="1"/>
          <p:nvPr/>
        </p:nvSpPr>
        <p:spPr>
          <a:xfrm>
            <a:off x="1097280" y="3044952"/>
            <a:ext cx="5166360" cy="566928"/>
          </a:xfrm>
          <a:prstGeom prst="rect">
            <a:avLst/>
          </a:prstGeom>
          <a:noFill/>
          <a:ln>
            <a:noFill/>
          </a:ln>
        </p:spPr>
        <p:txBody>
          <a:bodyPr anchorCtr="0" anchor="ctr" bIns="27425" lIns="45700" spcFirstLastPara="1" rIns="45700" wrap="square" tIns="27425">
            <a:spAutoFit/>
          </a:bodyPr>
          <a:lstStyle/>
          <a:p>
            <a:pPr indent="0" lvl="0" marL="0" marR="0" rtl="0" algn="l">
              <a:spcBef>
                <a:spcPts val="0"/>
              </a:spcBef>
              <a:spcAft>
                <a:spcPts val="0"/>
              </a:spcAft>
              <a:buNone/>
            </a:pPr>
            <a:r>
              <a:rPr b="0" i="0" lang="en-US" sz="1250" u="none" cap="none" strike="noStrike">
                <a:solidFill>
                  <a:srgbClr val="262626"/>
                </a:solidFill>
                <a:latin typeface="Calibri"/>
                <a:ea typeface="Calibri"/>
                <a:cs typeface="Calibri"/>
                <a:sym typeface="Calibri"/>
              </a:rPr>
              <a:t>Entrada: filtrado, clasificación (Prompt Guard 2) y mínimo privilegio. El primero que bloquea corta la cadena.</a:t>
            </a:r>
            <a:endParaRPr/>
          </a:p>
        </p:txBody>
      </p:sp>
      <p:sp>
        <p:nvSpPr>
          <p:cNvPr id="307" name="Google Shape;307;p21"/>
          <p:cNvSpPr/>
          <p:nvPr/>
        </p:nvSpPr>
        <p:spPr>
          <a:xfrm>
            <a:off x="548640" y="3694176"/>
            <a:ext cx="5760720" cy="594360"/>
          </a:xfrm>
          <a:prstGeom prst="roundRect">
            <a:avLst>
              <a:gd fmla="val 6000" name="adj"/>
            </a:avLst>
          </a:prstGeom>
          <a:solidFill>
            <a:srgbClr val="F2F2F2"/>
          </a:solidFill>
          <a:ln cap="flat" cmpd="sng" w="12700">
            <a:solidFill>
              <a:srgbClr val="D0D0D0"/>
            </a:solidFill>
            <a:prstDash val="solid"/>
            <a:miter lim="8000"/>
            <a:headEnd len="sm" w="sm" type="none"/>
            <a:tailEnd len="sm" w="sm" type="none"/>
          </a:ln>
        </p:spPr>
        <p:txBody>
          <a:bodyPr anchorCtr="0" anchor="ctr" bIns="36575" lIns="91425" spcFirstLastPara="1" rIns="91425" wrap="square" tIns="36575">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08" name="Google Shape;308;p21"/>
          <p:cNvSpPr/>
          <p:nvPr/>
        </p:nvSpPr>
        <p:spPr>
          <a:xfrm>
            <a:off x="640080" y="3803904"/>
            <a:ext cx="384048" cy="384048"/>
          </a:xfrm>
          <a:prstGeom prst="ellipse">
            <a:avLst/>
          </a:prstGeom>
          <a:solidFill>
            <a:srgbClr val="4A1020"/>
          </a:solidFill>
          <a:ln>
            <a:noFill/>
          </a:ln>
        </p:spPr>
        <p:txBody>
          <a:bodyPr anchorCtr="0" anchor="ctr" bIns="36575" lIns="91425" spcFirstLastPara="1" rIns="91425" wrap="square" tIns="36575">
            <a:noAutofit/>
          </a:bodyPr>
          <a:lstStyle/>
          <a:p>
            <a:pPr indent="0" lvl="0" marL="0" marR="0" rtl="0" algn="ctr">
              <a:spcBef>
                <a:spcPts val="0"/>
              </a:spcBef>
              <a:spcAft>
                <a:spcPts val="0"/>
              </a:spcAft>
              <a:buNone/>
            </a:pPr>
            <a:r>
              <a:rPr b="1" i="0" lang="en-US" sz="1200" u="none" cap="none" strike="noStrike">
                <a:solidFill>
                  <a:srgbClr val="FFFFFF"/>
                </a:solidFill>
                <a:latin typeface="Calibri"/>
                <a:ea typeface="Calibri"/>
                <a:cs typeface="Calibri"/>
                <a:sym typeface="Calibri"/>
              </a:rPr>
              <a:t>4</a:t>
            </a:r>
            <a:endParaRPr/>
          </a:p>
        </p:txBody>
      </p:sp>
      <p:sp>
        <p:nvSpPr>
          <p:cNvPr id="309" name="Google Shape;309;p21"/>
          <p:cNvSpPr txBox="1"/>
          <p:nvPr/>
        </p:nvSpPr>
        <p:spPr>
          <a:xfrm>
            <a:off x="1097280" y="3712463"/>
            <a:ext cx="5166360" cy="566928"/>
          </a:xfrm>
          <a:prstGeom prst="rect">
            <a:avLst/>
          </a:prstGeom>
          <a:noFill/>
          <a:ln>
            <a:noFill/>
          </a:ln>
        </p:spPr>
        <p:txBody>
          <a:bodyPr anchorCtr="0" anchor="ctr" bIns="27425" lIns="45700" spcFirstLastPara="1" rIns="45700" wrap="square" tIns="27425">
            <a:spAutoFit/>
          </a:bodyPr>
          <a:lstStyle/>
          <a:p>
            <a:pPr indent="0" lvl="0" marL="0" marR="0" rtl="0" algn="l">
              <a:spcBef>
                <a:spcPts val="0"/>
              </a:spcBef>
              <a:spcAft>
                <a:spcPts val="0"/>
              </a:spcAft>
              <a:buNone/>
            </a:pPr>
            <a:r>
              <a:rPr b="0" i="0" lang="en-US" sz="1250" u="none" cap="none" strike="noStrike">
                <a:solidFill>
                  <a:srgbClr val="262626"/>
                </a:solidFill>
                <a:latin typeface="Calibri"/>
                <a:ea typeface="Calibri"/>
                <a:cs typeface="Calibri"/>
                <a:sym typeface="Calibri"/>
              </a:rPr>
              <a:t>Si se bloquea con aprobación humana activa, se encola (429); si no, se rechaza (400).</a:t>
            </a:r>
            <a:endParaRPr/>
          </a:p>
        </p:txBody>
      </p:sp>
      <p:sp>
        <p:nvSpPr>
          <p:cNvPr id="310" name="Google Shape;310;p21"/>
          <p:cNvSpPr/>
          <p:nvPr/>
        </p:nvSpPr>
        <p:spPr>
          <a:xfrm>
            <a:off x="548640" y="4361688"/>
            <a:ext cx="5760720" cy="594360"/>
          </a:xfrm>
          <a:prstGeom prst="roundRect">
            <a:avLst>
              <a:gd fmla="val 6000" name="adj"/>
            </a:avLst>
          </a:prstGeom>
          <a:solidFill>
            <a:srgbClr val="F2F2F2"/>
          </a:solidFill>
          <a:ln cap="flat" cmpd="sng" w="12700">
            <a:solidFill>
              <a:srgbClr val="D0D0D0"/>
            </a:solidFill>
            <a:prstDash val="solid"/>
            <a:miter lim="8000"/>
            <a:headEnd len="sm" w="sm" type="none"/>
            <a:tailEnd len="sm" w="sm" type="none"/>
          </a:ln>
        </p:spPr>
        <p:txBody>
          <a:bodyPr anchorCtr="0" anchor="ctr" bIns="36575" lIns="91425" spcFirstLastPara="1" rIns="91425" wrap="square" tIns="36575">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11" name="Google Shape;311;p21"/>
          <p:cNvSpPr/>
          <p:nvPr/>
        </p:nvSpPr>
        <p:spPr>
          <a:xfrm>
            <a:off x="640080" y="4471416"/>
            <a:ext cx="384048" cy="384048"/>
          </a:xfrm>
          <a:prstGeom prst="ellipse">
            <a:avLst/>
          </a:prstGeom>
          <a:solidFill>
            <a:srgbClr val="4A1020"/>
          </a:solidFill>
          <a:ln>
            <a:noFill/>
          </a:ln>
        </p:spPr>
        <p:txBody>
          <a:bodyPr anchorCtr="0" anchor="ctr" bIns="36575" lIns="91425" spcFirstLastPara="1" rIns="91425" wrap="square" tIns="36575">
            <a:noAutofit/>
          </a:bodyPr>
          <a:lstStyle/>
          <a:p>
            <a:pPr indent="0" lvl="0" marL="0" marR="0" rtl="0" algn="ctr">
              <a:spcBef>
                <a:spcPts val="0"/>
              </a:spcBef>
              <a:spcAft>
                <a:spcPts val="0"/>
              </a:spcAft>
              <a:buNone/>
            </a:pPr>
            <a:r>
              <a:rPr b="1" i="0" lang="en-US" sz="1200" u="none" cap="none" strike="noStrike">
                <a:solidFill>
                  <a:srgbClr val="FFFFFF"/>
                </a:solidFill>
                <a:latin typeface="Calibri"/>
                <a:ea typeface="Calibri"/>
                <a:cs typeface="Calibri"/>
                <a:sym typeface="Calibri"/>
              </a:rPr>
              <a:t>5</a:t>
            </a:r>
            <a:endParaRPr/>
          </a:p>
        </p:txBody>
      </p:sp>
      <p:sp>
        <p:nvSpPr>
          <p:cNvPr id="312" name="Google Shape;312;p21"/>
          <p:cNvSpPr txBox="1"/>
          <p:nvPr/>
        </p:nvSpPr>
        <p:spPr>
          <a:xfrm>
            <a:off x="1097280" y="4379975"/>
            <a:ext cx="5166360" cy="566928"/>
          </a:xfrm>
          <a:prstGeom prst="rect">
            <a:avLst/>
          </a:prstGeom>
          <a:noFill/>
          <a:ln>
            <a:noFill/>
          </a:ln>
        </p:spPr>
        <p:txBody>
          <a:bodyPr anchorCtr="0" anchor="ctr" bIns="27425" lIns="45700" spcFirstLastPara="1" rIns="45700" wrap="square" tIns="27425">
            <a:spAutoFit/>
          </a:bodyPr>
          <a:lstStyle/>
          <a:p>
            <a:pPr indent="0" lvl="0" marL="0" marR="0" rtl="0" algn="l">
              <a:spcBef>
                <a:spcPts val="0"/>
              </a:spcBef>
              <a:spcAft>
                <a:spcPts val="0"/>
              </a:spcAft>
              <a:buNone/>
            </a:pPr>
            <a:r>
              <a:rPr b="0" i="0" lang="en-US" sz="1250" u="none" cap="none" strike="noStrike">
                <a:solidFill>
                  <a:srgbClr val="262626"/>
                </a:solidFill>
                <a:latin typeface="Calibri"/>
                <a:ea typeface="Calibri"/>
                <a:cs typeface="Calibri"/>
                <a:sym typeface="Calibri"/>
              </a:rPr>
              <a:t>Si pasa, la delimitación arma el prompt final y se llama al modelo.</a:t>
            </a:r>
            <a:endParaRPr/>
          </a:p>
        </p:txBody>
      </p:sp>
      <p:sp>
        <p:nvSpPr>
          <p:cNvPr id="313" name="Google Shape;313;p21"/>
          <p:cNvSpPr/>
          <p:nvPr/>
        </p:nvSpPr>
        <p:spPr>
          <a:xfrm>
            <a:off x="548640" y="5029200"/>
            <a:ext cx="5760720" cy="594360"/>
          </a:xfrm>
          <a:prstGeom prst="roundRect">
            <a:avLst>
              <a:gd fmla="val 6000" name="adj"/>
            </a:avLst>
          </a:prstGeom>
          <a:solidFill>
            <a:srgbClr val="F2F2F2"/>
          </a:solidFill>
          <a:ln cap="flat" cmpd="sng" w="12700">
            <a:solidFill>
              <a:srgbClr val="D0D0D0"/>
            </a:solidFill>
            <a:prstDash val="solid"/>
            <a:miter lim="8000"/>
            <a:headEnd len="sm" w="sm" type="none"/>
            <a:tailEnd len="sm" w="sm" type="none"/>
          </a:ln>
        </p:spPr>
        <p:txBody>
          <a:bodyPr anchorCtr="0" anchor="ctr" bIns="36575" lIns="91425" spcFirstLastPara="1" rIns="91425" wrap="square" tIns="36575">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14" name="Google Shape;314;p21"/>
          <p:cNvSpPr/>
          <p:nvPr/>
        </p:nvSpPr>
        <p:spPr>
          <a:xfrm>
            <a:off x="640080" y="5138928"/>
            <a:ext cx="384048" cy="384048"/>
          </a:xfrm>
          <a:prstGeom prst="ellipse">
            <a:avLst/>
          </a:prstGeom>
          <a:solidFill>
            <a:srgbClr val="7B1C2E"/>
          </a:solidFill>
          <a:ln>
            <a:noFill/>
          </a:ln>
        </p:spPr>
        <p:txBody>
          <a:bodyPr anchorCtr="0" anchor="ctr" bIns="36575" lIns="91425" spcFirstLastPara="1" rIns="91425" wrap="square" tIns="36575">
            <a:noAutofit/>
          </a:bodyPr>
          <a:lstStyle/>
          <a:p>
            <a:pPr indent="0" lvl="0" marL="0" marR="0" rtl="0" algn="ctr">
              <a:spcBef>
                <a:spcPts val="0"/>
              </a:spcBef>
              <a:spcAft>
                <a:spcPts val="0"/>
              </a:spcAft>
              <a:buNone/>
            </a:pPr>
            <a:r>
              <a:rPr b="1" i="0" lang="en-US" sz="1200" u="none" cap="none" strike="noStrike">
                <a:solidFill>
                  <a:srgbClr val="FFFFFF"/>
                </a:solidFill>
                <a:latin typeface="Calibri"/>
                <a:ea typeface="Calibri"/>
                <a:cs typeface="Calibri"/>
                <a:sym typeface="Calibri"/>
              </a:rPr>
              <a:t>6</a:t>
            </a:r>
            <a:endParaRPr/>
          </a:p>
        </p:txBody>
      </p:sp>
      <p:sp>
        <p:nvSpPr>
          <p:cNvPr id="315" name="Google Shape;315;p21"/>
          <p:cNvSpPr txBox="1"/>
          <p:nvPr/>
        </p:nvSpPr>
        <p:spPr>
          <a:xfrm>
            <a:off x="1097280" y="5047488"/>
            <a:ext cx="5166360" cy="566928"/>
          </a:xfrm>
          <a:prstGeom prst="rect">
            <a:avLst/>
          </a:prstGeom>
          <a:noFill/>
          <a:ln>
            <a:noFill/>
          </a:ln>
        </p:spPr>
        <p:txBody>
          <a:bodyPr anchorCtr="0" anchor="ctr" bIns="27425" lIns="45700" spcFirstLastPara="1" rIns="45700" wrap="square" tIns="27425">
            <a:spAutoFit/>
          </a:bodyPr>
          <a:lstStyle/>
          <a:p>
            <a:pPr indent="0" lvl="0" marL="0" marR="0" rtl="0" algn="l">
              <a:spcBef>
                <a:spcPts val="0"/>
              </a:spcBef>
              <a:spcAft>
                <a:spcPts val="0"/>
              </a:spcAft>
              <a:buNone/>
            </a:pPr>
            <a:r>
              <a:rPr b="0" i="0" lang="en-US" sz="1250" u="none" cap="none" strike="noStrike">
                <a:solidFill>
                  <a:srgbClr val="262626"/>
                </a:solidFill>
                <a:latin typeface="Calibri"/>
                <a:ea typeface="Calibri"/>
                <a:cs typeface="Calibri"/>
                <a:sym typeface="Calibri"/>
              </a:rPr>
              <a:t>Salida: filtrado y clasificación (Llama Guard 3) sobre la respuesta.</a:t>
            </a:r>
            <a:endParaRPr/>
          </a:p>
        </p:txBody>
      </p:sp>
      <p:sp>
        <p:nvSpPr>
          <p:cNvPr id="316" name="Google Shape;316;p21"/>
          <p:cNvSpPr/>
          <p:nvPr/>
        </p:nvSpPr>
        <p:spPr>
          <a:xfrm>
            <a:off x="548640" y="5696712"/>
            <a:ext cx="5760720" cy="594360"/>
          </a:xfrm>
          <a:prstGeom prst="roundRect">
            <a:avLst>
              <a:gd fmla="val 6000" name="adj"/>
            </a:avLst>
          </a:prstGeom>
          <a:solidFill>
            <a:srgbClr val="F2F2F2"/>
          </a:solidFill>
          <a:ln cap="flat" cmpd="sng" w="12700">
            <a:solidFill>
              <a:srgbClr val="D0D0D0"/>
            </a:solidFill>
            <a:prstDash val="solid"/>
            <a:miter lim="8000"/>
            <a:headEnd len="sm" w="sm" type="none"/>
            <a:tailEnd len="sm" w="sm" type="none"/>
          </a:ln>
        </p:spPr>
        <p:txBody>
          <a:bodyPr anchorCtr="0" anchor="ctr" bIns="36575" lIns="91425" spcFirstLastPara="1" rIns="91425" wrap="square" tIns="36575">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17" name="Google Shape;317;p21"/>
          <p:cNvSpPr/>
          <p:nvPr/>
        </p:nvSpPr>
        <p:spPr>
          <a:xfrm>
            <a:off x="640080" y="5806440"/>
            <a:ext cx="384048" cy="384048"/>
          </a:xfrm>
          <a:prstGeom prst="ellipse">
            <a:avLst/>
          </a:prstGeom>
          <a:solidFill>
            <a:srgbClr val="4A1020"/>
          </a:solidFill>
          <a:ln>
            <a:noFill/>
          </a:ln>
        </p:spPr>
        <p:txBody>
          <a:bodyPr anchorCtr="0" anchor="ctr" bIns="36575" lIns="91425" spcFirstLastPara="1" rIns="91425" wrap="square" tIns="36575">
            <a:noAutofit/>
          </a:bodyPr>
          <a:lstStyle/>
          <a:p>
            <a:pPr indent="0" lvl="0" marL="0" marR="0" rtl="0" algn="ctr">
              <a:spcBef>
                <a:spcPts val="0"/>
              </a:spcBef>
              <a:spcAft>
                <a:spcPts val="0"/>
              </a:spcAft>
              <a:buNone/>
            </a:pPr>
            <a:r>
              <a:rPr b="1" i="0" lang="en-US" sz="1200" u="none" cap="none" strike="noStrike">
                <a:solidFill>
                  <a:srgbClr val="FFFFFF"/>
                </a:solidFill>
                <a:latin typeface="Calibri"/>
                <a:ea typeface="Calibri"/>
                <a:cs typeface="Calibri"/>
                <a:sym typeface="Calibri"/>
              </a:rPr>
              <a:t>7</a:t>
            </a:r>
            <a:endParaRPr/>
          </a:p>
        </p:txBody>
      </p:sp>
      <p:sp>
        <p:nvSpPr>
          <p:cNvPr id="318" name="Google Shape;318;p21"/>
          <p:cNvSpPr txBox="1"/>
          <p:nvPr/>
        </p:nvSpPr>
        <p:spPr>
          <a:xfrm>
            <a:off x="1097280" y="5715000"/>
            <a:ext cx="5166360" cy="566928"/>
          </a:xfrm>
          <a:prstGeom prst="rect">
            <a:avLst/>
          </a:prstGeom>
          <a:noFill/>
          <a:ln>
            <a:noFill/>
          </a:ln>
        </p:spPr>
        <p:txBody>
          <a:bodyPr anchorCtr="0" anchor="ctr" bIns="27425" lIns="45700" spcFirstLastPara="1" rIns="45700" wrap="square" tIns="27425">
            <a:noAutofit/>
          </a:bodyPr>
          <a:lstStyle/>
          <a:p>
            <a:pPr indent="0" lvl="0" marL="0" marR="0" rtl="0" algn="l">
              <a:spcBef>
                <a:spcPts val="0"/>
              </a:spcBef>
              <a:spcAft>
                <a:spcPts val="0"/>
              </a:spcAft>
              <a:buNone/>
            </a:pPr>
            <a:r>
              <a:rPr b="0" i="0" lang="en-US" sz="1250" u="none" cap="none" strike="noStrike">
                <a:solidFill>
                  <a:srgbClr val="262626"/>
                </a:solidFill>
                <a:latin typeface="Calibri"/>
                <a:ea typeface="Calibri"/>
                <a:cs typeface="Calibri"/>
                <a:sym typeface="Calibri"/>
              </a:rPr>
              <a:t>Cada evento </a:t>
            </a:r>
            <a:r>
              <a:rPr lang="en-US" sz="1250">
                <a:solidFill>
                  <a:srgbClr val="262626"/>
                </a:solidFill>
                <a:latin typeface="Calibri"/>
                <a:ea typeface="Calibri"/>
                <a:cs typeface="Calibri"/>
                <a:sym typeface="Calibri"/>
              </a:rPr>
              <a:t>se guarda en eventos.jsonl y, si se activa, se exporta a cualquier SIEM</a:t>
            </a:r>
            <a:r>
              <a:rPr b="0" i="0" lang="en-US" sz="1250" u="none" cap="none" strike="noStrike">
                <a:solidFill>
                  <a:srgbClr val="262626"/>
                </a:solidFill>
                <a:latin typeface="Calibri"/>
                <a:ea typeface="Calibri"/>
                <a:cs typeface="Calibri"/>
                <a:sym typeface="Calibri"/>
              </a:rPr>
              <a:t>.</a:t>
            </a:r>
            <a:endParaRPr/>
          </a:p>
        </p:txBody>
      </p:sp>
      <p:sp>
        <p:nvSpPr>
          <p:cNvPr id="319" name="Google Shape;319;p21"/>
          <p:cNvSpPr txBox="1"/>
          <p:nvPr/>
        </p:nvSpPr>
        <p:spPr>
          <a:xfrm>
            <a:off x="6675120" y="1298448"/>
            <a:ext cx="4937760" cy="36576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1300" u="none" cap="none" strike="noStrike">
                <a:solidFill>
                  <a:srgbClr val="7B1C2E"/>
                </a:solidFill>
                <a:latin typeface="Calibri"/>
                <a:ea typeface="Calibri"/>
                <a:cs typeface="Calibri"/>
                <a:sym typeface="Calibri"/>
              </a:rPr>
              <a:t>INTEGRACIONES</a:t>
            </a:r>
            <a:endParaRPr/>
          </a:p>
        </p:txBody>
      </p:sp>
      <p:sp>
        <p:nvSpPr>
          <p:cNvPr id="320" name="Google Shape;320;p21"/>
          <p:cNvSpPr/>
          <p:nvPr/>
        </p:nvSpPr>
        <p:spPr>
          <a:xfrm>
            <a:off x="6675120" y="1691640"/>
            <a:ext cx="4965192" cy="704088"/>
          </a:xfrm>
          <a:prstGeom prst="roundRect">
            <a:avLst>
              <a:gd fmla="val 6000" name="adj"/>
            </a:avLst>
          </a:prstGeom>
          <a:solidFill>
            <a:srgbClr val="F2F2F2"/>
          </a:solidFill>
          <a:ln>
            <a:noFill/>
          </a:ln>
        </p:spPr>
        <p:txBody>
          <a:bodyPr anchorCtr="0" anchor="ctr" bIns="36575" lIns="91425" spcFirstLastPara="1" rIns="91425" wrap="square" tIns="36575">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21" name="Google Shape;321;p21"/>
          <p:cNvSpPr/>
          <p:nvPr/>
        </p:nvSpPr>
        <p:spPr>
          <a:xfrm>
            <a:off x="6675120" y="1691640"/>
            <a:ext cx="73152" cy="704088"/>
          </a:xfrm>
          <a:prstGeom prst="rect">
            <a:avLst/>
          </a:prstGeom>
          <a:solidFill>
            <a:srgbClr val="7B1C2E"/>
          </a:solidFill>
          <a:ln>
            <a:noFill/>
          </a:ln>
        </p:spPr>
        <p:txBody>
          <a:bodyPr anchorCtr="0" anchor="ctr" bIns="36575" lIns="91425" spcFirstLastPara="1" rIns="91425" wrap="square" tIns="36575">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22" name="Google Shape;322;p21"/>
          <p:cNvSpPr txBox="1"/>
          <p:nvPr/>
        </p:nvSpPr>
        <p:spPr>
          <a:xfrm>
            <a:off x="6858000" y="1709928"/>
            <a:ext cx="1554480" cy="667512"/>
          </a:xfrm>
          <a:prstGeom prst="rect">
            <a:avLst/>
          </a:prstGeom>
          <a:noFill/>
          <a:ln>
            <a:noFill/>
          </a:ln>
        </p:spPr>
        <p:txBody>
          <a:bodyPr anchorCtr="0" anchor="ctr" bIns="27425" lIns="45700" spcFirstLastPara="1" rIns="45700" wrap="square" tIns="27425">
            <a:spAutoFit/>
          </a:bodyPr>
          <a:lstStyle/>
          <a:p>
            <a:pPr indent="0" lvl="0" marL="0" marR="0" rtl="0" algn="l">
              <a:spcBef>
                <a:spcPts val="0"/>
              </a:spcBef>
              <a:spcAft>
                <a:spcPts val="0"/>
              </a:spcAft>
              <a:buNone/>
            </a:pPr>
            <a:r>
              <a:rPr b="1" i="0" lang="en-US" sz="1300" u="none" cap="none" strike="noStrike">
                <a:solidFill>
                  <a:srgbClr val="4A1020"/>
                </a:solidFill>
                <a:latin typeface="Calibri"/>
                <a:ea typeface="Calibri"/>
                <a:cs typeface="Calibri"/>
                <a:sym typeface="Calibri"/>
              </a:rPr>
              <a:t>Ollama</a:t>
            </a:r>
            <a:endParaRPr/>
          </a:p>
        </p:txBody>
      </p:sp>
      <p:sp>
        <p:nvSpPr>
          <p:cNvPr id="323" name="Google Shape;323;p21"/>
          <p:cNvSpPr txBox="1"/>
          <p:nvPr/>
        </p:nvSpPr>
        <p:spPr>
          <a:xfrm>
            <a:off x="8412480" y="1709928"/>
            <a:ext cx="3154680" cy="667512"/>
          </a:xfrm>
          <a:prstGeom prst="rect">
            <a:avLst/>
          </a:prstGeom>
          <a:noFill/>
          <a:ln>
            <a:noFill/>
          </a:ln>
        </p:spPr>
        <p:txBody>
          <a:bodyPr anchorCtr="0" anchor="ctr" bIns="27425" lIns="45700" spcFirstLastPara="1" rIns="45700" wrap="square" tIns="27425">
            <a:spAutoFit/>
          </a:bodyPr>
          <a:lstStyle/>
          <a:p>
            <a:pPr indent="0" lvl="0" marL="0" marR="0" rtl="0" algn="l">
              <a:spcBef>
                <a:spcPts val="0"/>
              </a:spcBef>
              <a:spcAft>
                <a:spcPts val="0"/>
              </a:spcAft>
              <a:buNone/>
            </a:pPr>
            <a:r>
              <a:rPr b="0" i="0" lang="en-US" sz="1200" u="none" cap="none" strike="noStrike">
                <a:solidFill>
                  <a:srgbClr val="262626"/>
                </a:solidFill>
                <a:latin typeface="Calibri"/>
                <a:ea typeface="Calibri"/>
                <a:cs typeface="Calibri"/>
                <a:sym typeface="Calibri"/>
              </a:rPr>
              <a:t>Modelos protegidos y Llama Guard 3 en la red interna de Docker</a:t>
            </a:r>
            <a:endParaRPr/>
          </a:p>
        </p:txBody>
      </p:sp>
      <p:sp>
        <p:nvSpPr>
          <p:cNvPr id="324" name="Google Shape;324;p21"/>
          <p:cNvSpPr/>
          <p:nvPr/>
        </p:nvSpPr>
        <p:spPr>
          <a:xfrm>
            <a:off x="6675120" y="2468880"/>
            <a:ext cx="4965192" cy="704088"/>
          </a:xfrm>
          <a:prstGeom prst="roundRect">
            <a:avLst>
              <a:gd fmla="val 6000" name="adj"/>
            </a:avLst>
          </a:prstGeom>
          <a:solidFill>
            <a:srgbClr val="F2F2F2"/>
          </a:solidFill>
          <a:ln>
            <a:noFill/>
          </a:ln>
        </p:spPr>
        <p:txBody>
          <a:bodyPr anchorCtr="0" anchor="ctr" bIns="36575" lIns="91425" spcFirstLastPara="1" rIns="91425" wrap="square" tIns="36575">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25" name="Google Shape;325;p21"/>
          <p:cNvSpPr/>
          <p:nvPr/>
        </p:nvSpPr>
        <p:spPr>
          <a:xfrm>
            <a:off x="6675120" y="2468880"/>
            <a:ext cx="73152" cy="704088"/>
          </a:xfrm>
          <a:prstGeom prst="rect">
            <a:avLst/>
          </a:prstGeom>
          <a:solidFill>
            <a:srgbClr val="7B1C2E"/>
          </a:solidFill>
          <a:ln>
            <a:noFill/>
          </a:ln>
        </p:spPr>
        <p:txBody>
          <a:bodyPr anchorCtr="0" anchor="ctr" bIns="36575" lIns="91425" spcFirstLastPara="1" rIns="91425" wrap="square" tIns="36575">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26" name="Google Shape;326;p21"/>
          <p:cNvSpPr txBox="1"/>
          <p:nvPr/>
        </p:nvSpPr>
        <p:spPr>
          <a:xfrm>
            <a:off x="6858000" y="2487168"/>
            <a:ext cx="1554480" cy="667512"/>
          </a:xfrm>
          <a:prstGeom prst="rect">
            <a:avLst/>
          </a:prstGeom>
          <a:noFill/>
          <a:ln>
            <a:noFill/>
          </a:ln>
        </p:spPr>
        <p:txBody>
          <a:bodyPr anchorCtr="0" anchor="ctr" bIns="27425" lIns="45700" spcFirstLastPara="1" rIns="45700" wrap="square" tIns="27425">
            <a:spAutoFit/>
          </a:bodyPr>
          <a:lstStyle/>
          <a:p>
            <a:pPr indent="0" lvl="0" marL="0" marR="0" rtl="0" algn="l">
              <a:spcBef>
                <a:spcPts val="0"/>
              </a:spcBef>
              <a:spcAft>
                <a:spcPts val="0"/>
              </a:spcAft>
              <a:buNone/>
            </a:pPr>
            <a:r>
              <a:rPr b="1" i="0" lang="en-US" sz="1300" u="none" cap="none" strike="noStrike">
                <a:solidFill>
                  <a:srgbClr val="4A1020"/>
                </a:solidFill>
                <a:latin typeface="Calibri"/>
                <a:ea typeface="Calibri"/>
                <a:cs typeface="Calibri"/>
                <a:sym typeface="Calibri"/>
              </a:rPr>
              <a:t>Hugging Face</a:t>
            </a:r>
            <a:endParaRPr/>
          </a:p>
        </p:txBody>
      </p:sp>
      <p:sp>
        <p:nvSpPr>
          <p:cNvPr id="327" name="Google Shape;327;p21"/>
          <p:cNvSpPr txBox="1"/>
          <p:nvPr/>
        </p:nvSpPr>
        <p:spPr>
          <a:xfrm>
            <a:off x="8412480" y="2487168"/>
            <a:ext cx="3154680" cy="667512"/>
          </a:xfrm>
          <a:prstGeom prst="rect">
            <a:avLst/>
          </a:prstGeom>
          <a:noFill/>
          <a:ln>
            <a:noFill/>
          </a:ln>
        </p:spPr>
        <p:txBody>
          <a:bodyPr anchorCtr="0" anchor="ctr" bIns="27425" lIns="45700" spcFirstLastPara="1" rIns="45700" wrap="square" tIns="27425">
            <a:spAutoFit/>
          </a:bodyPr>
          <a:lstStyle/>
          <a:p>
            <a:pPr indent="0" lvl="0" marL="0" marR="0" rtl="0" algn="l">
              <a:spcBef>
                <a:spcPts val="0"/>
              </a:spcBef>
              <a:spcAft>
                <a:spcPts val="0"/>
              </a:spcAft>
              <a:buNone/>
            </a:pPr>
            <a:r>
              <a:rPr b="0" i="0" lang="en-US" sz="1200" u="none" cap="none" strike="noStrike">
                <a:solidFill>
                  <a:srgbClr val="262626"/>
                </a:solidFill>
                <a:latin typeface="Calibri"/>
                <a:ea typeface="Calibri"/>
                <a:cs typeface="Calibri"/>
                <a:sym typeface="Calibri"/>
              </a:rPr>
              <a:t>Llama Prompt Guard 2 (86M), cargado en local</a:t>
            </a:r>
            <a:endParaRPr/>
          </a:p>
        </p:txBody>
      </p:sp>
      <p:sp>
        <p:nvSpPr>
          <p:cNvPr id="328" name="Google Shape;328;p21"/>
          <p:cNvSpPr/>
          <p:nvPr/>
        </p:nvSpPr>
        <p:spPr>
          <a:xfrm>
            <a:off x="6675120" y="3246120"/>
            <a:ext cx="4965192" cy="704088"/>
          </a:xfrm>
          <a:prstGeom prst="roundRect">
            <a:avLst>
              <a:gd fmla="val 6000" name="adj"/>
            </a:avLst>
          </a:prstGeom>
          <a:solidFill>
            <a:srgbClr val="F2F2F2"/>
          </a:solidFill>
          <a:ln>
            <a:noFill/>
          </a:ln>
        </p:spPr>
        <p:txBody>
          <a:bodyPr anchorCtr="0" anchor="ctr" bIns="36575" lIns="91425" spcFirstLastPara="1" rIns="91425" wrap="square" tIns="36575">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29" name="Google Shape;329;p21"/>
          <p:cNvSpPr/>
          <p:nvPr/>
        </p:nvSpPr>
        <p:spPr>
          <a:xfrm>
            <a:off x="6675120" y="3246120"/>
            <a:ext cx="73152" cy="704088"/>
          </a:xfrm>
          <a:prstGeom prst="rect">
            <a:avLst/>
          </a:prstGeom>
          <a:solidFill>
            <a:srgbClr val="7B1C2E"/>
          </a:solidFill>
          <a:ln>
            <a:noFill/>
          </a:ln>
        </p:spPr>
        <p:txBody>
          <a:bodyPr anchorCtr="0" anchor="ctr" bIns="36575" lIns="91425" spcFirstLastPara="1" rIns="91425" wrap="square" tIns="36575">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30" name="Google Shape;330;p21"/>
          <p:cNvSpPr txBox="1"/>
          <p:nvPr/>
        </p:nvSpPr>
        <p:spPr>
          <a:xfrm>
            <a:off x="6858000" y="3264408"/>
            <a:ext cx="1554480" cy="667512"/>
          </a:xfrm>
          <a:prstGeom prst="rect">
            <a:avLst/>
          </a:prstGeom>
          <a:noFill/>
          <a:ln>
            <a:noFill/>
          </a:ln>
        </p:spPr>
        <p:txBody>
          <a:bodyPr anchorCtr="0" anchor="ctr" bIns="27425" lIns="45700" spcFirstLastPara="1" rIns="45700" wrap="square" tIns="27425">
            <a:spAutoFit/>
          </a:bodyPr>
          <a:lstStyle/>
          <a:p>
            <a:pPr indent="0" lvl="0" marL="0" marR="0" rtl="0" algn="l">
              <a:spcBef>
                <a:spcPts val="0"/>
              </a:spcBef>
              <a:spcAft>
                <a:spcPts val="0"/>
              </a:spcAft>
              <a:buNone/>
            </a:pPr>
            <a:r>
              <a:rPr b="1" i="0" lang="en-US" sz="1300" u="none" cap="none" strike="noStrike">
                <a:solidFill>
                  <a:srgbClr val="4A1020"/>
                </a:solidFill>
                <a:latin typeface="Calibri"/>
                <a:ea typeface="Calibri"/>
                <a:cs typeface="Calibri"/>
                <a:sym typeface="Calibri"/>
              </a:rPr>
              <a:t>Consola de revisión</a:t>
            </a:r>
            <a:endParaRPr/>
          </a:p>
        </p:txBody>
      </p:sp>
      <p:sp>
        <p:nvSpPr>
          <p:cNvPr id="331" name="Google Shape;331;p21"/>
          <p:cNvSpPr txBox="1"/>
          <p:nvPr/>
        </p:nvSpPr>
        <p:spPr>
          <a:xfrm>
            <a:off x="8412480" y="3264408"/>
            <a:ext cx="3154680" cy="667512"/>
          </a:xfrm>
          <a:prstGeom prst="rect">
            <a:avLst/>
          </a:prstGeom>
          <a:noFill/>
          <a:ln>
            <a:noFill/>
          </a:ln>
        </p:spPr>
        <p:txBody>
          <a:bodyPr anchorCtr="0" anchor="ctr" bIns="27425" lIns="45700" spcFirstLastPara="1" rIns="45700" wrap="square" tIns="27425">
            <a:spAutoFit/>
          </a:bodyPr>
          <a:lstStyle/>
          <a:p>
            <a:pPr indent="0" lvl="0" marL="0" marR="0" rtl="0" algn="l">
              <a:spcBef>
                <a:spcPts val="0"/>
              </a:spcBef>
              <a:spcAft>
                <a:spcPts val="0"/>
              </a:spcAft>
              <a:buNone/>
            </a:pPr>
            <a:r>
              <a:rPr b="0" i="0" lang="en-US" sz="1200" u="none" cap="none" strike="noStrike">
                <a:solidFill>
                  <a:srgbClr val="262626"/>
                </a:solidFill>
                <a:latin typeface="Calibri"/>
                <a:ea typeface="Calibri"/>
                <a:cs typeface="Calibri"/>
                <a:sym typeface="Calibri"/>
              </a:rPr>
              <a:t>Interfaz web en vivo para aprobar o rechazar</a:t>
            </a:r>
            <a:endParaRPr/>
          </a:p>
        </p:txBody>
      </p:sp>
      <p:sp>
        <p:nvSpPr>
          <p:cNvPr id="332" name="Google Shape;332;p21"/>
          <p:cNvSpPr/>
          <p:nvPr/>
        </p:nvSpPr>
        <p:spPr>
          <a:xfrm>
            <a:off x="6675120" y="4023360"/>
            <a:ext cx="4965192" cy="704088"/>
          </a:xfrm>
          <a:prstGeom prst="roundRect">
            <a:avLst>
              <a:gd fmla="val 6000" name="adj"/>
            </a:avLst>
          </a:prstGeom>
          <a:solidFill>
            <a:srgbClr val="F2F2F2"/>
          </a:solidFill>
          <a:ln>
            <a:noFill/>
          </a:ln>
        </p:spPr>
        <p:txBody>
          <a:bodyPr anchorCtr="0" anchor="ctr" bIns="36575" lIns="91425" spcFirstLastPara="1" rIns="91425" wrap="square" tIns="36575">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33" name="Google Shape;333;p21"/>
          <p:cNvSpPr/>
          <p:nvPr/>
        </p:nvSpPr>
        <p:spPr>
          <a:xfrm>
            <a:off x="6675120" y="4023360"/>
            <a:ext cx="73152" cy="704088"/>
          </a:xfrm>
          <a:prstGeom prst="rect">
            <a:avLst/>
          </a:prstGeom>
          <a:solidFill>
            <a:srgbClr val="7B1C2E"/>
          </a:solidFill>
          <a:ln>
            <a:noFill/>
          </a:ln>
        </p:spPr>
        <p:txBody>
          <a:bodyPr anchorCtr="0" anchor="ctr" bIns="36575" lIns="91425" spcFirstLastPara="1" rIns="91425" wrap="square" tIns="36575">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34" name="Google Shape;334;p21"/>
          <p:cNvSpPr txBox="1"/>
          <p:nvPr/>
        </p:nvSpPr>
        <p:spPr>
          <a:xfrm>
            <a:off x="6858000" y="4041648"/>
            <a:ext cx="1554480" cy="667512"/>
          </a:xfrm>
          <a:prstGeom prst="rect">
            <a:avLst/>
          </a:prstGeom>
          <a:noFill/>
          <a:ln>
            <a:noFill/>
          </a:ln>
        </p:spPr>
        <p:txBody>
          <a:bodyPr anchorCtr="0" anchor="ctr" bIns="27425" lIns="45700" spcFirstLastPara="1" rIns="45700" wrap="square" tIns="27425">
            <a:spAutoFit/>
          </a:bodyPr>
          <a:lstStyle/>
          <a:p>
            <a:pPr indent="0" lvl="0" marL="0" marR="0" rtl="0" algn="l">
              <a:spcBef>
                <a:spcPts val="0"/>
              </a:spcBef>
              <a:spcAft>
                <a:spcPts val="0"/>
              </a:spcAft>
              <a:buNone/>
            </a:pPr>
            <a:r>
              <a:rPr b="1" i="0" lang="en-US" sz="1300" u="none" cap="none" strike="noStrike">
                <a:solidFill>
                  <a:srgbClr val="4A1020"/>
                </a:solidFill>
                <a:latin typeface="Calibri"/>
                <a:ea typeface="Calibri"/>
                <a:cs typeface="Calibri"/>
                <a:sym typeface="Calibri"/>
              </a:rPr>
              <a:t>SIEM</a:t>
            </a:r>
            <a:endParaRPr/>
          </a:p>
        </p:txBody>
      </p:sp>
      <p:sp>
        <p:nvSpPr>
          <p:cNvPr id="335" name="Google Shape;335;p21"/>
          <p:cNvSpPr txBox="1"/>
          <p:nvPr/>
        </p:nvSpPr>
        <p:spPr>
          <a:xfrm>
            <a:off x="8412480" y="4041648"/>
            <a:ext cx="3154680" cy="667512"/>
          </a:xfrm>
          <a:prstGeom prst="rect">
            <a:avLst/>
          </a:prstGeom>
          <a:noFill/>
          <a:ln>
            <a:noFill/>
          </a:ln>
        </p:spPr>
        <p:txBody>
          <a:bodyPr anchorCtr="0" anchor="ctr" bIns="27425" lIns="45700" spcFirstLastPara="1" rIns="45700" wrap="square" tIns="27425">
            <a:spAutoFit/>
          </a:bodyPr>
          <a:lstStyle/>
          <a:p>
            <a:pPr indent="0" lvl="0" marL="0" marR="0" rtl="0" algn="l">
              <a:spcBef>
                <a:spcPts val="0"/>
              </a:spcBef>
              <a:spcAft>
                <a:spcPts val="0"/>
              </a:spcAft>
              <a:buNone/>
            </a:pPr>
            <a:r>
              <a:rPr b="0" i="0" lang="en-US" sz="1200" u="none" cap="none" strike="noStrike">
                <a:solidFill>
                  <a:srgbClr val="262626"/>
                </a:solidFill>
                <a:latin typeface="Calibri"/>
                <a:ea typeface="Calibri"/>
                <a:cs typeface="Calibri"/>
                <a:sym typeface="Calibri"/>
              </a:rPr>
              <a:t>JSON, CEF, LEEF y ECS hacia Wazuh, Splunk, Elastic, Azure y CloudWatch</a:t>
            </a:r>
            <a:endParaRPr/>
          </a:p>
        </p:txBody>
      </p:sp>
      <p:sp>
        <p:nvSpPr>
          <p:cNvPr id="336" name="Google Shape;336;p21"/>
          <p:cNvSpPr/>
          <p:nvPr/>
        </p:nvSpPr>
        <p:spPr>
          <a:xfrm>
            <a:off x="6675120" y="4800600"/>
            <a:ext cx="4965192" cy="704088"/>
          </a:xfrm>
          <a:prstGeom prst="roundRect">
            <a:avLst>
              <a:gd fmla="val 6000" name="adj"/>
            </a:avLst>
          </a:prstGeom>
          <a:solidFill>
            <a:srgbClr val="F2F2F2"/>
          </a:solidFill>
          <a:ln>
            <a:noFill/>
          </a:ln>
        </p:spPr>
        <p:txBody>
          <a:bodyPr anchorCtr="0" anchor="ctr" bIns="36575" lIns="91425" spcFirstLastPara="1" rIns="91425" wrap="square" tIns="36575">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37" name="Google Shape;337;p21"/>
          <p:cNvSpPr/>
          <p:nvPr/>
        </p:nvSpPr>
        <p:spPr>
          <a:xfrm>
            <a:off x="6675120" y="4800600"/>
            <a:ext cx="73152" cy="704088"/>
          </a:xfrm>
          <a:prstGeom prst="rect">
            <a:avLst/>
          </a:prstGeom>
          <a:solidFill>
            <a:srgbClr val="7B1C2E"/>
          </a:solidFill>
          <a:ln>
            <a:noFill/>
          </a:ln>
        </p:spPr>
        <p:txBody>
          <a:bodyPr anchorCtr="0" anchor="ctr" bIns="36575" lIns="91425" spcFirstLastPara="1" rIns="91425" wrap="square" tIns="36575">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38" name="Google Shape;338;p21"/>
          <p:cNvSpPr txBox="1"/>
          <p:nvPr/>
        </p:nvSpPr>
        <p:spPr>
          <a:xfrm>
            <a:off x="6858000" y="4818888"/>
            <a:ext cx="1554480" cy="667512"/>
          </a:xfrm>
          <a:prstGeom prst="rect">
            <a:avLst/>
          </a:prstGeom>
          <a:noFill/>
          <a:ln>
            <a:noFill/>
          </a:ln>
        </p:spPr>
        <p:txBody>
          <a:bodyPr anchorCtr="0" anchor="ctr" bIns="27425" lIns="45700" spcFirstLastPara="1" rIns="45700" wrap="square" tIns="27425">
            <a:noAutofit/>
          </a:bodyPr>
          <a:lstStyle/>
          <a:p>
            <a:pPr indent="0" lvl="0" marL="0" marR="0" rtl="0" algn="l">
              <a:spcBef>
                <a:spcPts val="0"/>
              </a:spcBef>
              <a:spcAft>
                <a:spcPts val="0"/>
              </a:spcAft>
              <a:buNone/>
            </a:pPr>
            <a:r>
              <a:rPr b="1" lang="en-US" sz="1300">
                <a:solidFill>
                  <a:srgbClr val="4A1020"/>
                </a:solidFill>
                <a:latin typeface="Calibri"/>
                <a:ea typeface="Calibri"/>
                <a:cs typeface="Calibri"/>
                <a:sym typeface="Calibri"/>
              </a:rPr>
              <a:t>Garak</a:t>
            </a:r>
            <a:endParaRPr/>
          </a:p>
        </p:txBody>
      </p:sp>
      <p:sp>
        <p:nvSpPr>
          <p:cNvPr id="339" name="Google Shape;339;p21"/>
          <p:cNvSpPr txBox="1"/>
          <p:nvPr/>
        </p:nvSpPr>
        <p:spPr>
          <a:xfrm>
            <a:off x="8412480" y="4818888"/>
            <a:ext cx="3154680" cy="667512"/>
          </a:xfrm>
          <a:prstGeom prst="rect">
            <a:avLst/>
          </a:prstGeom>
          <a:noFill/>
          <a:ln>
            <a:noFill/>
          </a:ln>
        </p:spPr>
        <p:txBody>
          <a:bodyPr anchorCtr="0" anchor="ctr" bIns="27425" lIns="45700" spcFirstLastPara="1" rIns="45700" wrap="square" tIns="27425">
            <a:spAutoFit/>
          </a:bodyPr>
          <a:lstStyle/>
          <a:p>
            <a:pPr indent="0" lvl="0" marL="0" marR="0" rtl="0" algn="l">
              <a:spcBef>
                <a:spcPts val="0"/>
              </a:spcBef>
              <a:spcAft>
                <a:spcPts val="0"/>
              </a:spcAft>
              <a:buNone/>
            </a:pPr>
            <a:r>
              <a:rPr b="0" i="0" lang="en-US" sz="1200" u="none" cap="none" strike="noStrike">
                <a:solidFill>
                  <a:srgbClr val="262626"/>
                </a:solidFill>
                <a:latin typeface="Calibri"/>
                <a:ea typeface="Calibri"/>
                <a:cs typeface="Calibri"/>
                <a:sym typeface="Calibri"/>
              </a:rPr>
              <a:t>Validación externa con ataques sobre una segunda instancia</a:t>
            </a:r>
            <a:endParaRPr/>
          </a:p>
        </p:txBody>
      </p:sp>
      <p:sp>
        <p:nvSpPr>
          <p:cNvPr id="340" name="Google Shape;340;p21"/>
          <p:cNvSpPr/>
          <p:nvPr/>
        </p:nvSpPr>
        <p:spPr>
          <a:xfrm>
            <a:off x="6675120" y="5577840"/>
            <a:ext cx="4965192" cy="704088"/>
          </a:xfrm>
          <a:prstGeom prst="roundRect">
            <a:avLst>
              <a:gd fmla="val 6000" name="adj"/>
            </a:avLst>
          </a:prstGeom>
          <a:solidFill>
            <a:srgbClr val="F2F2F2"/>
          </a:solidFill>
          <a:ln>
            <a:noFill/>
          </a:ln>
        </p:spPr>
        <p:txBody>
          <a:bodyPr anchorCtr="0" anchor="ctr" bIns="36575" lIns="91425" spcFirstLastPara="1" rIns="91425" wrap="square" tIns="36575">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41" name="Google Shape;341;p21"/>
          <p:cNvSpPr/>
          <p:nvPr/>
        </p:nvSpPr>
        <p:spPr>
          <a:xfrm>
            <a:off x="6675120" y="5577840"/>
            <a:ext cx="73152" cy="704088"/>
          </a:xfrm>
          <a:prstGeom prst="rect">
            <a:avLst/>
          </a:prstGeom>
          <a:solidFill>
            <a:srgbClr val="7B1C2E"/>
          </a:solidFill>
          <a:ln>
            <a:noFill/>
          </a:ln>
        </p:spPr>
        <p:txBody>
          <a:bodyPr anchorCtr="0" anchor="ctr" bIns="36575" lIns="91425" spcFirstLastPara="1" rIns="91425" wrap="square" tIns="36575">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42" name="Google Shape;342;p21"/>
          <p:cNvSpPr txBox="1"/>
          <p:nvPr/>
        </p:nvSpPr>
        <p:spPr>
          <a:xfrm>
            <a:off x="6858000" y="5596127"/>
            <a:ext cx="1554480" cy="667512"/>
          </a:xfrm>
          <a:prstGeom prst="rect">
            <a:avLst/>
          </a:prstGeom>
          <a:noFill/>
          <a:ln>
            <a:noFill/>
          </a:ln>
        </p:spPr>
        <p:txBody>
          <a:bodyPr anchorCtr="0" anchor="ctr" bIns="27425" lIns="45700" spcFirstLastPara="1" rIns="45700" wrap="square" tIns="27425">
            <a:spAutoFit/>
          </a:bodyPr>
          <a:lstStyle/>
          <a:p>
            <a:pPr indent="0" lvl="0" marL="0" marR="0" rtl="0" algn="l">
              <a:spcBef>
                <a:spcPts val="0"/>
              </a:spcBef>
              <a:spcAft>
                <a:spcPts val="0"/>
              </a:spcAft>
              <a:buNone/>
            </a:pPr>
            <a:r>
              <a:rPr b="1" i="0" lang="en-US" sz="1300" u="none" cap="none" strike="noStrike">
                <a:solidFill>
                  <a:srgbClr val="4A1020"/>
                </a:solidFill>
                <a:latin typeface="Calibri"/>
                <a:ea typeface="Calibri"/>
                <a:cs typeface="Calibri"/>
                <a:sym typeface="Calibri"/>
              </a:rPr>
              <a:t>Opcionales</a:t>
            </a:r>
            <a:endParaRPr/>
          </a:p>
        </p:txBody>
      </p:sp>
      <p:sp>
        <p:nvSpPr>
          <p:cNvPr id="343" name="Google Shape;343;p21"/>
          <p:cNvSpPr txBox="1"/>
          <p:nvPr/>
        </p:nvSpPr>
        <p:spPr>
          <a:xfrm>
            <a:off x="8412480" y="5596127"/>
            <a:ext cx="3154680" cy="667512"/>
          </a:xfrm>
          <a:prstGeom prst="rect">
            <a:avLst/>
          </a:prstGeom>
          <a:noFill/>
          <a:ln>
            <a:noFill/>
          </a:ln>
        </p:spPr>
        <p:txBody>
          <a:bodyPr anchorCtr="0" anchor="ctr" bIns="27425" lIns="45700" spcFirstLastPara="1" rIns="45700" wrap="square" tIns="27425">
            <a:spAutoFit/>
          </a:bodyPr>
          <a:lstStyle/>
          <a:p>
            <a:pPr indent="0" lvl="0" marL="0" marR="0" rtl="0" algn="l">
              <a:spcBef>
                <a:spcPts val="0"/>
              </a:spcBef>
              <a:spcAft>
                <a:spcPts val="0"/>
              </a:spcAft>
              <a:buNone/>
            </a:pPr>
            <a:r>
              <a:rPr b="0" i="0" lang="en-US" sz="1200" u="none" cap="none" strike="noStrike">
                <a:solidFill>
                  <a:srgbClr val="262626"/>
                </a:solidFill>
                <a:latin typeface="Calibri"/>
                <a:ea typeface="Calibri"/>
                <a:cs typeface="Calibri"/>
                <a:sym typeface="Calibri"/>
              </a:rPr>
              <a:t>Modelos remotos, otro clasificador (Jev), avisos por Slack o correo</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sp>
        <p:nvSpPr>
          <p:cNvPr id="349" name="Google Shape;349;p22"/>
          <p:cNvSpPr txBox="1"/>
          <p:nvPr>
            <p:ph type="title"/>
          </p:nvPr>
        </p:nvSpPr>
        <p:spPr>
          <a:xfrm>
            <a:off x="1371600" y="457200"/>
            <a:ext cx="8869680" cy="64008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4A1020"/>
              </a:buClr>
              <a:buSzPts val="2800"/>
              <a:buFont typeface="Calibri"/>
              <a:buNone/>
            </a:pPr>
            <a:r>
              <a:rPr b="1" lang="en-US" sz="2800">
                <a:solidFill>
                  <a:srgbClr val="4A1020"/>
                </a:solidFill>
              </a:rPr>
              <a:t>Cinco mecanismos, una sola cadena</a:t>
            </a:r>
            <a:endParaRPr/>
          </a:p>
        </p:txBody>
      </p:sp>
      <p:pic>
        <p:nvPicPr>
          <p:cNvPr descr="ironveil_v6.png" id="350" name="Google Shape;350;p22"/>
          <p:cNvPicPr preferRelativeResize="0"/>
          <p:nvPr/>
        </p:nvPicPr>
        <p:blipFill rotWithShape="1">
          <a:blip r:embed="rId3">
            <a:alphaModFix/>
          </a:blip>
          <a:srcRect b="0" l="0" r="0" t="0"/>
          <a:stretch/>
        </p:blipFill>
        <p:spPr>
          <a:xfrm>
            <a:off x="502920" y="274320"/>
            <a:ext cx="822960" cy="822960"/>
          </a:xfrm>
          <a:prstGeom prst="rect">
            <a:avLst/>
          </a:prstGeom>
          <a:noFill/>
          <a:ln>
            <a:noFill/>
          </a:ln>
        </p:spPr>
      </p:pic>
      <p:sp>
        <p:nvSpPr>
          <p:cNvPr id="351" name="Google Shape;351;p22"/>
          <p:cNvSpPr txBox="1"/>
          <p:nvPr/>
        </p:nvSpPr>
        <p:spPr>
          <a:xfrm>
            <a:off x="1371600" y="246888"/>
            <a:ext cx="8229600" cy="27432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1100" u="none" cap="none" strike="noStrike">
                <a:solidFill>
                  <a:srgbClr val="7B1C2E"/>
                </a:solidFill>
                <a:latin typeface="Calibri"/>
                <a:ea typeface="Calibri"/>
                <a:cs typeface="Calibri"/>
                <a:sym typeface="Calibri"/>
              </a:rPr>
              <a:t>05 · SOLUCIÓN</a:t>
            </a:r>
            <a:endParaRPr/>
          </a:p>
        </p:txBody>
      </p:sp>
      <p:cxnSp>
        <p:nvCxnSpPr>
          <p:cNvPr id="352" name="Google Shape;352;p22"/>
          <p:cNvCxnSpPr/>
          <p:nvPr/>
        </p:nvCxnSpPr>
        <p:spPr>
          <a:xfrm>
            <a:off x="548640" y="1188720"/>
            <a:ext cx="11091672" cy="0"/>
          </a:xfrm>
          <a:prstGeom prst="straightConnector1">
            <a:avLst/>
          </a:prstGeom>
          <a:noFill/>
          <a:ln cap="flat" cmpd="sng" w="25400">
            <a:solidFill>
              <a:srgbClr val="7B1C2E"/>
            </a:solidFill>
            <a:prstDash val="solid"/>
            <a:miter lim="8000"/>
            <a:headEnd len="sm" w="sm" type="none"/>
            <a:tailEnd len="sm" w="sm" type="none"/>
          </a:ln>
        </p:spPr>
      </p:cxnSp>
      <p:sp>
        <p:nvSpPr>
          <p:cNvPr id="353" name="Google Shape;353;p22"/>
          <p:cNvSpPr/>
          <p:nvPr/>
        </p:nvSpPr>
        <p:spPr>
          <a:xfrm>
            <a:off x="0" y="6510528"/>
            <a:ext cx="12191695" cy="347472"/>
          </a:xfrm>
          <a:prstGeom prst="rect">
            <a:avLst/>
          </a:prstGeom>
          <a:solidFill>
            <a:srgbClr val="7B1C2E"/>
          </a:solidFill>
          <a:ln>
            <a:noFill/>
          </a:ln>
        </p:spPr>
        <p:txBody>
          <a:bodyPr anchorCtr="0" anchor="ctr" bIns="36575" lIns="91425" spcFirstLastPara="1" rIns="91425" wrap="square" tIns="36575">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ronveil_v6_inv.png" id="354" name="Google Shape;354;p22"/>
          <p:cNvPicPr preferRelativeResize="0"/>
          <p:nvPr/>
        </p:nvPicPr>
        <p:blipFill rotWithShape="1">
          <a:blip r:embed="rId4">
            <a:alphaModFix/>
          </a:blip>
          <a:srcRect b="0" l="0" r="0" t="0"/>
          <a:stretch/>
        </p:blipFill>
        <p:spPr>
          <a:xfrm>
            <a:off x="457200" y="6537960"/>
            <a:ext cx="292608" cy="292608"/>
          </a:xfrm>
          <a:prstGeom prst="rect">
            <a:avLst/>
          </a:prstGeom>
          <a:noFill/>
          <a:ln>
            <a:noFill/>
          </a:ln>
        </p:spPr>
      </p:pic>
      <p:sp>
        <p:nvSpPr>
          <p:cNvPr id="355" name="Google Shape;355;p22"/>
          <p:cNvSpPr txBox="1"/>
          <p:nvPr/>
        </p:nvSpPr>
        <p:spPr>
          <a:xfrm>
            <a:off x="822960" y="6528816"/>
            <a:ext cx="5486400" cy="310896"/>
          </a:xfrm>
          <a:prstGeom prst="rect">
            <a:avLst/>
          </a:prstGeom>
          <a:noFill/>
          <a:ln>
            <a:noFill/>
          </a:ln>
        </p:spPr>
        <p:txBody>
          <a:bodyPr anchorCtr="0" anchor="ctr" bIns="27425" lIns="45700" spcFirstLastPara="1" rIns="45700" wrap="square" tIns="27425">
            <a:noAutofit/>
          </a:bodyPr>
          <a:lstStyle/>
          <a:p>
            <a:pPr indent="0" lvl="0" marL="0" marR="0" rtl="0" algn="l">
              <a:spcBef>
                <a:spcPts val="0"/>
              </a:spcBef>
              <a:spcAft>
                <a:spcPts val="0"/>
              </a:spcAft>
              <a:buNone/>
            </a:pPr>
            <a:r>
              <a:rPr b="1" lang="en-US" sz="1050">
                <a:solidFill>
                  <a:srgbClr val="F2F2F2"/>
                </a:solidFill>
                <a:latin typeface="Calibri"/>
                <a:ea typeface="Calibri"/>
                <a:cs typeface="Calibri"/>
                <a:sym typeface="Calibri"/>
              </a:rPr>
              <a:t>IronVeil · Framework de defensa para LLMs autoalojados</a:t>
            </a:r>
            <a:endParaRPr/>
          </a:p>
        </p:txBody>
      </p:sp>
      <p:sp>
        <p:nvSpPr>
          <p:cNvPr id="356" name="Google Shape;356;p22"/>
          <p:cNvSpPr txBox="1"/>
          <p:nvPr/>
        </p:nvSpPr>
        <p:spPr>
          <a:xfrm>
            <a:off x="6217920" y="6528816"/>
            <a:ext cx="5303520" cy="310896"/>
          </a:xfrm>
          <a:prstGeom prst="rect">
            <a:avLst/>
          </a:prstGeom>
          <a:noFill/>
          <a:ln>
            <a:noFill/>
          </a:ln>
        </p:spPr>
        <p:txBody>
          <a:bodyPr anchorCtr="0" anchor="ctr" bIns="27425" lIns="45700" spcFirstLastPara="1" rIns="45700" wrap="square" tIns="27425">
            <a:spAutoFit/>
          </a:bodyPr>
          <a:lstStyle/>
          <a:p>
            <a:pPr indent="0" lvl="0" marL="0" marR="0" rtl="0" algn="r">
              <a:spcBef>
                <a:spcPts val="0"/>
              </a:spcBef>
              <a:spcAft>
                <a:spcPts val="0"/>
              </a:spcAft>
              <a:buNone/>
            </a:pPr>
            <a:r>
              <a:rPr b="0" i="0" lang="en-US" sz="1050" u="none" cap="none" strike="noStrike">
                <a:solidFill>
                  <a:srgbClr val="D9D9D9"/>
                </a:solidFill>
                <a:latin typeface="Calibri"/>
                <a:ea typeface="Calibri"/>
                <a:cs typeface="Calibri"/>
                <a:sym typeface="Calibri"/>
              </a:rPr>
              <a:t>Escuela Colombiana de Ingeniería Julio Garavito · 2026</a:t>
            </a:r>
            <a:endParaRPr/>
          </a:p>
        </p:txBody>
      </p:sp>
      <p:sp>
        <p:nvSpPr>
          <p:cNvPr id="357" name="Google Shape;357;p22"/>
          <p:cNvSpPr txBox="1"/>
          <p:nvPr/>
        </p:nvSpPr>
        <p:spPr>
          <a:xfrm>
            <a:off x="11475720" y="6528816"/>
            <a:ext cx="548640" cy="310896"/>
          </a:xfrm>
          <a:prstGeom prst="rect">
            <a:avLst/>
          </a:prstGeom>
          <a:noFill/>
          <a:ln>
            <a:noFill/>
          </a:ln>
        </p:spPr>
        <p:txBody>
          <a:bodyPr anchorCtr="0" anchor="ctr" bIns="27425" lIns="45700" spcFirstLastPara="1" rIns="45700" wrap="square" tIns="27425">
            <a:spAutoFit/>
          </a:bodyPr>
          <a:lstStyle/>
          <a:p>
            <a:pPr indent="0" lvl="0" marL="0" marR="0" rtl="0" algn="r">
              <a:spcBef>
                <a:spcPts val="0"/>
              </a:spcBef>
              <a:spcAft>
                <a:spcPts val="0"/>
              </a:spcAft>
              <a:buNone/>
            </a:pPr>
            <a:r>
              <a:rPr b="1" i="0" lang="en-US" sz="1100" u="none" cap="none" strike="noStrike">
                <a:solidFill>
                  <a:srgbClr val="FFFFFF"/>
                </a:solidFill>
                <a:latin typeface="Calibri"/>
                <a:ea typeface="Calibri"/>
                <a:cs typeface="Calibri"/>
                <a:sym typeface="Calibri"/>
              </a:rPr>
              <a:t>8</a:t>
            </a:r>
            <a:endParaRPr/>
          </a:p>
        </p:txBody>
      </p:sp>
      <p:sp>
        <p:nvSpPr>
          <p:cNvPr id="358" name="Google Shape;358;p22"/>
          <p:cNvSpPr/>
          <p:nvPr/>
        </p:nvSpPr>
        <p:spPr>
          <a:xfrm>
            <a:off x="548640" y="1371600"/>
            <a:ext cx="2103120" cy="4160520"/>
          </a:xfrm>
          <a:prstGeom prst="roundRect">
            <a:avLst>
              <a:gd fmla="val 6000" name="adj"/>
            </a:avLst>
          </a:prstGeom>
          <a:solidFill>
            <a:srgbClr val="F2F2F2"/>
          </a:solidFill>
          <a:ln cap="flat" cmpd="sng" w="12700">
            <a:solidFill>
              <a:srgbClr val="D0D0D0"/>
            </a:solidFill>
            <a:prstDash val="solid"/>
            <a:miter lim="8000"/>
            <a:headEnd len="sm" w="sm" type="none"/>
            <a:tailEnd len="sm" w="sm" type="none"/>
          </a:ln>
        </p:spPr>
        <p:txBody>
          <a:bodyPr anchorCtr="0" anchor="ctr" bIns="36575" lIns="91425" spcFirstLastPara="1" rIns="91425" wrap="square" tIns="36575">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59" name="Google Shape;359;p22"/>
          <p:cNvSpPr/>
          <p:nvPr/>
        </p:nvSpPr>
        <p:spPr>
          <a:xfrm>
            <a:off x="548640" y="1371600"/>
            <a:ext cx="2103120" cy="868680"/>
          </a:xfrm>
          <a:prstGeom prst="rect">
            <a:avLst/>
          </a:prstGeom>
          <a:solidFill>
            <a:srgbClr val="4A1020"/>
          </a:solidFill>
          <a:ln>
            <a:noFill/>
          </a:ln>
        </p:spPr>
        <p:txBody>
          <a:bodyPr anchorCtr="0" anchor="ctr" bIns="36575" lIns="91425" spcFirstLastPara="1" rIns="91425" wrap="square" tIns="36575">
            <a:noAutofit/>
          </a:bodyPr>
          <a:lstStyle/>
          <a:p>
            <a:pPr indent="0" lvl="0" marL="0" marR="0" rtl="0" algn="ctr">
              <a:spcBef>
                <a:spcPts val="0"/>
              </a:spcBef>
              <a:spcAft>
                <a:spcPts val="0"/>
              </a:spcAft>
              <a:buNone/>
            </a:pPr>
            <a:r>
              <a:rPr b="1" i="0" lang="en-US" sz="1800" u="none" cap="none" strike="noStrike">
                <a:solidFill>
                  <a:srgbClr val="FFFFFF"/>
                </a:solidFill>
                <a:latin typeface="Calibri"/>
                <a:ea typeface="Calibri"/>
                <a:cs typeface="Calibri"/>
                <a:sym typeface="Calibri"/>
              </a:rPr>
              <a:t>1  </a:t>
            </a:r>
            <a:r>
              <a:rPr b="1" i="0" lang="en-US" sz="1400" u="none" cap="none" strike="noStrike">
                <a:solidFill>
                  <a:srgbClr val="FFFFFF"/>
                </a:solidFill>
                <a:latin typeface="Calibri"/>
                <a:ea typeface="Calibri"/>
                <a:cs typeface="Calibri"/>
                <a:sym typeface="Calibri"/>
              </a:rPr>
              <a:t>Filtrado</a:t>
            </a:r>
            <a:endParaRPr/>
          </a:p>
        </p:txBody>
      </p:sp>
      <p:sp>
        <p:nvSpPr>
          <p:cNvPr id="360" name="Google Shape;360;p22"/>
          <p:cNvSpPr txBox="1"/>
          <p:nvPr/>
        </p:nvSpPr>
        <p:spPr>
          <a:xfrm>
            <a:off x="640080" y="2286000"/>
            <a:ext cx="1920240" cy="27432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950" u="none" cap="none" strike="noStrike">
                <a:solidFill>
                  <a:srgbClr val="7B1C2E"/>
                </a:solidFill>
                <a:latin typeface="Calibri"/>
                <a:ea typeface="Calibri"/>
                <a:cs typeface="Calibri"/>
                <a:sym typeface="Calibri"/>
              </a:rPr>
              <a:t>DETERMINISTA</a:t>
            </a:r>
            <a:endParaRPr/>
          </a:p>
        </p:txBody>
      </p:sp>
      <p:sp>
        <p:nvSpPr>
          <p:cNvPr id="361" name="Google Shape;361;p22"/>
          <p:cNvSpPr txBox="1"/>
          <p:nvPr/>
        </p:nvSpPr>
        <p:spPr>
          <a:xfrm>
            <a:off x="640080" y="2560320"/>
            <a:ext cx="1920240" cy="123444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0" i="0" lang="en-US" sz="1200" u="none" cap="none" strike="noStrike">
                <a:solidFill>
                  <a:srgbClr val="262626"/>
                </a:solidFill>
                <a:latin typeface="Calibri"/>
                <a:ea typeface="Calibri"/>
                <a:cs typeface="Calibri"/>
                <a:sym typeface="Calibri"/>
              </a:rPr>
              <a:t>Patrones y regex sobre la entrada y la salida. El más barato: descarta lo obvio primero.</a:t>
            </a:r>
            <a:endParaRPr/>
          </a:p>
        </p:txBody>
      </p:sp>
      <p:sp>
        <p:nvSpPr>
          <p:cNvPr id="362" name="Google Shape;362;p22"/>
          <p:cNvSpPr/>
          <p:nvPr/>
        </p:nvSpPr>
        <p:spPr>
          <a:xfrm>
            <a:off x="658368" y="3840480"/>
            <a:ext cx="1883664" cy="685800"/>
          </a:xfrm>
          <a:prstGeom prst="roundRect">
            <a:avLst>
              <a:gd fmla="val 6000" name="adj"/>
            </a:avLst>
          </a:prstGeom>
          <a:solidFill>
            <a:srgbClr val="FFFFFF"/>
          </a:solidFill>
          <a:ln cap="flat" cmpd="sng" w="12700">
            <a:solidFill>
              <a:srgbClr val="D0D0D0"/>
            </a:solidFill>
            <a:prstDash val="solid"/>
            <a:miter lim="8000"/>
            <a:headEnd len="sm" w="sm" type="none"/>
            <a:tailEnd len="sm" w="sm" type="none"/>
          </a:ln>
        </p:spPr>
        <p:txBody>
          <a:bodyPr anchorCtr="0" anchor="ctr" bIns="36575" lIns="91425" spcFirstLastPara="1" rIns="91425" wrap="square" tIns="36575">
            <a:noAutofit/>
          </a:bodyPr>
          <a:lstStyle/>
          <a:p>
            <a:pPr indent="0" lvl="0" marL="0" marR="0" rtl="0" algn="ctr">
              <a:spcBef>
                <a:spcPts val="0"/>
              </a:spcBef>
              <a:spcAft>
                <a:spcPts val="0"/>
              </a:spcAft>
              <a:buNone/>
            </a:pPr>
            <a:r>
              <a:rPr b="1" i="0" lang="en-US" sz="1800" u="none" cap="none" strike="noStrike">
                <a:solidFill>
                  <a:srgbClr val="4A1020"/>
                </a:solidFill>
                <a:latin typeface="Calibri"/>
                <a:ea typeface="Calibri"/>
                <a:cs typeface="Calibri"/>
                <a:sym typeface="Calibri"/>
              </a:rPr>
              <a:t>0,40 ms</a:t>
            </a:r>
            <a:endParaRPr/>
          </a:p>
          <a:p>
            <a:pPr indent="0" lvl="0" marL="0" marR="0" rtl="0" algn="ctr">
              <a:spcBef>
                <a:spcPts val="0"/>
              </a:spcBef>
              <a:spcAft>
                <a:spcPts val="0"/>
              </a:spcAft>
              <a:buNone/>
            </a:pPr>
            <a:r>
              <a:rPr b="0" i="0" lang="en-US" sz="950" u="none" cap="none" strike="noStrike">
                <a:solidFill>
                  <a:srgbClr val="4A1020"/>
                </a:solidFill>
                <a:latin typeface="Calibri"/>
                <a:ea typeface="Calibri"/>
                <a:cs typeface="Calibri"/>
                <a:sym typeface="Calibri"/>
              </a:rPr>
              <a:t>sobrecosto propio</a:t>
            </a:r>
            <a:endParaRPr/>
          </a:p>
        </p:txBody>
      </p:sp>
      <p:sp>
        <p:nvSpPr>
          <p:cNvPr id="363" name="Google Shape;363;p22"/>
          <p:cNvSpPr txBox="1"/>
          <p:nvPr/>
        </p:nvSpPr>
        <p:spPr>
          <a:xfrm>
            <a:off x="640080" y="4572000"/>
            <a:ext cx="1920240" cy="27432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1050" u="none" cap="none" strike="noStrike">
                <a:solidFill>
                  <a:srgbClr val="595959"/>
                </a:solidFill>
                <a:latin typeface="Calibri"/>
                <a:ea typeface="Calibri"/>
                <a:cs typeface="Calibri"/>
                <a:sym typeface="Calibri"/>
              </a:rPr>
              <a:t>ASR prom. V1–V4: 15,0 %</a:t>
            </a:r>
            <a:endParaRPr/>
          </a:p>
        </p:txBody>
      </p:sp>
      <p:sp>
        <p:nvSpPr>
          <p:cNvPr id="364" name="Google Shape;364;p22"/>
          <p:cNvSpPr txBox="1"/>
          <p:nvPr/>
        </p:nvSpPr>
        <p:spPr>
          <a:xfrm>
            <a:off x="640080" y="4846320"/>
            <a:ext cx="1920240" cy="64008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1100" u="none" cap="none" strike="noStrike">
                <a:solidFill>
                  <a:srgbClr val="7B1C2E"/>
                </a:solidFill>
                <a:latin typeface="Calibri"/>
                <a:ea typeface="Calibri"/>
                <a:cs typeface="Calibri"/>
                <a:sym typeface="Calibri"/>
              </a:rPr>
              <a:t>Reduce V2, V3 y V4 (p ≤ 0,003)</a:t>
            </a:r>
            <a:endParaRPr/>
          </a:p>
        </p:txBody>
      </p:sp>
      <p:sp>
        <p:nvSpPr>
          <p:cNvPr id="365" name="Google Shape;365;p22"/>
          <p:cNvSpPr/>
          <p:nvPr/>
        </p:nvSpPr>
        <p:spPr>
          <a:xfrm>
            <a:off x="2788920" y="1371600"/>
            <a:ext cx="2103120" cy="4160520"/>
          </a:xfrm>
          <a:prstGeom prst="roundRect">
            <a:avLst>
              <a:gd fmla="val 6000" name="adj"/>
            </a:avLst>
          </a:prstGeom>
          <a:solidFill>
            <a:srgbClr val="F2F2F2"/>
          </a:solidFill>
          <a:ln cap="flat" cmpd="sng" w="12700">
            <a:solidFill>
              <a:srgbClr val="D0D0D0"/>
            </a:solidFill>
            <a:prstDash val="solid"/>
            <a:miter lim="8000"/>
            <a:headEnd len="sm" w="sm" type="none"/>
            <a:tailEnd len="sm" w="sm" type="none"/>
          </a:ln>
        </p:spPr>
        <p:txBody>
          <a:bodyPr anchorCtr="0" anchor="ctr" bIns="36575" lIns="91425" spcFirstLastPara="1" rIns="91425" wrap="square" tIns="36575">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66" name="Google Shape;366;p22"/>
          <p:cNvSpPr/>
          <p:nvPr/>
        </p:nvSpPr>
        <p:spPr>
          <a:xfrm>
            <a:off x="2788920" y="1371600"/>
            <a:ext cx="2103120" cy="868680"/>
          </a:xfrm>
          <a:prstGeom prst="rect">
            <a:avLst/>
          </a:prstGeom>
          <a:solidFill>
            <a:srgbClr val="4A1020"/>
          </a:solidFill>
          <a:ln>
            <a:noFill/>
          </a:ln>
        </p:spPr>
        <p:txBody>
          <a:bodyPr anchorCtr="0" anchor="ctr" bIns="36575" lIns="91425" spcFirstLastPara="1" rIns="91425" wrap="square" tIns="36575">
            <a:noAutofit/>
          </a:bodyPr>
          <a:lstStyle/>
          <a:p>
            <a:pPr indent="0" lvl="0" marL="0" marR="0" rtl="0" algn="ctr">
              <a:spcBef>
                <a:spcPts val="0"/>
              </a:spcBef>
              <a:spcAft>
                <a:spcPts val="0"/>
              </a:spcAft>
              <a:buNone/>
            </a:pPr>
            <a:r>
              <a:rPr b="1" i="0" lang="en-US" sz="1800" u="none" cap="none" strike="noStrike">
                <a:solidFill>
                  <a:srgbClr val="FFFFFF"/>
                </a:solidFill>
                <a:latin typeface="Calibri"/>
                <a:ea typeface="Calibri"/>
                <a:cs typeface="Calibri"/>
                <a:sym typeface="Calibri"/>
              </a:rPr>
              <a:t>2  </a:t>
            </a:r>
            <a:r>
              <a:rPr b="1" i="0" lang="en-US" sz="1400" u="none" cap="none" strike="noStrike">
                <a:solidFill>
                  <a:srgbClr val="FFFFFF"/>
                </a:solidFill>
                <a:latin typeface="Calibri"/>
                <a:ea typeface="Calibri"/>
                <a:cs typeface="Calibri"/>
                <a:sym typeface="Calibri"/>
              </a:rPr>
              <a:t>Delimitación</a:t>
            </a:r>
            <a:endParaRPr/>
          </a:p>
        </p:txBody>
      </p:sp>
      <p:sp>
        <p:nvSpPr>
          <p:cNvPr id="367" name="Google Shape;367;p22"/>
          <p:cNvSpPr txBox="1"/>
          <p:nvPr/>
        </p:nvSpPr>
        <p:spPr>
          <a:xfrm>
            <a:off x="2880360" y="2286000"/>
            <a:ext cx="1920240" cy="27432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950" u="none" cap="none" strike="noStrike">
                <a:solidFill>
                  <a:srgbClr val="7B1C2E"/>
                </a:solidFill>
                <a:latin typeface="Calibri"/>
                <a:ea typeface="Calibri"/>
                <a:cs typeface="Calibri"/>
                <a:sym typeface="Calibri"/>
              </a:rPr>
              <a:t>DETERMINISTA</a:t>
            </a:r>
            <a:endParaRPr/>
          </a:p>
        </p:txBody>
      </p:sp>
      <p:sp>
        <p:nvSpPr>
          <p:cNvPr id="368" name="Google Shape;368;p22"/>
          <p:cNvSpPr txBox="1"/>
          <p:nvPr/>
        </p:nvSpPr>
        <p:spPr>
          <a:xfrm>
            <a:off x="2880360" y="2560320"/>
            <a:ext cx="1920240" cy="123444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0" i="0" lang="en-US" sz="1200" u="none" cap="none" strike="noStrike">
                <a:solidFill>
                  <a:srgbClr val="262626"/>
                </a:solidFill>
                <a:latin typeface="Calibri"/>
                <a:ea typeface="Calibri"/>
                <a:cs typeface="Calibri"/>
                <a:sym typeface="Calibri"/>
              </a:rPr>
              <a:t>Spotlighting: marca el dato del usuario con un token aleatorio por petición. No bloquea.</a:t>
            </a:r>
            <a:endParaRPr/>
          </a:p>
        </p:txBody>
      </p:sp>
      <p:sp>
        <p:nvSpPr>
          <p:cNvPr id="369" name="Google Shape;369;p22"/>
          <p:cNvSpPr/>
          <p:nvPr/>
        </p:nvSpPr>
        <p:spPr>
          <a:xfrm>
            <a:off x="2898648" y="3840480"/>
            <a:ext cx="1883664" cy="685800"/>
          </a:xfrm>
          <a:prstGeom prst="roundRect">
            <a:avLst>
              <a:gd fmla="val 6000" name="adj"/>
            </a:avLst>
          </a:prstGeom>
          <a:solidFill>
            <a:srgbClr val="FFFFFF"/>
          </a:solidFill>
          <a:ln cap="flat" cmpd="sng" w="12700">
            <a:solidFill>
              <a:srgbClr val="D0D0D0"/>
            </a:solidFill>
            <a:prstDash val="solid"/>
            <a:miter lim="8000"/>
            <a:headEnd len="sm" w="sm" type="none"/>
            <a:tailEnd len="sm" w="sm" type="none"/>
          </a:ln>
        </p:spPr>
        <p:txBody>
          <a:bodyPr anchorCtr="0" anchor="ctr" bIns="36575" lIns="91425" spcFirstLastPara="1" rIns="91425" wrap="square" tIns="36575">
            <a:noAutofit/>
          </a:bodyPr>
          <a:lstStyle/>
          <a:p>
            <a:pPr indent="0" lvl="0" marL="0" marR="0" rtl="0" algn="ctr">
              <a:spcBef>
                <a:spcPts val="0"/>
              </a:spcBef>
              <a:spcAft>
                <a:spcPts val="0"/>
              </a:spcAft>
              <a:buNone/>
            </a:pPr>
            <a:r>
              <a:rPr b="1" i="0" lang="en-US" sz="1800" u="none" cap="none" strike="noStrike">
                <a:solidFill>
                  <a:srgbClr val="4A1020"/>
                </a:solidFill>
                <a:latin typeface="Calibri"/>
                <a:ea typeface="Calibri"/>
                <a:cs typeface="Calibri"/>
                <a:sym typeface="Calibri"/>
              </a:rPr>
              <a:t>0,29 ms</a:t>
            </a:r>
            <a:endParaRPr/>
          </a:p>
          <a:p>
            <a:pPr indent="0" lvl="0" marL="0" marR="0" rtl="0" algn="ctr">
              <a:spcBef>
                <a:spcPts val="0"/>
              </a:spcBef>
              <a:spcAft>
                <a:spcPts val="0"/>
              </a:spcAft>
              <a:buNone/>
            </a:pPr>
            <a:r>
              <a:rPr b="0" i="0" lang="en-US" sz="950" u="none" cap="none" strike="noStrike">
                <a:solidFill>
                  <a:srgbClr val="4A1020"/>
                </a:solidFill>
                <a:latin typeface="Calibri"/>
                <a:ea typeface="Calibri"/>
                <a:cs typeface="Calibri"/>
                <a:sym typeface="Calibri"/>
              </a:rPr>
              <a:t>sobrecosto propio</a:t>
            </a:r>
            <a:endParaRPr/>
          </a:p>
        </p:txBody>
      </p:sp>
      <p:sp>
        <p:nvSpPr>
          <p:cNvPr id="370" name="Google Shape;370;p22"/>
          <p:cNvSpPr txBox="1"/>
          <p:nvPr/>
        </p:nvSpPr>
        <p:spPr>
          <a:xfrm>
            <a:off x="2880360" y="4572000"/>
            <a:ext cx="1920240" cy="27432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1050" u="none" cap="none" strike="noStrike">
                <a:solidFill>
                  <a:srgbClr val="595959"/>
                </a:solidFill>
                <a:latin typeface="Calibri"/>
                <a:ea typeface="Calibri"/>
                <a:cs typeface="Calibri"/>
                <a:sym typeface="Calibri"/>
              </a:rPr>
              <a:t>ASR prom. V1–V4: 19,7 %</a:t>
            </a:r>
            <a:endParaRPr/>
          </a:p>
        </p:txBody>
      </p:sp>
      <p:sp>
        <p:nvSpPr>
          <p:cNvPr id="371" name="Google Shape;371;p22"/>
          <p:cNvSpPr txBox="1"/>
          <p:nvPr/>
        </p:nvSpPr>
        <p:spPr>
          <a:xfrm>
            <a:off x="2880360" y="4846320"/>
            <a:ext cx="1920240" cy="64008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1100" u="none" cap="none" strike="noStrike">
                <a:solidFill>
                  <a:srgbClr val="7B1C2E"/>
                </a:solidFill>
                <a:latin typeface="Calibri"/>
                <a:ea typeface="Calibri"/>
                <a:cs typeface="Calibri"/>
                <a:sym typeface="Calibri"/>
              </a:rPr>
              <a:t>No concluyente en inyección</a:t>
            </a:r>
            <a:endParaRPr/>
          </a:p>
        </p:txBody>
      </p:sp>
      <p:sp>
        <p:nvSpPr>
          <p:cNvPr id="372" name="Google Shape;372;p22"/>
          <p:cNvSpPr/>
          <p:nvPr/>
        </p:nvSpPr>
        <p:spPr>
          <a:xfrm>
            <a:off x="5029200" y="1371600"/>
            <a:ext cx="2103120" cy="4160520"/>
          </a:xfrm>
          <a:prstGeom prst="roundRect">
            <a:avLst>
              <a:gd fmla="val 6000" name="adj"/>
            </a:avLst>
          </a:prstGeom>
          <a:solidFill>
            <a:srgbClr val="F2F2F2"/>
          </a:solidFill>
          <a:ln cap="flat" cmpd="sng" w="25400">
            <a:solidFill>
              <a:srgbClr val="7B1C2E"/>
            </a:solidFill>
            <a:prstDash val="solid"/>
            <a:miter lim="8000"/>
            <a:headEnd len="sm" w="sm" type="none"/>
            <a:tailEnd len="sm" w="sm" type="none"/>
          </a:ln>
        </p:spPr>
        <p:txBody>
          <a:bodyPr anchorCtr="0" anchor="ctr" bIns="36575" lIns="91425" spcFirstLastPara="1" rIns="91425" wrap="square" tIns="36575">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73" name="Google Shape;373;p22"/>
          <p:cNvSpPr/>
          <p:nvPr/>
        </p:nvSpPr>
        <p:spPr>
          <a:xfrm>
            <a:off x="5029200" y="1371600"/>
            <a:ext cx="2103120" cy="868680"/>
          </a:xfrm>
          <a:prstGeom prst="rect">
            <a:avLst/>
          </a:prstGeom>
          <a:solidFill>
            <a:srgbClr val="7B1C2E"/>
          </a:solidFill>
          <a:ln>
            <a:noFill/>
          </a:ln>
        </p:spPr>
        <p:txBody>
          <a:bodyPr anchorCtr="0" anchor="ctr" bIns="36575" lIns="91425" spcFirstLastPara="1" rIns="91425" wrap="square" tIns="36575">
            <a:noAutofit/>
          </a:bodyPr>
          <a:lstStyle/>
          <a:p>
            <a:pPr indent="0" lvl="0" marL="0" marR="0" rtl="0" algn="ctr">
              <a:spcBef>
                <a:spcPts val="0"/>
              </a:spcBef>
              <a:spcAft>
                <a:spcPts val="0"/>
              </a:spcAft>
              <a:buNone/>
            </a:pPr>
            <a:r>
              <a:rPr b="1" i="0" lang="en-US" sz="1800" u="none" cap="none" strike="noStrike">
                <a:solidFill>
                  <a:srgbClr val="FFFFFF"/>
                </a:solidFill>
                <a:latin typeface="Calibri"/>
                <a:ea typeface="Calibri"/>
                <a:cs typeface="Calibri"/>
                <a:sym typeface="Calibri"/>
              </a:rPr>
              <a:t>3  </a:t>
            </a:r>
            <a:r>
              <a:rPr b="1" i="0" lang="en-US" sz="1400" u="none" cap="none" strike="noStrike">
                <a:solidFill>
                  <a:srgbClr val="FFFFFF"/>
                </a:solidFill>
                <a:latin typeface="Calibri"/>
                <a:ea typeface="Calibri"/>
                <a:cs typeface="Calibri"/>
                <a:sym typeface="Calibri"/>
              </a:rPr>
              <a:t>Clasificación</a:t>
            </a:r>
            <a:endParaRPr/>
          </a:p>
        </p:txBody>
      </p:sp>
      <p:sp>
        <p:nvSpPr>
          <p:cNvPr id="374" name="Google Shape;374;p22"/>
          <p:cNvSpPr txBox="1"/>
          <p:nvPr/>
        </p:nvSpPr>
        <p:spPr>
          <a:xfrm>
            <a:off x="5120640" y="2286000"/>
            <a:ext cx="1920240" cy="27432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950" u="none" cap="none" strike="noStrike">
                <a:solidFill>
                  <a:srgbClr val="7B1C2E"/>
                </a:solidFill>
                <a:latin typeface="Calibri"/>
                <a:ea typeface="Calibri"/>
                <a:cs typeface="Calibri"/>
                <a:sym typeface="Calibri"/>
              </a:rPr>
              <a:t>PROBABILÍSTICO (IA)</a:t>
            </a:r>
            <a:endParaRPr/>
          </a:p>
        </p:txBody>
      </p:sp>
      <p:sp>
        <p:nvSpPr>
          <p:cNvPr id="375" name="Google Shape;375;p22"/>
          <p:cNvSpPr txBox="1"/>
          <p:nvPr/>
        </p:nvSpPr>
        <p:spPr>
          <a:xfrm>
            <a:off x="5120640" y="2560320"/>
            <a:ext cx="1920240" cy="123444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0" i="0" lang="en-US" sz="1200" u="none" cap="none" strike="noStrike">
                <a:solidFill>
                  <a:srgbClr val="262626"/>
                </a:solidFill>
                <a:latin typeface="Calibri"/>
                <a:ea typeface="Calibri"/>
                <a:cs typeface="Calibri"/>
                <a:sym typeface="Calibri"/>
              </a:rPr>
              <a:t>Prompt Guard 2 en la entrada y Llama Guard 3 en la salida. Falla cerrada.</a:t>
            </a:r>
            <a:endParaRPr/>
          </a:p>
        </p:txBody>
      </p:sp>
      <p:sp>
        <p:nvSpPr>
          <p:cNvPr id="376" name="Google Shape;376;p22"/>
          <p:cNvSpPr/>
          <p:nvPr/>
        </p:nvSpPr>
        <p:spPr>
          <a:xfrm>
            <a:off x="5138928" y="3840480"/>
            <a:ext cx="1883664" cy="685800"/>
          </a:xfrm>
          <a:prstGeom prst="roundRect">
            <a:avLst>
              <a:gd fmla="val 6000" name="adj"/>
            </a:avLst>
          </a:prstGeom>
          <a:solidFill>
            <a:srgbClr val="FFFFFF"/>
          </a:solidFill>
          <a:ln cap="flat" cmpd="sng" w="12700">
            <a:solidFill>
              <a:srgbClr val="D0D0D0"/>
            </a:solidFill>
            <a:prstDash val="solid"/>
            <a:miter lim="8000"/>
            <a:headEnd len="sm" w="sm" type="none"/>
            <a:tailEnd len="sm" w="sm" type="none"/>
          </a:ln>
        </p:spPr>
        <p:txBody>
          <a:bodyPr anchorCtr="0" anchor="ctr" bIns="36575" lIns="91425" spcFirstLastPara="1" rIns="91425" wrap="square" tIns="36575">
            <a:noAutofit/>
          </a:bodyPr>
          <a:lstStyle/>
          <a:p>
            <a:pPr indent="0" lvl="0" marL="0" marR="0" rtl="0" algn="ctr">
              <a:spcBef>
                <a:spcPts val="0"/>
              </a:spcBef>
              <a:spcAft>
                <a:spcPts val="0"/>
              </a:spcAft>
              <a:buNone/>
            </a:pPr>
            <a:r>
              <a:rPr b="1" i="0" lang="en-US" sz="1800" u="none" cap="none" strike="noStrike">
                <a:solidFill>
                  <a:srgbClr val="4A1020"/>
                </a:solidFill>
                <a:latin typeface="Calibri"/>
                <a:ea typeface="Calibri"/>
                <a:cs typeface="Calibri"/>
                <a:sym typeface="Calibri"/>
              </a:rPr>
              <a:t>76,6 ms</a:t>
            </a:r>
            <a:endParaRPr/>
          </a:p>
          <a:p>
            <a:pPr indent="0" lvl="0" marL="0" marR="0" rtl="0" algn="ctr">
              <a:spcBef>
                <a:spcPts val="0"/>
              </a:spcBef>
              <a:spcAft>
                <a:spcPts val="0"/>
              </a:spcAft>
              <a:buNone/>
            </a:pPr>
            <a:r>
              <a:rPr b="0" i="0" lang="en-US" sz="950" u="none" cap="none" strike="noStrike">
                <a:solidFill>
                  <a:srgbClr val="4A1020"/>
                </a:solidFill>
                <a:latin typeface="Calibri"/>
                <a:ea typeface="Calibri"/>
                <a:cs typeface="Calibri"/>
                <a:sym typeface="Calibri"/>
              </a:rPr>
              <a:t>sobrecosto propio</a:t>
            </a:r>
            <a:endParaRPr/>
          </a:p>
        </p:txBody>
      </p:sp>
      <p:sp>
        <p:nvSpPr>
          <p:cNvPr id="377" name="Google Shape;377;p22"/>
          <p:cNvSpPr txBox="1"/>
          <p:nvPr/>
        </p:nvSpPr>
        <p:spPr>
          <a:xfrm>
            <a:off x="5120640" y="4572000"/>
            <a:ext cx="1920240" cy="27432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1050" u="none" cap="none" strike="noStrike">
                <a:solidFill>
                  <a:srgbClr val="595959"/>
                </a:solidFill>
                <a:latin typeface="Calibri"/>
                <a:ea typeface="Calibri"/>
                <a:cs typeface="Calibri"/>
                <a:sym typeface="Calibri"/>
              </a:rPr>
              <a:t>ASR prom. V1–V4: 28,6 %</a:t>
            </a:r>
            <a:endParaRPr/>
          </a:p>
        </p:txBody>
      </p:sp>
      <p:sp>
        <p:nvSpPr>
          <p:cNvPr id="378" name="Google Shape;378;p22"/>
          <p:cNvSpPr txBox="1"/>
          <p:nvPr/>
        </p:nvSpPr>
        <p:spPr>
          <a:xfrm>
            <a:off x="5120640" y="4846320"/>
            <a:ext cx="1920240" cy="64008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1100" u="none" cap="none" strike="noStrike">
                <a:solidFill>
                  <a:srgbClr val="7B1C2E"/>
                </a:solidFill>
                <a:latin typeface="Calibri"/>
                <a:ea typeface="Calibri"/>
                <a:cs typeface="Calibri"/>
                <a:sym typeface="Calibri"/>
              </a:rPr>
              <a:t>Sin reducción de fuga distinguible</a:t>
            </a:r>
            <a:endParaRPr/>
          </a:p>
        </p:txBody>
      </p:sp>
      <p:sp>
        <p:nvSpPr>
          <p:cNvPr id="379" name="Google Shape;379;p22"/>
          <p:cNvSpPr/>
          <p:nvPr/>
        </p:nvSpPr>
        <p:spPr>
          <a:xfrm>
            <a:off x="7269480" y="1371600"/>
            <a:ext cx="2103120" cy="4160520"/>
          </a:xfrm>
          <a:prstGeom prst="roundRect">
            <a:avLst>
              <a:gd fmla="val 6000" name="adj"/>
            </a:avLst>
          </a:prstGeom>
          <a:solidFill>
            <a:srgbClr val="F2F2F2"/>
          </a:solidFill>
          <a:ln cap="flat" cmpd="sng" w="12700">
            <a:solidFill>
              <a:srgbClr val="D0D0D0"/>
            </a:solidFill>
            <a:prstDash val="solid"/>
            <a:miter lim="8000"/>
            <a:headEnd len="sm" w="sm" type="none"/>
            <a:tailEnd len="sm" w="sm" type="none"/>
          </a:ln>
        </p:spPr>
        <p:txBody>
          <a:bodyPr anchorCtr="0" anchor="ctr" bIns="36575" lIns="91425" spcFirstLastPara="1" rIns="91425" wrap="square" tIns="36575">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80" name="Google Shape;380;p22"/>
          <p:cNvSpPr/>
          <p:nvPr/>
        </p:nvSpPr>
        <p:spPr>
          <a:xfrm>
            <a:off x="7269480" y="1371600"/>
            <a:ext cx="2103120" cy="868680"/>
          </a:xfrm>
          <a:prstGeom prst="rect">
            <a:avLst/>
          </a:prstGeom>
          <a:solidFill>
            <a:srgbClr val="4A1020"/>
          </a:solidFill>
          <a:ln>
            <a:noFill/>
          </a:ln>
        </p:spPr>
        <p:txBody>
          <a:bodyPr anchorCtr="0" anchor="ctr" bIns="36575" lIns="91425" spcFirstLastPara="1" rIns="91425" wrap="square" tIns="36575">
            <a:noAutofit/>
          </a:bodyPr>
          <a:lstStyle/>
          <a:p>
            <a:pPr indent="0" lvl="0" marL="0" marR="0" rtl="0" algn="ctr">
              <a:spcBef>
                <a:spcPts val="0"/>
              </a:spcBef>
              <a:spcAft>
                <a:spcPts val="0"/>
              </a:spcAft>
              <a:buNone/>
            </a:pPr>
            <a:r>
              <a:rPr b="1" i="0" lang="en-US" sz="1800" u="none" cap="none" strike="noStrike">
                <a:solidFill>
                  <a:srgbClr val="FFFFFF"/>
                </a:solidFill>
                <a:latin typeface="Calibri"/>
                <a:ea typeface="Calibri"/>
                <a:cs typeface="Calibri"/>
                <a:sym typeface="Calibri"/>
              </a:rPr>
              <a:t>4  </a:t>
            </a:r>
            <a:r>
              <a:rPr b="1" i="0" lang="en-US" sz="1400" u="none" cap="none" strike="noStrike">
                <a:solidFill>
                  <a:srgbClr val="FFFFFF"/>
                </a:solidFill>
                <a:latin typeface="Calibri"/>
                <a:ea typeface="Calibri"/>
                <a:cs typeface="Calibri"/>
                <a:sym typeface="Calibri"/>
              </a:rPr>
              <a:t>Mínimo privilegio</a:t>
            </a:r>
            <a:endParaRPr/>
          </a:p>
        </p:txBody>
      </p:sp>
      <p:sp>
        <p:nvSpPr>
          <p:cNvPr id="381" name="Google Shape;381;p22"/>
          <p:cNvSpPr txBox="1"/>
          <p:nvPr/>
        </p:nvSpPr>
        <p:spPr>
          <a:xfrm>
            <a:off x="7360920" y="2286000"/>
            <a:ext cx="1920240" cy="27432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950" u="none" cap="none" strike="noStrike">
                <a:solidFill>
                  <a:srgbClr val="7B1C2E"/>
                </a:solidFill>
                <a:latin typeface="Calibri"/>
                <a:ea typeface="Calibri"/>
                <a:cs typeface="Calibri"/>
                <a:sym typeface="Calibri"/>
              </a:rPr>
              <a:t>DETERMINISTA</a:t>
            </a:r>
            <a:endParaRPr/>
          </a:p>
        </p:txBody>
      </p:sp>
      <p:sp>
        <p:nvSpPr>
          <p:cNvPr id="382" name="Google Shape;382;p22"/>
          <p:cNvSpPr txBox="1"/>
          <p:nvPr/>
        </p:nvSpPr>
        <p:spPr>
          <a:xfrm>
            <a:off x="7360920" y="2560320"/>
            <a:ext cx="1920240" cy="123444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0" i="0" lang="en-US" sz="1200" u="none" cap="none" strike="noStrike">
                <a:solidFill>
                  <a:srgbClr val="262626"/>
                </a:solidFill>
                <a:latin typeface="Calibri"/>
                <a:ea typeface="Calibri"/>
                <a:cs typeface="Calibri"/>
                <a:sym typeface="Calibri"/>
              </a:rPr>
              <a:t>Rechaza el uso de la credencial de otro dominio. Deja pasar la extracción, bloquea el uso.</a:t>
            </a:r>
            <a:endParaRPr/>
          </a:p>
        </p:txBody>
      </p:sp>
      <p:sp>
        <p:nvSpPr>
          <p:cNvPr id="383" name="Google Shape;383;p22"/>
          <p:cNvSpPr/>
          <p:nvPr/>
        </p:nvSpPr>
        <p:spPr>
          <a:xfrm>
            <a:off x="7379208" y="3840480"/>
            <a:ext cx="1883664" cy="685800"/>
          </a:xfrm>
          <a:prstGeom prst="roundRect">
            <a:avLst>
              <a:gd fmla="val 6000" name="adj"/>
            </a:avLst>
          </a:prstGeom>
          <a:solidFill>
            <a:srgbClr val="FFFFFF"/>
          </a:solidFill>
          <a:ln cap="flat" cmpd="sng" w="12700">
            <a:solidFill>
              <a:srgbClr val="D0D0D0"/>
            </a:solidFill>
            <a:prstDash val="solid"/>
            <a:miter lim="8000"/>
            <a:headEnd len="sm" w="sm" type="none"/>
            <a:tailEnd len="sm" w="sm" type="none"/>
          </a:ln>
        </p:spPr>
        <p:txBody>
          <a:bodyPr anchorCtr="0" anchor="ctr" bIns="36575" lIns="91425" spcFirstLastPara="1" rIns="91425" wrap="square" tIns="36575">
            <a:noAutofit/>
          </a:bodyPr>
          <a:lstStyle/>
          <a:p>
            <a:pPr indent="0" lvl="0" marL="0" marR="0" rtl="0" algn="ctr">
              <a:spcBef>
                <a:spcPts val="0"/>
              </a:spcBef>
              <a:spcAft>
                <a:spcPts val="0"/>
              </a:spcAft>
              <a:buNone/>
            </a:pPr>
            <a:r>
              <a:rPr b="1" i="0" lang="en-US" sz="1800" u="none" cap="none" strike="noStrike">
                <a:solidFill>
                  <a:srgbClr val="4A1020"/>
                </a:solidFill>
                <a:latin typeface="Calibri"/>
                <a:ea typeface="Calibri"/>
                <a:cs typeface="Calibri"/>
                <a:sym typeface="Calibri"/>
              </a:rPr>
              <a:t>0,46 ms</a:t>
            </a:r>
            <a:endParaRPr/>
          </a:p>
          <a:p>
            <a:pPr indent="0" lvl="0" marL="0" marR="0" rtl="0" algn="ctr">
              <a:spcBef>
                <a:spcPts val="0"/>
              </a:spcBef>
              <a:spcAft>
                <a:spcPts val="0"/>
              </a:spcAft>
              <a:buNone/>
            </a:pPr>
            <a:r>
              <a:rPr b="0" i="0" lang="en-US" sz="950" u="none" cap="none" strike="noStrike">
                <a:solidFill>
                  <a:srgbClr val="4A1020"/>
                </a:solidFill>
                <a:latin typeface="Calibri"/>
                <a:ea typeface="Calibri"/>
                <a:cs typeface="Calibri"/>
                <a:sym typeface="Calibri"/>
              </a:rPr>
              <a:t>sobrecosto propio</a:t>
            </a:r>
            <a:endParaRPr/>
          </a:p>
        </p:txBody>
      </p:sp>
      <p:sp>
        <p:nvSpPr>
          <p:cNvPr id="384" name="Google Shape;384;p22"/>
          <p:cNvSpPr txBox="1"/>
          <p:nvPr/>
        </p:nvSpPr>
        <p:spPr>
          <a:xfrm>
            <a:off x="7360920" y="4572000"/>
            <a:ext cx="1920240" cy="27432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1050" u="none" cap="none" strike="noStrike">
                <a:solidFill>
                  <a:srgbClr val="595959"/>
                </a:solidFill>
                <a:latin typeface="Calibri"/>
                <a:ea typeface="Calibri"/>
                <a:cs typeface="Calibri"/>
                <a:sym typeface="Calibri"/>
              </a:rPr>
              <a:t>ASR prom. V1–V4: 28,2 %</a:t>
            </a:r>
            <a:endParaRPr/>
          </a:p>
        </p:txBody>
      </p:sp>
      <p:sp>
        <p:nvSpPr>
          <p:cNvPr id="385" name="Google Shape;385;p22"/>
          <p:cNvSpPr txBox="1"/>
          <p:nvPr/>
        </p:nvSpPr>
        <p:spPr>
          <a:xfrm>
            <a:off x="7360920" y="4846320"/>
            <a:ext cx="1920240" cy="64008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1100" u="none" cap="none" strike="noStrike">
                <a:solidFill>
                  <a:srgbClr val="7B1C2E"/>
                </a:solidFill>
                <a:latin typeface="Calibri"/>
                <a:ea typeface="Calibri"/>
                <a:cs typeface="Calibri"/>
                <a:sym typeface="Calibri"/>
              </a:rPr>
              <a:t>V4 completo: 12/39 → 0/39</a:t>
            </a:r>
            <a:endParaRPr/>
          </a:p>
        </p:txBody>
      </p:sp>
      <p:sp>
        <p:nvSpPr>
          <p:cNvPr id="386" name="Google Shape;386;p22"/>
          <p:cNvSpPr/>
          <p:nvPr/>
        </p:nvSpPr>
        <p:spPr>
          <a:xfrm>
            <a:off x="9509760" y="1371600"/>
            <a:ext cx="2103120" cy="4160520"/>
          </a:xfrm>
          <a:prstGeom prst="roundRect">
            <a:avLst>
              <a:gd fmla="val 6000" name="adj"/>
            </a:avLst>
          </a:prstGeom>
          <a:solidFill>
            <a:srgbClr val="F2F2F2"/>
          </a:solidFill>
          <a:ln cap="flat" cmpd="sng" w="12700">
            <a:solidFill>
              <a:srgbClr val="D0D0D0"/>
            </a:solidFill>
            <a:prstDash val="solid"/>
            <a:miter lim="8000"/>
            <a:headEnd len="sm" w="sm" type="none"/>
            <a:tailEnd len="sm" w="sm" type="none"/>
          </a:ln>
        </p:spPr>
        <p:txBody>
          <a:bodyPr anchorCtr="0" anchor="ctr" bIns="36575" lIns="91425" spcFirstLastPara="1" rIns="91425" wrap="square" tIns="36575">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87" name="Google Shape;387;p22"/>
          <p:cNvSpPr/>
          <p:nvPr/>
        </p:nvSpPr>
        <p:spPr>
          <a:xfrm>
            <a:off x="9509760" y="1371600"/>
            <a:ext cx="2103120" cy="868680"/>
          </a:xfrm>
          <a:prstGeom prst="rect">
            <a:avLst/>
          </a:prstGeom>
          <a:solidFill>
            <a:srgbClr val="4A1020"/>
          </a:solidFill>
          <a:ln>
            <a:noFill/>
          </a:ln>
        </p:spPr>
        <p:txBody>
          <a:bodyPr anchorCtr="0" anchor="ctr" bIns="36575" lIns="91425" spcFirstLastPara="1" rIns="91425" wrap="square" tIns="36575">
            <a:noAutofit/>
          </a:bodyPr>
          <a:lstStyle/>
          <a:p>
            <a:pPr indent="0" lvl="0" marL="0" marR="0" rtl="0" algn="ctr">
              <a:spcBef>
                <a:spcPts val="0"/>
              </a:spcBef>
              <a:spcAft>
                <a:spcPts val="0"/>
              </a:spcAft>
              <a:buNone/>
            </a:pPr>
            <a:r>
              <a:rPr b="1" i="0" lang="en-US" sz="1800" u="none" cap="none" strike="noStrike">
                <a:solidFill>
                  <a:srgbClr val="FFFFFF"/>
                </a:solidFill>
                <a:latin typeface="Calibri"/>
                <a:ea typeface="Calibri"/>
                <a:cs typeface="Calibri"/>
                <a:sym typeface="Calibri"/>
              </a:rPr>
              <a:t>5  </a:t>
            </a:r>
            <a:r>
              <a:rPr b="1" i="0" lang="en-US" sz="1400" u="none" cap="none" strike="noStrike">
                <a:solidFill>
                  <a:srgbClr val="FFFFFF"/>
                </a:solidFill>
                <a:latin typeface="Calibri"/>
                <a:ea typeface="Calibri"/>
                <a:cs typeface="Calibri"/>
                <a:sym typeface="Calibri"/>
              </a:rPr>
              <a:t>Aprobación humana + límite</a:t>
            </a:r>
            <a:endParaRPr/>
          </a:p>
        </p:txBody>
      </p:sp>
      <p:sp>
        <p:nvSpPr>
          <p:cNvPr id="388" name="Google Shape;388;p22"/>
          <p:cNvSpPr txBox="1"/>
          <p:nvPr/>
        </p:nvSpPr>
        <p:spPr>
          <a:xfrm>
            <a:off x="9601200" y="2286000"/>
            <a:ext cx="1920240" cy="27432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950" u="none" cap="none" strike="noStrike">
                <a:solidFill>
                  <a:srgbClr val="7B1C2E"/>
                </a:solidFill>
                <a:latin typeface="Calibri"/>
                <a:ea typeface="Calibri"/>
                <a:cs typeface="Calibri"/>
                <a:sym typeface="Calibri"/>
              </a:rPr>
              <a:t>HUMANO EN EL BUCLE</a:t>
            </a:r>
            <a:endParaRPr/>
          </a:p>
        </p:txBody>
      </p:sp>
      <p:sp>
        <p:nvSpPr>
          <p:cNvPr id="389" name="Google Shape;389;p22"/>
          <p:cNvSpPr txBox="1"/>
          <p:nvPr/>
        </p:nvSpPr>
        <p:spPr>
          <a:xfrm>
            <a:off x="9601200" y="2560320"/>
            <a:ext cx="1920240" cy="123444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0" i="0" lang="en-US" sz="1200" u="none" cap="none" strike="noStrike">
                <a:solidFill>
                  <a:srgbClr val="262626"/>
                </a:solidFill>
                <a:latin typeface="Calibri"/>
                <a:ea typeface="Calibri"/>
                <a:cs typeface="Calibri"/>
                <a:sym typeface="Calibri"/>
              </a:rPr>
              <a:t>Límite de 10 peticiones por minuto; encola (429) lo bloqueado en vez de rechazarlo.</a:t>
            </a:r>
            <a:endParaRPr/>
          </a:p>
        </p:txBody>
      </p:sp>
      <p:sp>
        <p:nvSpPr>
          <p:cNvPr id="390" name="Google Shape;390;p22"/>
          <p:cNvSpPr/>
          <p:nvPr/>
        </p:nvSpPr>
        <p:spPr>
          <a:xfrm>
            <a:off x="9619488" y="3840480"/>
            <a:ext cx="1883664" cy="685800"/>
          </a:xfrm>
          <a:prstGeom prst="roundRect">
            <a:avLst>
              <a:gd fmla="val 6000" name="adj"/>
            </a:avLst>
          </a:prstGeom>
          <a:solidFill>
            <a:srgbClr val="FFFFFF"/>
          </a:solidFill>
          <a:ln cap="flat" cmpd="sng" w="12700">
            <a:solidFill>
              <a:srgbClr val="D0D0D0"/>
            </a:solidFill>
            <a:prstDash val="solid"/>
            <a:miter lim="8000"/>
            <a:headEnd len="sm" w="sm" type="none"/>
            <a:tailEnd len="sm" w="sm" type="none"/>
          </a:ln>
        </p:spPr>
        <p:txBody>
          <a:bodyPr anchorCtr="0" anchor="ctr" bIns="36575" lIns="91425" spcFirstLastPara="1" rIns="91425" wrap="square" tIns="36575">
            <a:noAutofit/>
          </a:bodyPr>
          <a:lstStyle/>
          <a:p>
            <a:pPr indent="0" lvl="0" marL="0" marR="0" rtl="0" algn="ctr">
              <a:spcBef>
                <a:spcPts val="0"/>
              </a:spcBef>
              <a:spcAft>
                <a:spcPts val="0"/>
              </a:spcAft>
              <a:buNone/>
            </a:pPr>
            <a:r>
              <a:rPr b="1" i="0" lang="en-US" sz="1800" u="none" cap="none" strike="noStrike">
                <a:solidFill>
                  <a:srgbClr val="4A1020"/>
                </a:solidFill>
                <a:latin typeface="Calibri"/>
                <a:ea typeface="Calibri"/>
                <a:cs typeface="Calibri"/>
                <a:sym typeface="Calibri"/>
              </a:rPr>
              <a:t>0,35 ms</a:t>
            </a:r>
            <a:endParaRPr/>
          </a:p>
          <a:p>
            <a:pPr indent="0" lvl="0" marL="0" marR="0" rtl="0" algn="ctr">
              <a:spcBef>
                <a:spcPts val="0"/>
              </a:spcBef>
              <a:spcAft>
                <a:spcPts val="0"/>
              </a:spcAft>
              <a:buNone/>
            </a:pPr>
            <a:r>
              <a:rPr b="0" i="0" lang="en-US" sz="950" u="none" cap="none" strike="noStrike">
                <a:solidFill>
                  <a:srgbClr val="4A1020"/>
                </a:solidFill>
                <a:latin typeface="Calibri"/>
                <a:ea typeface="Calibri"/>
                <a:cs typeface="Calibri"/>
                <a:sym typeface="Calibri"/>
              </a:rPr>
              <a:t>sobrecosto propio</a:t>
            </a:r>
            <a:endParaRPr/>
          </a:p>
        </p:txBody>
      </p:sp>
      <p:sp>
        <p:nvSpPr>
          <p:cNvPr id="391" name="Google Shape;391;p22"/>
          <p:cNvSpPr txBox="1"/>
          <p:nvPr/>
        </p:nvSpPr>
        <p:spPr>
          <a:xfrm>
            <a:off x="9601200" y="4572000"/>
            <a:ext cx="1920240" cy="27432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1050" u="none" cap="none" strike="noStrike">
                <a:solidFill>
                  <a:srgbClr val="595959"/>
                </a:solidFill>
                <a:latin typeface="Calibri"/>
                <a:ea typeface="Calibri"/>
                <a:cs typeface="Calibri"/>
                <a:sym typeface="Calibri"/>
              </a:rPr>
              <a:t>ASR prom. V1–V4: 32,4 %</a:t>
            </a:r>
            <a:endParaRPr/>
          </a:p>
        </p:txBody>
      </p:sp>
      <p:sp>
        <p:nvSpPr>
          <p:cNvPr id="392" name="Google Shape;392;p22"/>
          <p:cNvSpPr txBox="1"/>
          <p:nvPr/>
        </p:nvSpPr>
        <p:spPr>
          <a:xfrm>
            <a:off x="9601200" y="4846320"/>
            <a:ext cx="1920240" cy="64008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1100" u="none" cap="none" strike="noStrike">
                <a:solidFill>
                  <a:srgbClr val="7B1C2E"/>
                </a:solidFill>
                <a:latin typeface="Calibri"/>
                <a:ea typeface="Calibri"/>
                <a:cs typeface="Calibri"/>
                <a:sym typeface="Calibri"/>
              </a:rPr>
              <a:t>V5: 74,7 % → 0,2 %</a:t>
            </a:r>
            <a:endParaRPr/>
          </a:p>
        </p:txBody>
      </p:sp>
      <p:sp>
        <p:nvSpPr>
          <p:cNvPr id="393" name="Google Shape;393;p22"/>
          <p:cNvSpPr/>
          <p:nvPr/>
        </p:nvSpPr>
        <p:spPr>
          <a:xfrm>
            <a:off x="548640" y="5669280"/>
            <a:ext cx="11091672" cy="685800"/>
          </a:xfrm>
          <a:prstGeom prst="rect">
            <a:avLst/>
          </a:prstGeom>
          <a:solidFill>
            <a:srgbClr val="F2F2F2"/>
          </a:solidFill>
          <a:ln>
            <a:noFill/>
          </a:ln>
        </p:spPr>
        <p:txBody>
          <a:bodyPr anchorCtr="0" anchor="ctr" bIns="36575" lIns="91425" spcFirstLastPara="1" rIns="91425" wrap="square" tIns="36575">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94" name="Google Shape;394;p22"/>
          <p:cNvSpPr/>
          <p:nvPr/>
        </p:nvSpPr>
        <p:spPr>
          <a:xfrm>
            <a:off x="548640" y="5669280"/>
            <a:ext cx="91440" cy="685800"/>
          </a:xfrm>
          <a:prstGeom prst="rect">
            <a:avLst/>
          </a:prstGeom>
          <a:solidFill>
            <a:srgbClr val="7B1C2E"/>
          </a:solidFill>
          <a:ln>
            <a:noFill/>
          </a:ln>
        </p:spPr>
        <p:txBody>
          <a:bodyPr anchorCtr="0" anchor="ctr" bIns="36575" lIns="91425" spcFirstLastPara="1" rIns="91425" wrap="square" tIns="36575">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95" name="Google Shape;395;p22"/>
          <p:cNvSpPr txBox="1"/>
          <p:nvPr/>
        </p:nvSpPr>
        <p:spPr>
          <a:xfrm>
            <a:off x="777240" y="5669280"/>
            <a:ext cx="10771632" cy="685800"/>
          </a:xfrm>
          <a:prstGeom prst="rect">
            <a:avLst/>
          </a:prstGeom>
          <a:noFill/>
          <a:ln>
            <a:noFill/>
          </a:ln>
        </p:spPr>
        <p:txBody>
          <a:bodyPr anchorCtr="0" anchor="ctr" bIns="27425" lIns="45700" spcFirstLastPara="1" rIns="45700" wrap="square" tIns="27425">
            <a:spAutoFit/>
          </a:bodyPr>
          <a:lstStyle/>
          <a:p>
            <a:pPr indent="0" lvl="0" marL="0" marR="0" rtl="0" algn="l">
              <a:spcBef>
                <a:spcPts val="0"/>
              </a:spcBef>
              <a:spcAft>
                <a:spcPts val="0"/>
              </a:spcAft>
              <a:buNone/>
            </a:pPr>
            <a:r>
              <a:rPr b="1" i="0" lang="en-US" sz="1350" u="none" cap="none" strike="noStrike">
                <a:solidFill>
                  <a:srgbClr val="262626"/>
                </a:solidFill>
                <a:latin typeface="Calibri"/>
                <a:ea typeface="Calibri"/>
                <a:cs typeface="Calibri"/>
                <a:sym typeface="Calibri"/>
              </a:rPr>
              <a:t>C0 sin defensas: 31,2 %  →  C6 con las cinco: 15,0 % </a:t>
            </a:r>
            <a:r>
              <a:rPr b="0" i="0" lang="en-US" sz="1350" u="none" cap="none" strike="noStrike">
                <a:solidFill>
                  <a:srgbClr val="262626"/>
                </a:solidFill>
                <a:latin typeface="Calibri"/>
                <a:ea typeface="Calibri"/>
                <a:cs typeface="Calibri"/>
                <a:sym typeface="Calibri"/>
              </a:rPr>
              <a:t> · 75,2 ms de sobrecosto. Orden fijo; el primer bloqueo gana. El mismo código ejecuta C0 a C6.</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0" name="Shape 400"/>
        <p:cNvGrpSpPr/>
        <p:nvPr/>
      </p:nvGrpSpPr>
      <p:grpSpPr>
        <a:xfrm>
          <a:off x="0" y="0"/>
          <a:ext cx="0" cy="0"/>
          <a:chOff x="0" y="0"/>
          <a:chExt cx="0" cy="0"/>
        </a:xfrm>
      </p:grpSpPr>
      <p:sp>
        <p:nvSpPr>
          <p:cNvPr id="401" name="Google Shape;401;p23"/>
          <p:cNvSpPr txBox="1"/>
          <p:nvPr>
            <p:ph type="title"/>
          </p:nvPr>
        </p:nvSpPr>
        <p:spPr>
          <a:xfrm>
            <a:off x="1371600" y="457200"/>
            <a:ext cx="8869680" cy="64008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4A1020"/>
              </a:buClr>
              <a:buSzPts val="2800"/>
              <a:buFont typeface="Calibri"/>
              <a:buNone/>
            </a:pPr>
            <a:r>
              <a:rPr b="1" lang="en-US" sz="2800">
                <a:solidFill>
                  <a:srgbClr val="4A1020"/>
                </a:solidFill>
              </a:rPr>
              <a:t>Uso de IA: modelo, entrada y salida</a:t>
            </a:r>
            <a:endParaRPr/>
          </a:p>
        </p:txBody>
      </p:sp>
      <p:pic>
        <p:nvPicPr>
          <p:cNvPr descr="ironveil_v6.png" id="402" name="Google Shape;402;p23"/>
          <p:cNvPicPr preferRelativeResize="0"/>
          <p:nvPr/>
        </p:nvPicPr>
        <p:blipFill rotWithShape="1">
          <a:blip r:embed="rId3">
            <a:alphaModFix/>
          </a:blip>
          <a:srcRect b="0" l="0" r="0" t="0"/>
          <a:stretch/>
        </p:blipFill>
        <p:spPr>
          <a:xfrm>
            <a:off x="502920" y="274320"/>
            <a:ext cx="822960" cy="822960"/>
          </a:xfrm>
          <a:prstGeom prst="rect">
            <a:avLst/>
          </a:prstGeom>
          <a:noFill/>
          <a:ln>
            <a:noFill/>
          </a:ln>
        </p:spPr>
      </p:pic>
      <p:sp>
        <p:nvSpPr>
          <p:cNvPr id="403" name="Google Shape;403;p23"/>
          <p:cNvSpPr txBox="1"/>
          <p:nvPr/>
        </p:nvSpPr>
        <p:spPr>
          <a:xfrm>
            <a:off x="1371600" y="246888"/>
            <a:ext cx="8229600" cy="27432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1100" u="none" cap="none" strike="noStrike">
                <a:solidFill>
                  <a:srgbClr val="7B1C2E"/>
                </a:solidFill>
                <a:latin typeface="Calibri"/>
                <a:ea typeface="Calibri"/>
                <a:cs typeface="Calibri"/>
                <a:sym typeface="Calibri"/>
              </a:rPr>
              <a:t>06 · INTELIGENCIA ARTIFICIAL</a:t>
            </a:r>
            <a:endParaRPr/>
          </a:p>
        </p:txBody>
      </p:sp>
      <p:cxnSp>
        <p:nvCxnSpPr>
          <p:cNvPr id="404" name="Google Shape;404;p23"/>
          <p:cNvCxnSpPr/>
          <p:nvPr/>
        </p:nvCxnSpPr>
        <p:spPr>
          <a:xfrm>
            <a:off x="548640" y="1188720"/>
            <a:ext cx="11091672" cy="0"/>
          </a:xfrm>
          <a:prstGeom prst="straightConnector1">
            <a:avLst/>
          </a:prstGeom>
          <a:noFill/>
          <a:ln cap="flat" cmpd="sng" w="25400">
            <a:solidFill>
              <a:srgbClr val="7B1C2E"/>
            </a:solidFill>
            <a:prstDash val="solid"/>
            <a:miter lim="8000"/>
            <a:headEnd len="sm" w="sm" type="none"/>
            <a:tailEnd len="sm" w="sm" type="none"/>
          </a:ln>
        </p:spPr>
      </p:cxnSp>
      <p:sp>
        <p:nvSpPr>
          <p:cNvPr id="405" name="Google Shape;405;p23"/>
          <p:cNvSpPr/>
          <p:nvPr/>
        </p:nvSpPr>
        <p:spPr>
          <a:xfrm>
            <a:off x="0" y="6510528"/>
            <a:ext cx="12191695" cy="347472"/>
          </a:xfrm>
          <a:prstGeom prst="rect">
            <a:avLst/>
          </a:prstGeom>
          <a:solidFill>
            <a:srgbClr val="7B1C2E"/>
          </a:solidFill>
          <a:ln>
            <a:noFill/>
          </a:ln>
        </p:spPr>
        <p:txBody>
          <a:bodyPr anchorCtr="0" anchor="ctr" bIns="36575" lIns="91425" spcFirstLastPara="1" rIns="91425" wrap="square" tIns="36575">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ronveil_v6_inv.png" id="406" name="Google Shape;406;p23"/>
          <p:cNvPicPr preferRelativeResize="0"/>
          <p:nvPr/>
        </p:nvPicPr>
        <p:blipFill rotWithShape="1">
          <a:blip r:embed="rId4">
            <a:alphaModFix/>
          </a:blip>
          <a:srcRect b="0" l="0" r="0" t="0"/>
          <a:stretch/>
        </p:blipFill>
        <p:spPr>
          <a:xfrm>
            <a:off x="457200" y="6537960"/>
            <a:ext cx="292608" cy="292608"/>
          </a:xfrm>
          <a:prstGeom prst="rect">
            <a:avLst/>
          </a:prstGeom>
          <a:noFill/>
          <a:ln>
            <a:noFill/>
          </a:ln>
        </p:spPr>
      </p:pic>
      <p:sp>
        <p:nvSpPr>
          <p:cNvPr id="407" name="Google Shape;407;p23"/>
          <p:cNvSpPr txBox="1"/>
          <p:nvPr/>
        </p:nvSpPr>
        <p:spPr>
          <a:xfrm>
            <a:off x="822960" y="6528816"/>
            <a:ext cx="5486400" cy="310896"/>
          </a:xfrm>
          <a:prstGeom prst="rect">
            <a:avLst/>
          </a:prstGeom>
          <a:noFill/>
          <a:ln>
            <a:noFill/>
          </a:ln>
        </p:spPr>
        <p:txBody>
          <a:bodyPr anchorCtr="0" anchor="ctr" bIns="27425" lIns="45700" spcFirstLastPara="1" rIns="45700" wrap="square" tIns="27425">
            <a:noAutofit/>
          </a:bodyPr>
          <a:lstStyle/>
          <a:p>
            <a:pPr indent="0" lvl="0" marL="0" marR="0" rtl="0" algn="l">
              <a:spcBef>
                <a:spcPts val="0"/>
              </a:spcBef>
              <a:spcAft>
                <a:spcPts val="0"/>
              </a:spcAft>
              <a:buNone/>
            </a:pPr>
            <a:r>
              <a:rPr b="1" lang="en-US" sz="1050">
                <a:solidFill>
                  <a:srgbClr val="F2F2F2"/>
                </a:solidFill>
                <a:latin typeface="Calibri"/>
                <a:ea typeface="Calibri"/>
                <a:cs typeface="Calibri"/>
                <a:sym typeface="Calibri"/>
              </a:rPr>
              <a:t>IronVeil · Framework de defensa para LLMs autoalojados</a:t>
            </a:r>
            <a:endParaRPr/>
          </a:p>
        </p:txBody>
      </p:sp>
      <p:sp>
        <p:nvSpPr>
          <p:cNvPr id="408" name="Google Shape;408;p23"/>
          <p:cNvSpPr txBox="1"/>
          <p:nvPr/>
        </p:nvSpPr>
        <p:spPr>
          <a:xfrm>
            <a:off x="6217920" y="6528816"/>
            <a:ext cx="5303520" cy="310896"/>
          </a:xfrm>
          <a:prstGeom prst="rect">
            <a:avLst/>
          </a:prstGeom>
          <a:noFill/>
          <a:ln>
            <a:noFill/>
          </a:ln>
        </p:spPr>
        <p:txBody>
          <a:bodyPr anchorCtr="0" anchor="ctr" bIns="27425" lIns="45700" spcFirstLastPara="1" rIns="45700" wrap="square" tIns="27425">
            <a:spAutoFit/>
          </a:bodyPr>
          <a:lstStyle/>
          <a:p>
            <a:pPr indent="0" lvl="0" marL="0" marR="0" rtl="0" algn="r">
              <a:spcBef>
                <a:spcPts val="0"/>
              </a:spcBef>
              <a:spcAft>
                <a:spcPts val="0"/>
              </a:spcAft>
              <a:buNone/>
            </a:pPr>
            <a:r>
              <a:rPr b="0" i="0" lang="en-US" sz="1050" u="none" cap="none" strike="noStrike">
                <a:solidFill>
                  <a:srgbClr val="D9D9D9"/>
                </a:solidFill>
                <a:latin typeface="Calibri"/>
                <a:ea typeface="Calibri"/>
                <a:cs typeface="Calibri"/>
                <a:sym typeface="Calibri"/>
              </a:rPr>
              <a:t>Escuela Colombiana de Ingeniería Julio Garavito · 2026</a:t>
            </a:r>
            <a:endParaRPr/>
          </a:p>
        </p:txBody>
      </p:sp>
      <p:sp>
        <p:nvSpPr>
          <p:cNvPr id="409" name="Google Shape;409;p23"/>
          <p:cNvSpPr txBox="1"/>
          <p:nvPr/>
        </p:nvSpPr>
        <p:spPr>
          <a:xfrm>
            <a:off x="11475720" y="6528816"/>
            <a:ext cx="548640" cy="310896"/>
          </a:xfrm>
          <a:prstGeom prst="rect">
            <a:avLst/>
          </a:prstGeom>
          <a:noFill/>
          <a:ln>
            <a:noFill/>
          </a:ln>
        </p:spPr>
        <p:txBody>
          <a:bodyPr anchorCtr="0" anchor="ctr" bIns="27425" lIns="45700" spcFirstLastPara="1" rIns="45700" wrap="square" tIns="27425">
            <a:spAutoFit/>
          </a:bodyPr>
          <a:lstStyle/>
          <a:p>
            <a:pPr indent="0" lvl="0" marL="0" marR="0" rtl="0" algn="r">
              <a:spcBef>
                <a:spcPts val="0"/>
              </a:spcBef>
              <a:spcAft>
                <a:spcPts val="0"/>
              </a:spcAft>
              <a:buNone/>
            </a:pPr>
            <a:r>
              <a:rPr b="1" i="0" lang="en-US" sz="1100" u="none" cap="none" strike="noStrike">
                <a:solidFill>
                  <a:srgbClr val="FFFFFF"/>
                </a:solidFill>
                <a:latin typeface="Calibri"/>
                <a:ea typeface="Calibri"/>
                <a:cs typeface="Calibri"/>
                <a:sym typeface="Calibri"/>
              </a:rPr>
              <a:t>9</a:t>
            </a:r>
            <a:endParaRPr/>
          </a:p>
        </p:txBody>
      </p:sp>
      <p:sp>
        <p:nvSpPr>
          <p:cNvPr id="410" name="Google Shape;410;p23"/>
          <p:cNvSpPr/>
          <p:nvPr/>
        </p:nvSpPr>
        <p:spPr>
          <a:xfrm>
            <a:off x="548640" y="1371600"/>
            <a:ext cx="5468112" cy="3611880"/>
          </a:xfrm>
          <a:prstGeom prst="roundRect">
            <a:avLst>
              <a:gd fmla="val 6000" name="adj"/>
            </a:avLst>
          </a:prstGeom>
          <a:solidFill>
            <a:srgbClr val="F2F2F2"/>
          </a:solidFill>
          <a:ln cap="flat" cmpd="sng" w="12700">
            <a:solidFill>
              <a:srgbClr val="D0D0D0"/>
            </a:solidFill>
            <a:prstDash val="solid"/>
            <a:miter lim="8000"/>
            <a:headEnd len="sm" w="sm" type="none"/>
            <a:tailEnd len="sm" w="sm" type="none"/>
          </a:ln>
        </p:spPr>
        <p:txBody>
          <a:bodyPr anchorCtr="0" anchor="ctr" bIns="36575" lIns="91425" spcFirstLastPara="1" rIns="91425" wrap="square" tIns="36575">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11" name="Google Shape;411;p23"/>
          <p:cNvSpPr/>
          <p:nvPr/>
        </p:nvSpPr>
        <p:spPr>
          <a:xfrm>
            <a:off x="548640" y="1371600"/>
            <a:ext cx="5468112" cy="777240"/>
          </a:xfrm>
          <a:prstGeom prst="rect">
            <a:avLst/>
          </a:prstGeom>
          <a:solidFill>
            <a:srgbClr val="4A1020"/>
          </a:solidFill>
          <a:ln>
            <a:noFill/>
          </a:ln>
        </p:spPr>
        <p:txBody>
          <a:bodyPr anchorCtr="0" anchor="ctr" bIns="36575" lIns="91425" spcFirstLastPara="1" rIns="91425" wrap="square" tIns="36575">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12" name="Google Shape;412;p23"/>
          <p:cNvSpPr/>
          <p:nvPr/>
        </p:nvSpPr>
        <p:spPr>
          <a:xfrm>
            <a:off x="731520" y="1572768"/>
            <a:ext cx="1097280" cy="384048"/>
          </a:xfrm>
          <a:prstGeom prst="roundRect">
            <a:avLst>
              <a:gd fmla="val 6000" name="adj"/>
            </a:avLst>
          </a:prstGeom>
          <a:solidFill>
            <a:srgbClr val="7B1C2E"/>
          </a:solidFill>
          <a:ln>
            <a:noFill/>
          </a:ln>
        </p:spPr>
        <p:txBody>
          <a:bodyPr anchorCtr="0" anchor="ctr" bIns="36575" lIns="91425" spcFirstLastPara="1" rIns="91425" wrap="square" tIns="36575">
            <a:noAutofit/>
          </a:bodyPr>
          <a:lstStyle/>
          <a:p>
            <a:pPr indent="0" lvl="0" marL="0" marR="0" rtl="0" algn="ctr">
              <a:spcBef>
                <a:spcPts val="0"/>
              </a:spcBef>
              <a:spcAft>
                <a:spcPts val="0"/>
              </a:spcAft>
              <a:buNone/>
            </a:pPr>
            <a:r>
              <a:rPr b="1" i="0" lang="en-US" sz="1300" u="none" cap="none" strike="noStrike">
                <a:solidFill>
                  <a:srgbClr val="FFFFFF"/>
                </a:solidFill>
                <a:latin typeface="Calibri"/>
                <a:ea typeface="Calibri"/>
                <a:cs typeface="Calibri"/>
                <a:sym typeface="Calibri"/>
              </a:rPr>
              <a:t>ENTRADA</a:t>
            </a:r>
            <a:endParaRPr/>
          </a:p>
        </p:txBody>
      </p:sp>
      <p:sp>
        <p:nvSpPr>
          <p:cNvPr id="413" name="Google Shape;413;p23"/>
          <p:cNvSpPr txBox="1"/>
          <p:nvPr/>
        </p:nvSpPr>
        <p:spPr>
          <a:xfrm>
            <a:off x="1965960" y="1389888"/>
            <a:ext cx="4023360" cy="457200"/>
          </a:xfrm>
          <a:prstGeom prst="rect">
            <a:avLst/>
          </a:prstGeom>
          <a:noFill/>
          <a:ln>
            <a:noFill/>
          </a:ln>
        </p:spPr>
        <p:txBody>
          <a:bodyPr anchorCtr="0" anchor="ctr" bIns="27425" lIns="45700" spcFirstLastPara="1" rIns="45700" wrap="square" tIns="27425">
            <a:spAutoFit/>
          </a:bodyPr>
          <a:lstStyle/>
          <a:p>
            <a:pPr indent="0" lvl="0" marL="0" marR="0" rtl="0" algn="l">
              <a:spcBef>
                <a:spcPts val="0"/>
              </a:spcBef>
              <a:spcAft>
                <a:spcPts val="0"/>
              </a:spcAft>
              <a:buNone/>
            </a:pPr>
            <a:r>
              <a:rPr b="1" i="0" lang="en-US" sz="1800" u="none" cap="none" strike="noStrike">
                <a:solidFill>
                  <a:srgbClr val="FFFFFF"/>
                </a:solidFill>
                <a:latin typeface="Calibri"/>
                <a:ea typeface="Calibri"/>
                <a:cs typeface="Calibri"/>
                <a:sym typeface="Calibri"/>
              </a:rPr>
              <a:t>Llama Prompt Guard 2 (86M)</a:t>
            </a:r>
            <a:endParaRPr/>
          </a:p>
        </p:txBody>
      </p:sp>
      <p:sp>
        <p:nvSpPr>
          <p:cNvPr id="414" name="Google Shape;414;p23"/>
          <p:cNvSpPr txBox="1"/>
          <p:nvPr/>
        </p:nvSpPr>
        <p:spPr>
          <a:xfrm>
            <a:off x="1965960" y="1783080"/>
            <a:ext cx="4023360" cy="32004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0" i="1" lang="en-US" sz="1150" u="none" cap="none" strike="noStrike">
                <a:solidFill>
                  <a:srgbClr val="F2F2F2"/>
                </a:solidFill>
                <a:latin typeface="Calibri"/>
                <a:ea typeface="Calibri"/>
                <a:cs typeface="Calibri"/>
                <a:sym typeface="Calibri"/>
              </a:rPr>
              <a:t>Clasificador de Meta, local vía Hugging Face</a:t>
            </a:r>
            <a:endParaRPr/>
          </a:p>
        </p:txBody>
      </p:sp>
      <p:sp>
        <p:nvSpPr>
          <p:cNvPr id="415" name="Google Shape;415;p23"/>
          <p:cNvSpPr/>
          <p:nvPr/>
        </p:nvSpPr>
        <p:spPr>
          <a:xfrm>
            <a:off x="731520" y="2331720"/>
            <a:ext cx="1051560" cy="731520"/>
          </a:xfrm>
          <a:prstGeom prst="roundRect">
            <a:avLst>
              <a:gd fmla="val 6000" name="adj"/>
            </a:avLst>
          </a:prstGeom>
          <a:solidFill>
            <a:srgbClr val="F2F2F2"/>
          </a:solidFill>
          <a:ln>
            <a:noFill/>
          </a:ln>
        </p:spPr>
        <p:txBody>
          <a:bodyPr anchorCtr="0" anchor="ctr" bIns="36575" lIns="91425" spcFirstLastPara="1" rIns="91425" wrap="square" tIns="36575">
            <a:noAutofit/>
          </a:bodyPr>
          <a:lstStyle/>
          <a:p>
            <a:pPr indent="0" lvl="0" marL="0" marR="0" rtl="0" algn="ctr">
              <a:spcBef>
                <a:spcPts val="0"/>
              </a:spcBef>
              <a:spcAft>
                <a:spcPts val="0"/>
              </a:spcAft>
              <a:buNone/>
            </a:pPr>
            <a:r>
              <a:rPr b="1" i="0" lang="en-US" sz="1300" u="none" cap="none" strike="noStrike">
                <a:solidFill>
                  <a:srgbClr val="7B1C2E"/>
                </a:solidFill>
                <a:latin typeface="Calibri"/>
                <a:ea typeface="Calibri"/>
                <a:cs typeface="Calibri"/>
                <a:sym typeface="Calibri"/>
              </a:rPr>
              <a:t>Recibe</a:t>
            </a:r>
            <a:endParaRPr/>
          </a:p>
        </p:txBody>
      </p:sp>
      <p:sp>
        <p:nvSpPr>
          <p:cNvPr id="416" name="Google Shape;416;p23"/>
          <p:cNvSpPr txBox="1"/>
          <p:nvPr/>
        </p:nvSpPr>
        <p:spPr>
          <a:xfrm>
            <a:off x="1874519" y="2286000"/>
            <a:ext cx="4023360" cy="822960"/>
          </a:xfrm>
          <a:prstGeom prst="rect">
            <a:avLst/>
          </a:prstGeom>
          <a:noFill/>
          <a:ln>
            <a:noFill/>
          </a:ln>
        </p:spPr>
        <p:txBody>
          <a:bodyPr anchorCtr="0" anchor="ctr" bIns="27425" lIns="45700" spcFirstLastPara="1" rIns="45700" wrap="square" tIns="27425">
            <a:spAutoFit/>
          </a:bodyPr>
          <a:lstStyle/>
          <a:p>
            <a:pPr indent="0" lvl="0" marL="0" marR="0" rtl="0" algn="l">
              <a:spcBef>
                <a:spcPts val="0"/>
              </a:spcBef>
              <a:spcAft>
                <a:spcPts val="0"/>
              </a:spcAft>
              <a:buNone/>
            </a:pPr>
            <a:r>
              <a:rPr b="0" i="0" lang="en-US" sz="1400" u="none" cap="none" strike="noStrike">
                <a:solidFill>
                  <a:srgbClr val="262626"/>
                </a:solidFill>
                <a:latin typeface="Calibri"/>
                <a:ea typeface="Calibri"/>
                <a:cs typeface="Calibri"/>
                <a:sym typeface="Calibri"/>
              </a:rPr>
              <a:t>El texto original del usuario, antes de la delimitación.</a:t>
            </a:r>
            <a:endParaRPr/>
          </a:p>
        </p:txBody>
      </p:sp>
      <p:sp>
        <p:nvSpPr>
          <p:cNvPr id="417" name="Google Shape;417;p23"/>
          <p:cNvSpPr/>
          <p:nvPr/>
        </p:nvSpPr>
        <p:spPr>
          <a:xfrm>
            <a:off x="731520" y="3218687"/>
            <a:ext cx="1051560" cy="731520"/>
          </a:xfrm>
          <a:prstGeom prst="roundRect">
            <a:avLst>
              <a:gd fmla="val 6000" name="adj"/>
            </a:avLst>
          </a:prstGeom>
          <a:solidFill>
            <a:srgbClr val="F2F2F2"/>
          </a:solidFill>
          <a:ln>
            <a:noFill/>
          </a:ln>
        </p:spPr>
        <p:txBody>
          <a:bodyPr anchorCtr="0" anchor="ctr" bIns="36575" lIns="91425" spcFirstLastPara="1" rIns="91425" wrap="square" tIns="36575">
            <a:noAutofit/>
          </a:bodyPr>
          <a:lstStyle/>
          <a:p>
            <a:pPr indent="0" lvl="0" marL="0" marR="0" rtl="0" algn="ctr">
              <a:spcBef>
                <a:spcPts val="0"/>
              </a:spcBef>
              <a:spcAft>
                <a:spcPts val="0"/>
              </a:spcAft>
              <a:buNone/>
            </a:pPr>
            <a:r>
              <a:rPr b="1" i="0" lang="en-US" sz="1300" u="none" cap="none" strike="noStrike">
                <a:solidFill>
                  <a:srgbClr val="7B1C2E"/>
                </a:solidFill>
                <a:latin typeface="Calibri"/>
                <a:ea typeface="Calibri"/>
                <a:cs typeface="Calibri"/>
                <a:sym typeface="Calibri"/>
              </a:rPr>
              <a:t>Genera</a:t>
            </a:r>
            <a:endParaRPr/>
          </a:p>
        </p:txBody>
      </p:sp>
      <p:sp>
        <p:nvSpPr>
          <p:cNvPr id="418" name="Google Shape;418;p23"/>
          <p:cNvSpPr txBox="1"/>
          <p:nvPr/>
        </p:nvSpPr>
        <p:spPr>
          <a:xfrm>
            <a:off x="1874519" y="3172968"/>
            <a:ext cx="4023360" cy="822960"/>
          </a:xfrm>
          <a:prstGeom prst="rect">
            <a:avLst/>
          </a:prstGeom>
          <a:noFill/>
          <a:ln>
            <a:noFill/>
          </a:ln>
        </p:spPr>
        <p:txBody>
          <a:bodyPr anchorCtr="0" anchor="ctr" bIns="27425" lIns="45700" spcFirstLastPara="1" rIns="45700" wrap="square" tIns="27425">
            <a:spAutoFit/>
          </a:bodyPr>
          <a:lstStyle/>
          <a:p>
            <a:pPr indent="0" lvl="0" marL="0" marR="0" rtl="0" algn="l">
              <a:spcBef>
                <a:spcPts val="0"/>
              </a:spcBef>
              <a:spcAft>
                <a:spcPts val="0"/>
              </a:spcAft>
              <a:buNone/>
            </a:pPr>
            <a:r>
              <a:rPr b="0" i="0" lang="en-US" sz="1400" u="none" cap="none" strike="noStrike">
                <a:solidFill>
                  <a:srgbClr val="262626"/>
                </a:solidFill>
                <a:latin typeface="Calibri"/>
                <a:ea typeface="Calibri"/>
                <a:cs typeface="Calibri"/>
                <a:sym typeface="Calibri"/>
              </a:rPr>
              <a:t>Etiqueta maliciosa o benigna con puntaje (LABEL_1 / LABEL_0).</a:t>
            </a:r>
            <a:endParaRPr/>
          </a:p>
        </p:txBody>
      </p:sp>
      <p:sp>
        <p:nvSpPr>
          <p:cNvPr id="419" name="Google Shape;419;p23"/>
          <p:cNvSpPr/>
          <p:nvPr/>
        </p:nvSpPr>
        <p:spPr>
          <a:xfrm>
            <a:off x="731520" y="4105655"/>
            <a:ext cx="1051560" cy="731520"/>
          </a:xfrm>
          <a:prstGeom prst="roundRect">
            <a:avLst>
              <a:gd fmla="val 6000" name="adj"/>
            </a:avLst>
          </a:prstGeom>
          <a:solidFill>
            <a:srgbClr val="F2F2F2"/>
          </a:solidFill>
          <a:ln>
            <a:noFill/>
          </a:ln>
        </p:spPr>
        <p:txBody>
          <a:bodyPr anchorCtr="0" anchor="ctr" bIns="36575" lIns="91425" spcFirstLastPara="1" rIns="91425" wrap="square" tIns="36575">
            <a:noAutofit/>
          </a:bodyPr>
          <a:lstStyle/>
          <a:p>
            <a:pPr indent="0" lvl="0" marL="0" marR="0" rtl="0" algn="ctr">
              <a:spcBef>
                <a:spcPts val="0"/>
              </a:spcBef>
              <a:spcAft>
                <a:spcPts val="0"/>
              </a:spcAft>
              <a:buNone/>
            </a:pPr>
            <a:r>
              <a:rPr b="1" i="0" lang="en-US" sz="1300" u="none" cap="none" strike="noStrike">
                <a:solidFill>
                  <a:srgbClr val="7B1C2E"/>
                </a:solidFill>
                <a:latin typeface="Calibri"/>
                <a:ea typeface="Calibri"/>
                <a:cs typeface="Calibri"/>
                <a:sym typeface="Calibri"/>
              </a:rPr>
              <a:t>Decide</a:t>
            </a:r>
            <a:endParaRPr/>
          </a:p>
        </p:txBody>
      </p:sp>
      <p:sp>
        <p:nvSpPr>
          <p:cNvPr id="420" name="Google Shape;420;p23"/>
          <p:cNvSpPr txBox="1"/>
          <p:nvPr/>
        </p:nvSpPr>
        <p:spPr>
          <a:xfrm>
            <a:off x="1874519" y="4059935"/>
            <a:ext cx="4023360" cy="822960"/>
          </a:xfrm>
          <a:prstGeom prst="rect">
            <a:avLst/>
          </a:prstGeom>
          <a:noFill/>
          <a:ln>
            <a:noFill/>
          </a:ln>
        </p:spPr>
        <p:txBody>
          <a:bodyPr anchorCtr="0" anchor="ctr" bIns="27425" lIns="45700" spcFirstLastPara="1" rIns="45700" wrap="square" tIns="27425">
            <a:spAutoFit/>
          </a:bodyPr>
          <a:lstStyle/>
          <a:p>
            <a:pPr indent="0" lvl="0" marL="0" marR="0" rtl="0" algn="l">
              <a:spcBef>
                <a:spcPts val="0"/>
              </a:spcBef>
              <a:spcAft>
                <a:spcPts val="0"/>
              </a:spcAft>
              <a:buNone/>
            </a:pPr>
            <a:r>
              <a:rPr b="0" i="0" lang="en-US" sz="1400" u="none" cap="none" strike="noStrike">
                <a:solidFill>
                  <a:srgbClr val="262626"/>
                </a:solidFill>
                <a:latin typeface="Calibri"/>
                <a:ea typeface="Calibri"/>
                <a:cs typeface="Calibri"/>
                <a:sym typeface="Calibri"/>
              </a:rPr>
              <a:t>Si es maliciosa, bloquea (400) o encola (429).</a:t>
            </a:r>
            <a:endParaRPr/>
          </a:p>
        </p:txBody>
      </p:sp>
      <p:sp>
        <p:nvSpPr>
          <p:cNvPr id="421" name="Google Shape;421;p23"/>
          <p:cNvSpPr/>
          <p:nvPr/>
        </p:nvSpPr>
        <p:spPr>
          <a:xfrm>
            <a:off x="6172200" y="1371600"/>
            <a:ext cx="5468112" cy="3611880"/>
          </a:xfrm>
          <a:prstGeom prst="roundRect">
            <a:avLst>
              <a:gd fmla="val 6000" name="adj"/>
            </a:avLst>
          </a:prstGeom>
          <a:solidFill>
            <a:srgbClr val="F2F2F2"/>
          </a:solidFill>
          <a:ln cap="flat" cmpd="sng" w="12700">
            <a:solidFill>
              <a:srgbClr val="D0D0D0"/>
            </a:solidFill>
            <a:prstDash val="solid"/>
            <a:miter lim="8000"/>
            <a:headEnd len="sm" w="sm" type="none"/>
            <a:tailEnd len="sm" w="sm" type="none"/>
          </a:ln>
        </p:spPr>
        <p:txBody>
          <a:bodyPr anchorCtr="0" anchor="ctr" bIns="36575" lIns="91425" spcFirstLastPara="1" rIns="91425" wrap="square" tIns="36575">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22" name="Google Shape;422;p23"/>
          <p:cNvSpPr/>
          <p:nvPr/>
        </p:nvSpPr>
        <p:spPr>
          <a:xfrm>
            <a:off x="6172200" y="1371600"/>
            <a:ext cx="5468112" cy="777240"/>
          </a:xfrm>
          <a:prstGeom prst="rect">
            <a:avLst/>
          </a:prstGeom>
          <a:solidFill>
            <a:srgbClr val="4A1020"/>
          </a:solidFill>
          <a:ln>
            <a:noFill/>
          </a:ln>
        </p:spPr>
        <p:txBody>
          <a:bodyPr anchorCtr="0" anchor="ctr" bIns="36575" lIns="91425" spcFirstLastPara="1" rIns="91425" wrap="square" tIns="36575">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23" name="Google Shape;423;p23"/>
          <p:cNvSpPr/>
          <p:nvPr/>
        </p:nvSpPr>
        <p:spPr>
          <a:xfrm>
            <a:off x="6355080" y="1572768"/>
            <a:ext cx="1097280" cy="384048"/>
          </a:xfrm>
          <a:prstGeom prst="roundRect">
            <a:avLst>
              <a:gd fmla="val 6000" name="adj"/>
            </a:avLst>
          </a:prstGeom>
          <a:solidFill>
            <a:srgbClr val="7B1C2E"/>
          </a:solidFill>
          <a:ln>
            <a:noFill/>
          </a:ln>
        </p:spPr>
        <p:txBody>
          <a:bodyPr anchorCtr="0" anchor="ctr" bIns="36575" lIns="91425" spcFirstLastPara="1" rIns="91425" wrap="square" tIns="36575">
            <a:noAutofit/>
          </a:bodyPr>
          <a:lstStyle/>
          <a:p>
            <a:pPr indent="0" lvl="0" marL="0" marR="0" rtl="0" algn="ctr">
              <a:spcBef>
                <a:spcPts val="0"/>
              </a:spcBef>
              <a:spcAft>
                <a:spcPts val="0"/>
              </a:spcAft>
              <a:buNone/>
            </a:pPr>
            <a:r>
              <a:rPr b="1" i="0" lang="en-US" sz="1300" u="none" cap="none" strike="noStrike">
                <a:solidFill>
                  <a:srgbClr val="FFFFFF"/>
                </a:solidFill>
                <a:latin typeface="Calibri"/>
                <a:ea typeface="Calibri"/>
                <a:cs typeface="Calibri"/>
                <a:sym typeface="Calibri"/>
              </a:rPr>
              <a:t>SALIDA</a:t>
            </a:r>
            <a:endParaRPr/>
          </a:p>
        </p:txBody>
      </p:sp>
      <p:sp>
        <p:nvSpPr>
          <p:cNvPr id="424" name="Google Shape;424;p23"/>
          <p:cNvSpPr txBox="1"/>
          <p:nvPr/>
        </p:nvSpPr>
        <p:spPr>
          <a:xfrm>
            <a:off x="7589520" y="1389888"/>
            <a:ext cx="4023360" cy="457200"/>
          </a:xfrm>
          <a:prstGeom prst="rect">
            <a:avLst/>
          </a:prstGeom>
          <a:noFill/>
          <a:ln>
            <a:noFill/>
          </a:ln>
        </p:spPr>
        <p:txBody>
          <a:bodyPr anchorCtr="0" anchor="ctr" bIns="27425" lIns="45700" spcFirstLastPara="1" rIns="45700" wrap="square" tIns="27425">
            <a:spAutoFit/>
          </a:bodyPr>
          <a:lstStyle/>
          <a:p>
            <a:pPr indent="0" lvl="0" marL="0" marR="0" rtl="0" algn="l">
              <a:spcBef>
                <a:spcPts val="0"/>
              </a:spcBef>
              <a:spcAft>
                <a:spcPts val="0"/>
              </a:spcAft>
              <a:buNone/>
            </a:pPr>
            <a:r>
              <a:rPr b="1" i="0" lang="en-US" sz="1800" u="none" cap="none" strike="noStrike">
                <a:solidFill>
                  <a:srgbClr val="FFFFFF"/>
                </a:solidFill>
                <a:latin typeface="Calibri"/>
                <a:ea typeface="Calibri"/>
                <a:cs typeface="Calibri"/>
                <a:sym typeface="Calibri"/>
              </a:rPr>
              <a:t>Llama Guard 3 (1B)</a:t>
            </a:r>
            <a:endParaRPr/>
          </a:p>
        </p:txBody>
      </p:sp>
      <p:sp>
        <p:nvSpPr>
          <p:cNvPr id="425" name="Google Shape;425;p23"/>
          <p:cNvSpPr txBox="1"/>
          <p:nvPr/>
        </p:nvSpPr>
        <p:spPr>
          <a:xfrm>
            <a:off x="7589520" y="1783080"/>
            <a:ext cx="4023360" cy="32004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0" i="1" lang="en-US" sz="1150" u="none" cap="none" strike="noStrike">
                <a:solidFill>
                  <a:srgbClr val="F2F2F2"/>
                </a:solidFill>
                <a:latin typeface="Calibri"/>
                <a:ea typeface="Calibri"/>
                <a:cs typeface="Calibri"/>
                <a:sym typeface="Calibri"/>
              </a:rPr>
              <a:t>Clasificador de seguridad servido por Ollama</a:t>
            </a:r>
            <a:endParaRPr/>
          </a:p>
        </p:txBody>
      </p:sp>
      <p:sp>
        <p:nvSpPr>
          <p:cNvPr id="426" name="Google Shape;426;p23"/>
          <p:cNvSpPr/>
          <p:nvPr/>
        </p:nvSpPr>
        <p:spPr>
          <a:xfrm>
            <a:off x="6355080" y="2331720"/>
            <a:ext cx="1051560" cy="731520"/>
          </a:xfrm>
          <a:prstGeom prst="roundRect">
            <a:avLst>
              <a:gd fmla="val 6000" name="adj"/>
            </a:avLst>
          </a:prstGeom>
          <a:solidFill>
            <a:srgbClr val="F2F2F2"/>
          </a:solidFill>
          <a:ln>
            <a:noFill/>
          </a:ln>
        </p:spPr>
        <p:txBody>
          <a:bodyPr anchorCtr="0" anchor="ctr" bIns="36575" lIns="91425" spcFirstLastPara="1" rIns="91425" wrap="square" tIns="36575">
            <a:noAutofit/>
          </a:bodyPr>
          <a:lstStyle/>
          <a:p>
            <a:pPr indent="0" lvl="0" marL="0" marR="0" rtl="0" algn="ctr">
              <a:spcBef>
                <a:spcPts val="0"/>
              </a:spcBef>
              <a:spcAft>
                <a:spcPts val="0"/>
              </a:spcAft>
              <a:buNone/>
            </a:pPr>
            <a:r>
              <a:rPr b="1" i="0" lang="en-US" sz="1300" u="none" cap="none" strike="noStrike">
                <a:solidFill>
                  <a:srgbClr val="7B1C2E"/>
                </a:solidFill>
                <a:latin typeface="Calibri"/>
                <a:ea typeface="Calibri"/>
                <a:cs typeface="Calibri"/>
                <a:sym typeface="Calibri"/>
              </a:rPr>
              <a:t>Recibe</a:t>
            </a:r>
            <a:endParaRPr/>
          </a:p>
        </p:txBody>
      </p:sp>
      <p:sp>
        <p:nvSpPr>
          <p:cNvPr id="427" name="Google Shape;427;p23"/>
          <p:cNvSpPr txBox="1"/>
          <p:nvPr/>
        </p:nvSpPr>
        <p:spPr>
          <a:xfrm>
            <a:off x="7498079" y="2286000"/>
            <a:ext cx="4023360" cy="822960"/>
          </a:xfrm>
          <a:prstGeom prst="rect">
            <a:avLst/>
          </a:prstGeom>
          <a:noFill/>
          <a:ln>
            <a:noFill/>
          </a:ln>
        </p:spPr>
        <p:txBody>
          <a:bodyPr anchorCtr="0" anchor="ctr" bIns="27425" lIns="45700" spcFirstLastPara="1" rIns="45700" wrap="square" tIns="27425">
            <a:spAutoFit/>
          </a:bodyPr>
          <a:lstStyle/>
          <a:p>
            <a:pPr indent="0" lvl="0" marL="0" marR="0" rtl="0" algn="l">
              <a:spcBef>
                <a:spcPts val="0"/>
              </a:spcBef>
              <a:spcAft>
                <a:spcPts val="0"/>
              </a:spcAft>
              <a:buNone/>
            </a:pPr>
            <a:r>
              <a:rPr b="0" i="0" lang="en-US" sz="1400" u="none" cap="none" strike="noStrike">
                <a:solidFill>
                  <a:srgbClr val="262626"/>
                </a:solidFill>
                <a:latin typeface="Calibri"/>
                <a:ea typeface="Calibri"/>
                <a:cs typeface="Calibri"/>
                <a:sym typeface="Calibri"/>
              </a:rPr>
              <a:t>La respuesta del modelo protegido.</a:t>
            </a:r>
            <a:endParaRPr/>
          </a:p>
        </p:txBody>
      </p:sp>
      <p:sp>
        <p:nvSpPr>
          <p:cNvPr id="428" name="Google Shape;428;p23"/>
          <p:cNvSpPr/>
          <p:nvPr/>
        </p:nvSpPr>
        <p:spPr>
          <a:xfrm>
            <a:off x="6355080" y="3218687"/>
            <a:ext cx="1051560" cy="731520"/>
          </a:xfrm>
          <a:prstGeom prst="roundRect">
            <a:avLst>
              <a:gd fmla="val 6000" name="adj"/>
            </a:avLst>
          </a:prstGeom>
          <a:solidFill>
            <a:srgbClr val="F2F2F2"/>
          </a:solidFill>
          <a:ln>
            <a:noFill/>
          </a:ln>
        </p:spPr>
        <p:txBody>
          <a:bodyPr anchorCtr="0" anchor="ctr" bIns="36575" lIns="91425" spcFirstLastPara="1" rIns="91425" wrap="square" tIns="36575">
            <a:noAutofit/>
          </a:bodyPr>
          <a:lstStyle/>
          <a:p>
            <a:pPr indent="0" lvl="0" marL="0" marR="0" rtl="0" algn="ctr">
              <a:spcBef>
                <a:spcPts val="0"/>
              </a:spcBef>
              <a:spcAft>
                <a:spcPts val="0"/>
              </a:spcAft>
              <a:buNone/>
            </a:pPr>
            <a:r>
              <a:rPr b="1" i="0" lang="en-US" sz="1300" u="none" cap="none" strike="noStrike">
                <a:solidFill>
                  <a:srgbClr val="7B1C2E"/>
                </a:solidFill>
                <a:latin typeface="Calibri"/>
                <a:ea typeface="Calibri"/>
                <a:cs typeface="Calibri"/>
                <a:sym typeface="Calibri"/>
              </a:rPr>
              <a:t>Genera</a:t>
            </a:r>
            <a:endParaRPr/>
          </a:p>
        </p:txBody>
      </p:sp>
      <p:sp>
        <p:nvSpPr>
          <p:cNvPr id="429" name="Google Shape;429;p23"/>
          <p:cNvSpPr txBox="1"/>
          <p:nvPr/>
        </p:nvSpPr>
        <p:spPr>
          <a:xfrm>
            <a:off x="7498079" y="3172968"/>
            <a:ext cx="4023360" cy="822960"/>
          </a:xfrm>
          <a:prstGeom prst="rect">
            <a:avLst/>
          </a:prstGeom>
          <a:noFill/>
          <a:ln>
            <a:noFill/>
          </a:ln>
        </p:spPr>
        <p:txBody>
          <a:bodyPr anchorCtr="0" anchor="ctr" bIns="27425" lIns="45700" spcFirstLastPara="1" rIns="45700" wrap="square" tIns="27425">
            <a:spAutoFit/>
          </a:bodyPr>
          <a:lstStyle/>
          <a:p>
            <a:pPr indent="0" lvl="0" marL="0" marR="0" rtl="0" algn="l">
              <a:spcBef>
                <a:spcPts val="0"/>
              </a:spcBef>
              <a:spcAft>
                <a:spcPts val="0"/>
              </a:spcAft>
              <a:buNone/>
            </a:pPr>
            <a:r>
              <a:rPr b="0" i="0" lang="en-US" sz="1400" u="none" cap="none" strike="noStrike">
                <a:solidFill>
                  <a:srgbClr val="262626"/>
                </a:solidFill>
                <a:latin typeface="Calibri"/>
                <a:ea typeface="Calibri"/>
                <a:cs typeface="Calibri"/>
                <a:sym typeface="Calibri"/>
              </a:rPr>
              <a:t>Primera línea del veredicto: safe o unsafe.</a:t>
            </a:r>
            <a:endParaRPr/>
          </a:p>
        </p:txBody>
      </p:sp>
      <p:sp>
        <p:nvSpPr>
          <p:cNvPr id="430" name="Google Shape;430;p23"/>
          <p:cNvSpPr/>
          <p:nvPr/>
        </p:nvSpPr>
        <p:spPr>
          <a:xfrm>
            <a:off x="6355080" y="4105655"/>
            <a:ext cx="1051560" cy="731520"/>
          </a:xfrm>
          <a:prstGeom prst="roundRect">
            <a:avLst>
              <a:gd fmla="val 6000" name="adj"/>
            </a:avLst>
          </a:prstGeom>
          <a:solidFill>
            <a:srgbClr val="F2F2F2"/>
          </a:solidFill>
          <a:ln>
            <a:noFill/>
          </a:ln>
        </p:spPr>
        <p:txBody>
          <a:bodyPr anchorCtr="0" anchor="ctr" bIns="36575" lIns="91425" spcFirstLastPara="1" rIns="91425" wrap="square" tIns="36575">
            <a:noAutofit/>
          </a:bodyPr>
          <a:lstStyle/>
          <a:p>
            <a:pPr indent="0" lvl="0" marL="0" marR="0" rtl="0" algn="ctr">
              <a:spcBef>
                <a:spcPts val="0"/>
              </a:spcBef>
              <a:spcAft>
                <a:spcPts val="0"/>
              </a:spcAft>
              <a:buNone/>
            </a:pPr>
            <a:r>
              <a:rPr b="1" i="0" lang="en-US" sz="1300" u="none" cap="none" strike="noStrike">
                <a:solidFill>
                  <a:srgbClr val="7B1C2E"/>
                </a:solidFill>
                <a:latin typeface="Calibri"/>
                <a:ea typeface="Calibri"/>
                <a:cs typeface="Calibri"/>
                <a:sym typeface="Calibri"/>
              </a:rPr>
              <a:t>Decide</a:t>
            </a:r>
            <a:endParaRPr/>
          </a:p>
        </p:txBody>
      </p:sp>
      <p:sp>
        <p:nvSpPr>
          <p:cNvPr id="431" name="Google Shape;431;p23"/>
          <p:cNvSpPr txBox="1"/>
          <p:nvPr/>
        </p:nvSpPr>
        <p:spPr>
          <a:xfrm>
            <a:off x="7498079" y="4059935"/>
            <a:ext cx="4023360" cy="822960"/>
          </a:xfrm>
          <a:prstGeom prst="rect">
            <a:avLst/>
          </a:prstGeom>
          <a:noFill/>
          <a:ln>
            <a:noFill/>
          </a:ln>
        </p:spPr>
        <p:txBody>
          <a:bodyPr anchorCtr="0" anchor="ctr" bIns="27425" lIns="45700" spcFirstLastPara="1" rIns="45700" wrap="square" tIns="27425">
            <a:spAutoFit/>
          </a:bodyPr>
          <a:lstStyle/>
          <a:p>
            <a:pPr indent="0" lvl="0" marL="0" marR="0" rtl="0" algn="l">
              <a:spcBef>
                <a:spcPts val="0"/>
              </a:spcBef>
              <a:spcAft>
                <a:spcPts val="0"/>
              </a:spcAft>
              <a:buNone/>
            </a:pPr>
            <a:r>
              <a:rPr b="0" i="0" lang="en-US" sz="1400" u="none" cap="none" strike="noStrike">
                <a:solidFill>
                  <a:srgbClr val="262626"/>
                </a:solidFill>
                <a:latin typeface="Calibri"/>
                <a:ea typeface="Calibri"/>
                <a:cs typeface="Calibri"/>
                <a:sym typeface="Calibri"/>
              </a:rPr>
              <a:t>Si es unsafe, la respuesta se retiene.</a:t>
            </a:r>
            <a:endParaRPr/>
          </a:p>
        </p:txBody>
      </p:sp>
      <p:sp>
        <p:nvSpPr>
          <p:cNvPr id="432" name="Google Shape;432;p23"/>
          <p:cNvSpPr/>
          <p:nvPr/>
        </p:nvSpPr>
        <p:spPr>
          <a:xfrm>
            <a:off x="548640" y="5166360"/>
            <a:ext cx="5468112" cy="1188720"/>
          </a:xfrm>
          <a:prstGeom prst="roundRect">
            <a:avLst>
              <a:gd fmla="val 6000" name="adj"/>
            </a:avLst>
          </a:prstGeom>
          <a:solidFill>
            <a:srgbClr val="F2F2F2"/>
          </a:solidFill>
          <a:ln>
            <a:noFill/>
          </a:ln>
        </p:spPr>
        <p:txBody>
          <a:bodyPr anchorCtr="0" anchor="ctr" bIns="36575" lIns="91425" spcFirstLastPara="1" rIns="91425" wrap="square" tIns="36575">
            <a:noAutofit/>
          </a:bodyPr>
          <a:lstStyle/>
          <a:p>
            <a:pPr indent="0" lvl="0" marL="0" marR="0" rtl="0" algn="l">
              <a:spcBef>
                <a:spcPts val="0"/>
              </a:spcBef>
              <a:spcAft>
                <a:spcPts val="0"/>
              </a:spcAft>
              <a:buNone/>
            </a:pPr>
            <a:r>
              <a:rPr b="1" lang="en-US" sz="1500">
                <a:solidFill>
                  <a:srgbClr val="262626"/>
                </a:solidFill>
                <a:latin typeface="Calibri"/>
                <a:ea typeface="Calibri"/>
                <a:cs typeface="Calibri"/>
                <a:sym typeface="Calibri"/>
              </a:rPr>
              <a:t>Falla cerrada</a:t>
            </a:r>
            <a:r>
              <a:rPr b="1" i="0" lang="en-US" sz="1500" u="none" cap="none" strike="noStrike">
                <a:solidFill>
                  <a:srgbClr val="262626"/>
                </a:solidFill>
                <a:latin typeface="Calibri"/>
                <a:ea typeface="Calibri"/>
                <a:cs typeface="Calibri"/>
                <a:sym typeface="Calibri"/>
              </a:rPr>
              <a:t>. </a:t>
            </a:r>
            <a:r>
              <a:rPr b="0" i="0" lang="en-US" sz="1350" u="none" cap="none" strike="noStrike">
                <a:solidFill>
                  <a:srgbClr val="262626"/>
                </a:solidFill>
                <a:latin typeface="Calibri"/>
                <a:ea typeface="Calibri"/>
                <a:cs typeface="Calibri"/>
                <a:sym typeface="Calibri"/>
              </a:rPr>
              <a:t>Un tiempo agotado, un error o una etiqueta desconocida cuentan como malicioso, nunca como permitido.</a:t>
            </a:r>
            <a:endParaRPr/>
          </a:p>
        </p:txBody>
      </p:sp>
      <p:sp>
        <p:nvSpPr>
          <p:cNvPr id="433" name="Google Shape;433;p23"/>
          <p:cNvSpPr/>
          <p:nvPr/>
        </p:nvSpPr>
        <p:spPr>
          <a:xfrm>
            <a:off x="6172200" y="5166360"/>
            <a:ext cx="5468112" cy="1188720"/>
          </a:xfrm>
          <a:prstGeom prst="roundRect">
            <a:avLst>
              <a:gd fmla="val 6000" name="adj"/>
            </a:avLst>
          </a:prstGeom>
          <a:solidFill>
            <a:srgbClr val="F2F2F2"/>
          </a:solidFill>
          <a:ln>
            <a:noFill/>
          </a:ln>
        </p:spPr>
        <p:txBody>
          <a:bodyPr anchorCtr="0" anchor="ctr" bIns="36575" lIns="91425" spcFirstLastPara="1" rIns="91425" wrap="square" tIns="36575">
            <a:noAutofit/>
          </a:bodyPr>
          <a:lstStyle/>
          <a:p>
            <a:pPr indent="0" lvl="0" marL="0" marR="0" rtl="0" algn="l">
              <a:spcBef>
                <a:spcPts val="0"/>
              </a:spcBef>
              <a:spcAft>
                <a:spcPts val="0"/>
              </a:spcAft>
              <a:buNone/>
            </a:pPr>
            <a:r>
              <a:rPr b="1" i="0" lang="en-US" sz="1500" u="none" cap="none" strike="noStrike">
                <a:solidFill>
                  <a:srgbClr val="262626"/>
                </a:solidFill>
                <a:latin typeface="Calibri"/>
                <a:ea typeface="Calibri"/>
                <a:cs typeface="Calibri"/>
                <a:sym typeface="Calibri"/>
              </a:rPr>
              <a:t>Intercambiable. </a:t>
            </a:r>
            <a:r>
              <a:rPr b="0" i="0" lang="en-US" sz="1350" u="none" cap="none" strike="noStrike">
                <a:solidFill>
                  <a:srgbClr val="262626"/>
                </a:solidFill>
                <a:latin typeface="Calibri"/>
                <a:ea typeface="Calibri"/>
                <a:cs typeface="Calibri"/>
                <a:sym typeface="Calibri"/>
              </a:rPr>
              <a:t>Otro modelo local o de frontera (por ejemplo Jev) se conecta sin cambiar clasificar(); las etiquetas se verifican con texto conocido.</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8" name="Shape 438"/>
        <p:cNvGrpSpPr/>
        <p:nvPr/>
      </p:nvGrpSpPr>
      <p:grpSpPr>
        <a:xfrm>
          <a:off x="0" y="0"/>
          <a:ext cx="0" cy="0"/>
          <a:chOff x="0" y="0"/>
          <a:chExt cx="0" cy="0"/>
        </a:xfrm>
      </p:grpSpPr>
      <p:sp>
        <p:nvSpPr>
          <p:cNvPr id="439" name="Google Shape;439;p24"/>
          <p:cNvSpPr txBox="1"/>
          <p:nvPr>
            <p:ph type="title"/>
          </p:nvPr>
        </p:nvSpPr>
        <p:spPr>
          <a:xfrm>
            <a:off x="1371600" y="457200"/>
            <a:ext cx="8869680" cy="64008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4A1020"/>
              </a:buClr>
              <a:buSzPts val="2800"/>
              <a:buFont typeface="Calibri"/>
              <a:buNone/>
            </a:pPr>
            <a:r>
              <a:rPr b="1" lang="en-US" sz="2800">
                <a:solidFill>
                  <a:srgbClr val="4A1020"/>
                </a:solidFill>
              </a:rPr>
              <a:t>Valor de la IA frente a una solución tradicional</a:t>
            </a:r>
            <a:endParaRPr/>
          </a:p>
        </p:txBody>
      </p:sp>
      <p:pic>
        <p:nvPicPr>
          <p:cNvPr descr="ironveil_v6.png" id="440" name="Google Shape;440;p24"/>
          <p:cNvPicPr preferRelativeResize="0"/>
          <p:nvPr/>
        </p:nvPicPr>
        <p:blipFill rotWithShape="1">
          <a:blip r:embed="rId3">
            <a:alphaModFix/>
          </a:blip>
          <a:srcRect b="0" l="0" r="0" t="0"/>
          <a:stretch/>
        </p:blipFill>
        <p:spPr>
          <a:xfrm>
            <a:off x="502920" y="274320"/>
            <a:ext cx="822960" cy="822960"/>
          </a:xfrm>
          <a:prstGeom prst="rect">
            <a:avLst/>
          </a:prstGeom>
          <a:noFill/>
          <a:ln>
            <a:noFill/>
          </a:ln>
        </p:spPr>
      </p:pic>
      <p:sp>
        <p:nvSpPr>
          <p:cNvPr id="441" name="Google Shape;441;p24"/>
          <p:cNvSpPr txBox="1"/>
          <p:nvPr/>
        </p:nvSpPr>
        <p:spPr>
          <a:xfrm>
            <a:off x="1371600" y="246888"/>
            <a:ext cx="8229600" cy="27432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1100" u="none" cap="none" strike="noStrike">
                <a:solidFill>
                  <a:srgbClr val="7B1C2E"/>
                </a:solidFill>
                <a:latin typeface="Calibri"/>
                <a:ea typeface="Calibri"/>
                <a:cs typeface="Calibri"/>
                <a:sym typeface="Calibri"/>
              </a:rPr>
              <a:t>06 · INTELIGENCIA ARTIFICIAL</a:t>
            </a:r>
            <a:endParaRPr/>
          </a:p>
        </p:txBody>
      </p:sp>
      <p:cxnSp>
        <p:nvCxnSpPr>
          <p:cNvPr id="442" name="Google Shape;442;p24"/>
          <p:cNvCxnSpPr/>
          <p:nvPr/>
        </p:nvCxnSpPr>
        <p:spPr>
          <a:xfrm>
            <a:off x="548640" y="1188720"/>
            <a:ext cx="11091672" cy="0"/>
          </a:xfrm>
          <a:prstGeom prst="straightConnector1">
            <a:avLst/>
          </a:prstGeom>
          <a:noFill/>
          <a:ln cap="flat" cmpd="sng" w="25400">
            <a:solidFill>
              <a:srgbClr val="7B1C2E"/>
            </a:solidFill>
            <a:prstDash val="solid"/>
            <a:miter lim="8000"/>
            <a:headEnd len="sm" w="sm" type="none"/>
            <a:tailEnd len="sm" w="sm" type="none"/>
          </a:ln>
        </p:spPr>
      </p:cxnSp>
      <p:sp>
        <p:nvSpPr>
          <p:cNvPr id="443" name="Google Shape;443;p24"/>
          <p:cNvSpPr/>
          <p:nvPr/>
        </p:nvSpPr>
        <p:spPr>
          <a:xfrm>
            <a:off x="0" y="6510528"/>
            <a:ext cx="12191695" cy="347472"/>
          </a:xfrm>
          <a:prstGeom prst="rect">
            <a:avLst/>
          </a:prstGeom>
          <a:solidFill>
            <a:srgbClr val="7B1C2E"/>
          </a:solidFill>
          <a:ln>
            <a:noFill/>
          </a:ln>
        </p:spPr>
        <p:txBody>
          <a:bodyPr anchorCtr="0" anchor="ctr" bIns="36575" lIns="91425" spcFirstLastPara="1" rIns="91425" wrap="square" tIns="36575">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ronveil_v6_inv.png" id="444" name="Google Shape;444;p24"/>
          <p:cNvPicPr preferRelativeResize="0"/>
          <p:nvPr/>
        </p:nvPicPr>
        <p:blipFill rotWithShape="1">
          <a:blip r:embed="rId4">
            <a:alphaModFix/>
          </a:blip>
          <a:srcRect b="0" l="0" r="0" t="0"/>
          <a:stretch/>
        </p:blipFill>
        <p:spPr>
          <a:xfrm>
            <a:off x="457200" y="6537960"/>
            <a:ext cx="292608" cy="292608"/>
          </a:xfrm>
          <a:prstGeom prst="rect">
            <a:avLst/>
          </a:prstGeom>
          <a:noFill/>
          <a:ln>
            <a:noFill/>
          </a:ln>
        </p:spPr>
      </p:pic>
      <p:sp>
        <p:nvSpPr>
          <p:cNvPr id="445" name="Google Shape;445;p24"/>
          <p:cNvSpPr txBox="1"/>
          <p:nvPr/>
        </p:nvSpPr>
        <p:spPr>
          <a:xfrm>
            <a:off x="822960" y="6528816"/>
            <a:ext cx="5486400" cy="310896"/>
          </a:xfrm>
          <a:prstGeom prst="rect">
            <a:avLst/>
          </a:prstGeom>
          <a:noFill/>
          <a:ln>
            <a:noFill/>
          </a:ln>
        </p:spPr>
        <p:txBody>
          <a:bodyPr anchorCtr="0" anchor="ctr" bIns="27425" lIns="45700" spcFirstLastPara="1" rIns="45700" wrap="square" tIns="27425">
            <a:noAutofit/>
          </a:bodyPr>
          <a:lstStyle/>
          <a:p>
            <a:pPr indent="0" lvl="0" marL="0" marR="0" rtl="0" algn="l">
              <a:spcBef>
                <a:spcPts val="0"/>
              </a:spcBef>
              <a:spcAft>
                <a:spcPts val="0"/>
              </a:spcAft>
              <a:buNone/>
            </a:pPr>
            <a:r>
              <a:rPr b="1" lang="en-US" sz="1050">
                <a:solidFill>
                  <a:srgbClr val="F2F2F2"/>
                </a:solidFill>
                <a:latin typeface="Calibri"/>
                <a:ea typeface="Calibri"/>
                <a:cs typeface="Calibri"/>
                <a:sym typeface="Calibri"/>
              </a:rPr>
              <a:t>IronVeil · Framework de defensa para LLMs autoalojados</a:t>
            </a:r>
            <a:endParaRPr/>
          </a:p>
        </p:txBody>
      </p:sp>
      <p:sp>
        <p:nvSpPr>
          <p:cNvPr id="446" name="Google Shape;446;p24"/>
          <p:cNvSpPr txBox="1"/>
          <p:nvPr/>
        </p:nvSpPr>
        <p:spPr>
          <a:xfrm>
            <a:off x="6217920" y="6528816"/>
            <a:ext cx="5303520" cy="310896"/>
          </a:xfrm>
          <a:prstGeom prst="rect">
            <a:avLst/>
          </a:prstGeom>
          <a:noFill/>
          <a:ln>
            <a:noFill/>
          </a:ln>
        </p:spPr>
        <p:txBody>
          <a:bodyPr anchorCtr="0" anchor="ctr" bIns="27425" lIns="45700" spcFirstLastPara="1" rIns="45700" wrap="square" tIns="27425">
            <a:spAutoFit/>
          </a:bodyPr>
          <a:lstStyle/>
          <a:p>
            <a:pPr indent="0" lvl="0" marL="0" marR="0" rtl="0" algn="r">
              <a:spcBef>
                <a:spcPts val="0"/>
              </a:spcBef>
              <a:spcAft>
                <a:spcPts val="0"/>
              </a:spcAft>
              <a:buNone/>
            </a:pPr>
            <a:r>
              <a:rPr b="0" i="0" lang="en-US" sz="1050" u="none" cap="none" strike="noStrike">
                <a:solidFill>
                  <a:srgbClr val="D9D9D9"/>
                </a:solidFill>
                <a:latin typeface="Calibri"/>
                <a:ea typeface="Calibri"/>
                <a:cs typeface="Calibri"/>
                <a:sym typeface="Calibri"/>
              </a:rPr>
              <a:t>Escuela Colombiana de Ingeniería Julio Garavito · 2026</a:t>
            </a:r>
            <a:endParaRPr/>
          </a:p>
        </p:txBody>
      </p:sp>
      <p:sp>
        <p:nvSpPr>
          <p:cNvPr id="447" name="Google Shape;447;p24"/>
          <p:cNvSpPr txBox="1"/>
          <p:nvPr/>
        </p:nvSpPr>
        <p:spPr>
          <a:xfrm>
            <a:off x="11475720" y="6528816"/>
            <a:ext cx="548640" cy="310896"/>
          </a:xfrm>
          <a:prstGeom prst="rect">
            <a:avLst/>
          </a:prstGeom>
          <a:noFill/>
          <a:ln>
            <a:noFill/>
          </a:ln>
        </p:spPr>
        <p:txBody>
          <a:bodyPr anchorCtr="0" anchor="ctr" bIns="27425" lIns="45700" spcFirstLastPara="1" rIns="45700" wrap="square" tIns="27425">
            <a:spAutoFit/>
          </a:bodyPr>
          <a:lstStyle/>
          <a:p>
            <a:pPr indent="0" lvl="0" marL="0" marR="0" rtl="0" algn="r">
              <a:spcBef>
                <a:spcPts val="0"/>
              </a:spcBef>
              <a:spcAft>
                <a:spcPts val="0"/>
              </a:spcAft>
              <a:buNone/>
            </a:pPr>
            <a:r>
              <a:rPr b="1" i="0" lang="en-US" sz="1100" u="none" cap="none" strike="noStrike">
                <a:solidFill>
                  <a:srgbClr val="FFFFFF"/>
                </a:solidFill>
                <a:latin typeface="Calibri"/>
                <a:ea typeface="Calibri"/>
                <a:cs typeface="Calibri"/>
                <a:sym typeface="Calibri"/>
              </a:rPr>
              <a:t>10</a:t>
            </a:r>
            <a:endParaRPr/>
          </a:p>
        </p:txBody>
      </p:sp>
      <p:graphicFrame>
        <p:nvGraphicFramePr>
          <p:cNvPr id="448" name="Google Shape;448;p24"/>
          <p:cNvGraphicFramePr/>
          <p:nvPr/>
        </p:nvGraphicFramePr>
        <p:xfrm>
          <a:off x="548640" y="1371600"/>
          <a:ext cx="3000000" cy="3000000"/>
        </p:xfrm>
        <a:graphic>
          <a:graphicData uri="http://schemas.openxmlformats.org/drawingml/2006/table">
            <a:tbl>
              <a:tblPr>
                <a:noFill/>
                <a:tableStyleId>{54399A4E-D85B-4455-A2F1-B83CA0E6E0C5}</a:tableStyleId>
              </a:tblPr>
              <a:tblGrid>
                <a:gridCol w="2468875"/>
                <a:gridCol w="3840475"/>
                <a:gridCol w="4782300"/>
              </a:tblGrid>
              <a:tr h="411475">
                <a:tc>
                  <a:txBody>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txBody>
                  <a:tcPr marT="36575" marB="36575" marR="91450" marL="91450" anchor="ctr">
                    <a:solidFill>
                      <a:srgbClr val="4A1020"/>
                    </a:solidFill>
                  </a:tcPr>
                </a:tc>
                <a:tc>
                  <a:txBody>
                    <a:bodyPr/>
                    <a:lstStyle/>
                    <a:p>
                      <a:pPr indent="0" lvl="0" marL="0" marR="0" rtl="0" algn="l">
                        <a:spcBef>
                          <a:spcPts val="0"/>
                        </a:spcBef>
                        <a:spcAft>
                          <a:spcPts val="0"/>
                        </a:spcAft>
                        <a:buNone/>
                      </a:pPr>
                      <a:r>
                        <a:rPr b="1" lang="en-US" sz="1350">
                          <a:solidFill>
                            <a:srgbClr val="FFFFFF"/>
                          </a:solidFill>
                        </a:rPr>
                        <a:t>Tradicional: filtrado con regex</a:t>
                      </a:r>
                      <a:endParaRPr/>
                    </a:p>
                  </a:txBody>
                  <a:tcPr marT="36575" marB="36575" marR="91450" marL="91450" anchor="ctr">
                    <a:solidFill>
                      <a:srgbClr val="4A1020"/>
                    </a:solidFill>
                  </a:tcPr>
                </a:tc>
                <a:tc>
                  <a:txBody>
                    <a:bodyPr/>
                    <a:lstStyle/>
                    <a:p>
                      <a:pPr indent="0" lvl="0" marL="0" marR="0" rtl="0" algn="l">
                        <a:spcBef>
                          <a:spcPts val="0"/>
                        </a:spcBef>
                        <a:spcAft>
                          <a:spcPts val="0"/>
                        </a:spcAft>
                        <a:buNone/>
                      </a:pPr>
                      <a:r>
                        <a:rPr b="1" lang="en-US" sz="1350">
                          <a:solidFill>
                            <a:srgbClr val="FFFFFF"/>
                          </a:solidFill>
                        </a:rPr>
                        <a:t>Con IA: clasificadores</a:t>
                      </a:r>
                      <a:endParaRPr/>
                    </a:p>
                  </a:txBody>
                  <a:tcPr marT="36575" marB="36575" marR="91450" marL="91450" anchor="ctr">
                    <a:solidFill>
                      <a:srgbClr val="4A1020"/>
                    </a:solidFill>
                  </a:tcPr>
                </a:tc>
              </a:tr>
              <a:tr h="566925">
                <a:tc>
                  <a:txBody>
                    <a:bodyPr/>
                    <a:lstStyle/>
                    <a:p>
                      <a:pPr indent="0" lvl="0" marL="0" marR="0" rtl="0" algn="l">
                        <a:spcBef>
                          <a:spcPts val="0"/>
                        </a:spcBef>
                        <a:spcAft>
                          <a:spcPts val="0"/>
                        </a:spcAft>
                        <a:buNone/>
                      </a:pPr>
                      <a:r>
                        <a:rPr b="1" lang="en-US" sz="1350">
                          <a:solidFill>
                            <a:srgbClr val="7B1C2E"/>
                          </a:solidFill>
                        </a:rPr>
                        <a:t>Costo de latencia</a:t>
                      </a:r>
                      <a:endParaRPr/>
                    </a:p>
                  </a:txBody>
                  <a:tcPr marT="36575" marB="36575" marR="91450" marL="91450" anchor="ctr">
                    <a:solidFill>
                      <a:srgbClr val="FFFFFF"/>
                    </a:solidFill>
                  </a:tcPr>
                </a:tc>
                <a:tc>
                  <a:txBody>
                    <a:bodyPr/>
                    <a:lstStyle/>
                    <a:p>
                      <a:pPr indent="0" lvl="0" marL="0" marR="0" rtl="0" algn="l">
                        <a:spcBef>
                          <a:spcPts val="0"/>
                        </a:spcBef>
                        <a:spcAft>
                          <a:spcPts val="0"/>
                        </a:spcAft>
                        <a:buNone/>
                      </a:pPr>
                      <a:r>
                        <a:rPr b="0" lang="en-US" sz="1350">
                          <a:solidFill>
                            <a:srgbClr val="262626"/>
                          </a:solidFill>
                        </a:rPr>
                        <a:t>0,4 ms (todo el proxy en C1)</a:t>
                      </a:r>
                      <a:endParaRPr/>
                    </a:p>
                  </a:txBody>
                  <a:tcPr marT="36575" marB="36575" marR="91450" marL="91450" anchor="ctr">
                    <a:solidFill>
                      <a:srgbClr val="FFFFFF"/>
                    </a:solidFill>
                  </a:tcPr>
                </a:tc>
                <a:tc>
                  <a:txBody>
                    <a:bodyPr/>
                    <a:lstStyle/>
                    <a:p>
                      <a:pPr indent="0" lvl="0" marL="0" marR="0" rtl="0" algn="l">
                        <a:spcBef>
                          <a:spcPts val="0"/>
                        </a:spcBef>
                        <a:spcAft>
                          <a:spcPts val="0"/>
                        </a:spcAft>
                        <a:buNone/>
                      </a:pPr>
                      <a:r>
                        <a:rPr b="0" lang="en-US" sz="1350">
                          <a:solidFill>
                            <a:srgbClr val="262626"/>
                          </a:solidFill>
                        </a:rPr>
                        <a:t>≈ 76 ms (entrada ≈ 39 + salida ≈ 38)</a:t>
                      </a:r>
                      <a:endParaRPr/>
                    </a:p>
                  </a:txBody>
                  <a:tcPr marT="36575" marB="36575" marR="91450" marL="91450" anchor="ctr">
                    <a:solidFill>
                      <a:srgbClr val="FFFFFF"/>
                    </a:solidFill>
                  </a:tcPr>
                </a:tc>
              </a:tr>
              <a:tr h="566925">
                <a:tc>
                  <a:txBody>
                    <a:bodyPr/>
                    <a:lstStyle/>
                    <a:p>
                      <a:pPr indent="0" lvl="0" marL="0" marR="0" rtl="0" algn="l">
                        <a:spcBef>
                          <a:spcPts val="0"/>
                        </a:spcBef>
                        <a:spcAft>
                          <a:spcPts val="0"/>
                        </a:spcAft>
                        <a:buNone/>
                      </a:pPr>
                      <a:r>
                        <a:rPr b="1" lang="en-US" sz="1350">
                          <a:solidFill>
                            <a:srgbClr val="7B1C2E"/>
                          </a:solidFill>
                        </a:rPr>
                        <a:t>Idiomas</a:t>
                      </a:r>
                      <a:endParaRPr/>
                    </a:p>
                  </a:txBody>
                  <a:tcPr marT="36575" marB="36575" marR="91450" marL="91450" anchor="ctr">
                    <a:solidFill>
                      <a:srgbClr val="F2F2F2"/>
                    </a:solidFill>
                  </a:tcPr>
                </a:tc>
                <a:tc>
                  <a:txBody>
                    <a:bodyPr/>
                    <a:lstStyle/>
                    <a:p>
                      <a:pPr indent="0" lvl="0" marL="0" marR="0" rtl="0" algn="l">
                        <a:spcBef>
                          <a:spcPts val="0"/>
                        </a:spcBef>
                        <a:spcAft>
                          <a:spcPts val="0"/>
                        </a:spcAft>
                        <a:buNone/>
                      </a:pPr>
                      <a:r>
                        <a:rPr b="0" lang="en-US" sz="1350">
                          <a:solidFill>
                            <a:srgbClr val="262626"/>
                          </a:solidFill>
                        </a:rPr>
                        <a:t>Español e inglés</a:t>
                      </a:r>
                      <a:endParaRPr/>
                    </a:p>
                  </a:txBody>
                  <a:tcPr marT="36575" marB="36575" marR="91450" marL="91450" anchor="ctr">
                    <a:solidFill>
                      <a:srgbClr val="F2F2F2"/>
                    </a:solidFill>
                  </a:tcPr>
                </a:tc>
                <a:tc>
                  <a:txBody>
                    <a:bodyPr/>
                    <a:lstStyle/>
                    <a:p>
                      <a:pPr indent="0" lvl="0" marL="0" marR="0" rtl="0" algn="l">
                        <a:spcBef>
                          <a:spcPts val="0"/>
                        </a:spcBef>
                        <a:spcAft>
                          <a:spcPts val="0"/>
                        </a:spcAft>
                        <a:buNone/>
                      </a:pPr>
                      <a:r>
                        <a:rPr b="0" lang="en-US" sz="1350">
                          <a:solidFill>
                            <a:srgbClr val="262626"/>
                          </a:solidFill>
                        </a:rPr>
                        <a:t>Detectó en francés lo que el filtro no vio (4 de 4 contra 0 de 4)</a:t>
                      </a:r>
                      <a:endParaRPr/>
                    </a:p>
                  </a:txBody>
                  <a:tcPr marT="36575" marB="36575" marR="91450" marL="91450" anchor="ctr">
                    <a:solidFill>
                      <a:srgbClr val="F2F2F2"/>
                    </a:solidFill>
                  </a:tcPr>
                </a:tc>
              </a:tr>
              <a:tr h="566925">
                <a:tc>
                  <a:txBody>
                    <a:bodyPr/>
                    <a:lstStyle/>
                    <a:p>
                      <a:pPr indent="0" lvl="0" marL="0" marR="0" rtl="0" algn="l">
                        <a:spcBef>
                          <a:spcPts val="0"/>
                        </a:spcBef>
                        <a:spcAft>
                          <a:spcPts val="0"/>
                        </a:spcAft>
                        <a:buNone/>
                      </a:pPr>
                      <a:r>
                        <a:rPr b="1" lang="en-US" sz="1350">
                          <a:solidFill>
                            <a:srgbClr val="7B1C2E"/>
                          </a:solidFill>
                        </a:rPr>
                        <a:t>Con Jev (extensión)</a:t>
                      </a:r>
                      <a:endParaRPr/>
                    </a:p>
                  </a:txBody>
                  <a:tcPr marT="36575" marB="36575" marR="91450" marL="91450" anchor="ctr">
                    <a:solidFill>
                      <a:srgbClr val="FFFFFF"/>
                    </a:solidFill>
                  </a:tcPr>
                </a:tc>
                <a:tc>
                  <a:txBody>
                    <a:bodyPr/>
                    <a:lstStyle/>
                    <a:p>
                      <a:pPr indent="0" lvl="0" marL="0" marR="0" rtl="0" algn="l">
                        <a:spcBef>
                          <a:spcPts val="0"/>
                        </a:spcBef>
                        <a:spcAft>
                          <a:spcPts val="0"/>
                        </a:spcAft>
                        <a:buNone/>
                      </a:pPr>
                      <a:r>
                        <a:rPr b="0" lang="en-US" sz="1350">
                          <a:solidFill>
                            <a:srgbClr val="262626"/>
                          </a:solidFill>
                        </a:rPr>
                        <a:t>No aplica</a:t>
                      </a:r>
                      <a:endParaRPr/>
                    </a:p>
                  </a:txBody>
                  <a:tcPr marT="36575" marB="36575" marR="91450" marL="91450" anchor="ctr">
                    <a:solidFill>
                      <a:srgbClr val="FFFFFF"/>
                    </a:solidFill>
                  </a:tcPr>
                </a:tc>
                <a:tc>
                  <a:txBody>
                    <a:bodyPr/>
                    <a:lstStyle/>
                    <a:p>
                      <a:pPr indent="0" lvl="0" marL="0" marR="0" rtl="0" algn="l">
                        <a:spcBef>
                          <a:spcPts val="0"/>
                        </a:spcBef>
                        <a:spcAft>
                          <a:spcPts val="0"/>
                        </a:spcAft>
                        <a:buNone/>
                      </a:pPr>
                      <a:r>
                        <a:rPr b="0" lang="en-US" sz="1350">
                          <a:solidFill>
                            <a:srgbClr val="262626"/>
                          </a:solidFill>
                        </a:rPr>
                        <a:t>13/13 ataques en español y 16/16 en 8 idiomas; 0 legítimas bloqueadas</a:t>
                      </a:r>
                      <a:endParaRPr/>
                    </a:p>
                  </a:txBody>
                  <a:tcPr marT="36575" marB="36575" marR="91450" marL="91450" anchor="ctr">
                    <a:solidFill>
                      <a:srgbClr val="FFFFFF"/>
                    </a:solidFill>
                  </a:tcPr>
                </a:tc>
              </a:tr>
              <a:tr h="566925">
                <a:tc>
                  <a:txBody>
                    <a:bodyPr/>
                    <a:lstStyle/>
                    <a:p>
                      <a:pPr indent="0" lvl="0" marL="0" marR="0" rtl="0" algn="l">
                        <a:spcBef>
                          <a:spcPts val="0"/>
                        </a:spcBef>
                        <a:spcAft>
                          <a:spcPts val="0"/>
                        </a:spcAft>
                        <a:buNone/>
                      </a:pPr>
                      <a:r>
                        <a:rPr b="1" lang="en-US" sz="1350">
                          <a:solidFill>
                            <a:srgbClr val="7B1C2E"/>
                          </a:solidFill>
                        </a:rPr>
                        <a:t>Explicabilidad</a:t>
                      </a:r>
                      <a:endParaRPr/>
                    </a:p>
                  </a:txBody>
                  <a:tcPr marT="36575" marB="36575" marR="91450" marL="91450" anchor="ctr">
                    <a:solidFill>
                      <a:srgbClr val="F2F2F2"/>
                    </a:solidFill>
                  </a:tcPr>
                </a:tc>
                <a:tc>
                  <a:txBody>
                    <a:bodyPr/>
                    <a:lstStyle/>
                    <a:p>
                      <a:pPr indent="0" lvl="0" marL="0" marR="0" rtl="0" algn="l">
                        <a:spcBef>
                          <a:spcPts val="0"/>
                        </a:spcBef>
                        <a:spcAft>
                          <a:spcPts val="0"/>
                        </a:spcAft>
                        <a:buNone/>
                      </a:pPr>
                      <a:r>
                        <a:rPr b="0" lang="en-US" sz="1350">
                          <a:solidFill>
                            <a:srgbClr val="262626"/>
                          </a:solidFill>
                        </a:rPr>
                        <a:t>Alta: se sabe qué patrón saltó</a:t>
                      </a:r>
                      <a:endParaRPr/>
                    </a:p>
                  </a:txBody>
                  <a:tcPr marT="36575" marB="36575" marR="91450" marL="91450" anchor="ctr">
                    <a:solidFill>
                      <a:srgbClr val="F2F2F2"/>
                    </a:solidFill>
                  </a:tcPr>
                </a:tc>
                <a:tc>
                  <a:txBody>
                    <a:bodyPr/>
                    <a:lstStyle/>
                    <a:p>
                      <a:pPr indent="0" lvl="0" marL="0" marR="0" rtl="0" algn="l">
                        <a:spcBef>
                          <a:spcPts val="0"/>
                        </a:spcBef>
                        <a:spcAft>
                          <a:spcPts val="0"/>
                        </a:spcAft>
                        <a:buNone/>
                      </a:pPr>
                      <a:r>
                        <a:rPr b="0" lang="en-US" sz="1350">
                          <a:solidFill>
                            <a:srgbClr val="262626"/>
                          </a:solidFill>
                        </a:rPr>
                        <a:t>Media: puntaje y etiqueta del modelo</a:t>
                      </a:r>
                      <a:endParaRPr/>
                    </a:p>
                  </a:txBody>
                  <a:tcPr marT="36575" marB="36575" marR="91450" marL="91450" anchor="ctr">
                    <a:solidFill>
                      <a:srgbClr val="F2F2F2"/>
                    </a:solidFill>
                  </a:tcPr>
                </a:tc>
              </a:tr>
              <a:tr h="566925">
                <a:tc>
                  <a:txBody>
                    <a:bodyPr/>
                    <a:lstStyle/>
                    <a:p>
                      <a:pPr indent="0" lvl="0" marL="0" marR="0" rtl="0" algn="l">
                        <a:spcBef>
                          <a:spcPts val="0"/>
                        </a:spcBef>
                        <a:spcAft>
                          <a:spcPts val="0"/>
                        </a:spcAft>
                        <a:buNone/>
                      </a:pPr>
                      <a:r>
                        <a:rPr b="1" lang="en-US" sz="1350">
                          <a:solidFill>
                            <a:srgbClr val="7B1C2E"/>
                          </a:solidFill>
                        </a:rPr>
                        <a:t>Reducción de fuga medida</a:t>
                      </a:r>
                      <a:endParaRPr/>
                    </a:p>
                  </a:txBody>
                  <a:tcPr marT="36575" marB="36575" marR="91450" marL="91450" anchor="ctr">
                    <a:solidFill>
                      <a:srgbClr val="FFFFFF"/>
                    </a:solidFill>
                  </a:tcPr>
                </a:tc>
                <a:tc>
                  <a:txBody>
                    <a:bodyPr/>
                    <a:lstStyle/>
                    <a:p>
                      <a:pPr indent="0" lvl="0" marL="0" marR="0" rtl="0" algn="l">
                        <a:spcBef>
                          <a:spcPts val="0"/>
                        </a:spcBef>
                        <a:spcAft>
                          <a:spcPts val="0"/>
                        </a:spcAft>
                        <a:buNone/>
                      </a:pPr>
                      <a:r>
                        <a:rPr b="0" lang="en-US" sz="1350">
                          <a:solidFill>
                            <a:srgbClr val="262626"/>
                          </a:solidFill>
                        </a:rPr>
                        <a:t>V2, V3 y V4 (p ≤ 0,003)</a:t>
                      </a:r>
                      <a:endParaRPr/>
                    </a:p>
                  </a:txBody>
                  <a:tcPr marT="36575" marB="36575" marR="91450" marL="91450" anchor="ctr">
                    <a:solidFill>
                      <a:srgbClr val="FFFFFF"/>
                    </a:solidFill>
                  </a:tcPr>
                </a:tc>
                <a:tc>
                  <a:txBody>
                    <a:bodyPr/>
                    <a:lstStyle/>
                    <a:p>
                      <a:pPr indent="0" lvl="0" marL="0" marR="0" rtl="0" algn="l">
                        <a:spcBef>
                          <a:spcPts val="0"/>
                        </a:spcBef>
                        <a:spcAft>
                          <a:spcPts val="0"/>
                        </a:spcAft>
                        <a:buNone/>
                      </a:pPr>
                      <a:r>
                        <a:rPr b="0" lang="en-US" sz="1350">
                          <a:solidFill>
                            <a:srgbClr val="262626"/>
                          </a:solidFill>
                        </a:rPr>
                        <a:t>No distinguible en V2 a V4 (p = 0,72; 0,34; 0,86)</a:t>
                      </a:r>
                      <a:endParaRPr/>
                    </a:p>
                  </a:txBody>
                  <a:tcPr marT="36575" marB="36575" marR="91450" marL="91450" anchor="ctr">
                    <a:solidFill>
                      <a:srgbClr val="FFFFFF"/>
                    </a:solidFill>
                  </a:tcPr>
                </a:tc>
              </a:tr>
            </a:tbl>
          </a:graphicData>
        </a:graphic>
      </p:graphicFrame>
      <p:sp>
        <p:nvSpPr>
          <p:cNvPr id="449" name="Google Shape;449;p24"/>
          <p:cNvSpPr/>
          <p:nvPr/>
        </p:nvSpPr>
        <p:spPr>
          <a:xfrm>
            <a:off x="548640" y="4846320"/>
            <a:ext cx="5486400" cy="1508760"/>
          </a:xfrm>
          <a:prstGeom prst="roundRect">
            <a:avLst>
              <a:gd fmla="val 6000" name="adj"/>
            </a:avLst>
          </a:prstGeom>
          <a:solidFill>
            <a:srgbClr val="FFFFFF"/>
          </a:solidFill>
          <a:ln cap="flat" cmpd="sng" w="12700">
            <a:solidFill>
              <a:srgbClr val="7B1C2E"/>
            </a:solidFill>
            <a:prstDash val="solid"/>
            <a:miter lim="8000"/>
            <a:headEnd len="sm" w="sm" type="none"/>
            <a:tailEnd len="sm" w="sm" type="none"/>
          </a:ln>
        </p:spPr>
        <p:txBody>
          <a:bodyPr anchorCtr="0" anchor="ctr" bIns="36575" lIns="91425" spcFirstLastPara="1" rIns="91425" wrap="square" tIns="36575">
            <a:noAutofit/>
          </a:bodyPr>
          <a:lstStyle/>
          <a:p>
            <a:pPr indent="0" lvl="0" marL="0" marR="0" rtl="0" algn="l">
              <a:spcBef>
                <a:spcPts val="0"/>
              </a:spcBef>
              <a:spcAft>
                <a:spcPts val="0"/>
              </a:spcAft>
              <a:buNone/>
            </a:pPr>
            <a:r>
              <a:rPr b="1" i="0" lang="en-US" sz="1500" u="none" cap="none" strike="noStrike">
                <a:solidFill>
                  <a:srgbClr val="7B1C2E"/>
                </a:solidFill>
                <a:latin typeface="Calibri"/>
                <a:ea typeface="Calibri"/>
                <a:cs typeface="Calibri"/>
                <a:sym typeface="Calibri"/>
              </a:rPr>
              <a:t>L</a:t>
            </a:r>
            <a:r>
              <a:rPr b="1" lang="en-US" sz="1500">
                <a:solidFill>
                  <a:srgbClr val="7B1C2E"/>
                </a:solidFill>
                <a:latin typeface="Calibri"/>
                <a:ea typeface="Calibri"/>
                <a:cs typeface="Calibri"/>
                <a:sym typeface="Calibri"/>
              </a:rPr>
              <a:t>o que mostró la IA</a:t>
            </a:r>
            <a:endParaRPr/>
          </a:p>
          <a:p>
            <a:pPr indent="0" lvl="0" marL="0" marR="0" rtl="0" algn="l">
              <a:spcBef>
                <a:spcPts val="400"/>
              </a:spcBef>
              <a:spcAft>
                <a:spcPts val="0"/>
              </a:spcAft>
              <a:buNone/>
            </a:pPr>
            <a:r>
              <a:rPr b="0" i="0" lang="en-US" sz="1450" u="none" cap="none" strike="noStrike">
                <a:solidFill>
                  <a:srgbClr val="7B1C2E"/>
                </a:solidFill>
                <a:latin typeface="Calibri"/>
                <a:ea typeface="Calibri"/>
                <a:cs typeface="Calibri"/>
                <a:sym typeface="Calibri"/>
              </a:rPr>
              <a:t>Con el modelo base de 1B, que ya rechaza casi todo, la IA no mostró reducción medible de fuga y cuesta ≈ 76 ms.</a:t>
            </a:r>
            <a:endParaRPr/>
          </a:p>
        </p:txBody>
      </p:sp>
      <p:sp>
        <p:nvSpPr>
          <p:cNvPr id="450" name="Google Shape;450;p24"/>
          <p:cNvSpPr/>
          <p:nvPr/>
        </p:nvSpPr>
        <p:spPr>
          <a:xfrm>
            <a:off x="6153912" y="4846320"/>
            <a:ext cx="5486400" cy="1508760"/>
          </a:xfrm>
          <a:prstGeom prst="roundRect">
            <a:avLst>
              <a:gd fmla="val 6000" name="adj"/>
            </a:avLst>
          </a:prstGeom>
          <a:solidFill>
            <a:srgbClr val="F2F2F2"/>
          </a:solidFill>
          <a:ln>
            <a:noFill/>
          </a:ln>
        </p:spPr>
        <p:txBody>
          <a:bodyPr anchorCtr="0" anchor="ctr" bIns="36575" lIns="91425" spcFirstLastPara="1" rIns="91425" wrap="square" tIns="36575">
            <a:noAutofit/>
          </a:bodyPr>
          <a:lstStyle/>
          <a:p>
            <a:pPr indent="0" lvl="0" marL="0" marR="0" rtl="0" algn="l">
              <a:spcBef>
                <a:spcPts val="0"/>
              </a:spcBef>
              <a:spcAft>
                <a:spcPts val="0"/>
              </a:spcAft>
              <a:buNone/>
            </a:pPr>
            <a:r>
              <a:rPr b="1" i="0" lang="en-US" sz="1500" u="none" cap="none" strike="noStrike">
                <a:solidFill>
                  <a:srgbClr val="262626"/>
                </a:solidFill>
                <a:latin typeface="Calibri"/>
                <a:ea typeface="Calibri"/>
                <a:cs typeface="Calibri"/>
                <a:sym typeface="Calibri"/>
              </a:rPr>
              <a:t>Dónde sí aporta</a:t>
            </a:r>
            <a:endParaRPr/>
          </a:p>
          <a:p>
            <a:pPr indent="0" lvl="0" marL="0" marR="0" rtl="0" algn="l">
              <a:spcBef>
                <a:spcPts val="400"/>
              </a:spcBef>
              <a:spcAft>
                <a:spcPts val="0"/>
              </a:spcAft>
              <a:buNone/>
            </a:pPr>
            <a:r>
              <a:rPr lang="en-US" sz="1450">
                <a:solidFill>
                  <a:srgbClr val="262626"/>
                </a:solidFill>
                <a:latin typeface="Calibri"/>
                <a:ea typeface="Calibri"/>
                <a:cs typeface="Calibri"/>
                <a:sym typeface="Calibri"/>
              </a:rPr>
              <a:t>En idiomas y paráfrasis que las reglas no ven (francés: 4 de 4 contra 0 de 4). Frente a un catálogo externo, Garak, Jev bajó el ASR de 51,2 % a 0,3 % (diapositiva 16). Con modelos menos alineados es una hipótesis aún no probada.</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5" name="Shape 455"/>
        <p:cNvGrpSpPr/>
        <p:nvPr/>
      </p:nvGrpSpPr>
      <p:grpSpPr>
        <a:xfrm>
          <a:off x="0" y="0"/>
          <a:ext cx="0" cy="0"/>
          <a:chOff x="0" y="0"/>
          <a:chExt cx="0" cy="0"/>
        </a:xfrm>
      </p:grpSpPr>
      <p:sp>
        <p:nvSpPr>
          <p:cNvPr id="456" name="Google Shape;456;p25"/>
          <p:cNvSpPr txBox="1"/>
          <p:nvPr>
            <p:ph type="title"/>
          </p:nvPr>
        </p:nvSpPr>
        <p:spPr>
          <a:xfrm>
            <a:off x="1371600" y="457200"/>
            <a:ext cx="8869800" cy="6402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4A1020"/>
              </a:buClr>
              <a:buSzPts val="2800"/>
              <a:buFont typeface="Calibri"/>
              <a:buNone/>
            </a:pPr>
            <a:r>
              <a:rPr lang="en-US" sz="2800">
                <a:solidFill>
                  <a:srgbClr val="4A1020"/>
                </a:solidFill>
              </a:rPr>
              <a:t>Clasificador local frente a Jev (servicio)</a:t>
            </a:r>
            <a:endParaRPr sz="2800">
              <a:solidFill>
                <a:srgbClr val="4A1020"/>
              </a:solidFill>
            </a:endParaRPr>
          </a:p>
        </p:txBody>
      </p:sp>
      <p:pic>
        <p:nvPicPr>
          <p:cNvPr descr="ironveil_v6.png" id="457" name="Google Shape;457;p25"/>
          <p:cNvPicPr preferRelativeResize="0"/>
          <p:nvPr/>
        </p:nvPicPr>
        <p:blipFill rotWithShape="1">
          <a:blip r:embed="rId3">
            <a:alphaModFix/>
          </a:blip>
          <a:srcRect b="0" l="0" r="0" t="0"/>
          <a:stretch/>
        </p:blipFill>
        <p:spPr>
          <a:xfrm>
            <a:off x="502920" y="274320"/>
            <a:ext cx="822961" cy="822961"/>
          </a:xfrm>
          <a:prstGeom prst="rect">
            <a:avLst/>
          </a:prstGeom>
          <a:noFill/>
          <a:ln>
            <a:noFill/>
          </a:ln>
        </p:spPr>
      </p:pic>
      <p:sp>
        <p:nvSpPr>
          <p:cNvPr id="458" name="Google Shape;458;p25"/>
          <p:cNvSpPr txBox="1"/>
          <p:nvPr/>
        </p:nvSpPr>
        <p:spPr>
          <a:xfrm>
            <a:off x="1371600" y="246888"/>
            <a:ext cx="8229600" cy="274200"/>
          </a:xfrm>
          <a:prstGeom prst="rect">
            <a:avLst/>
          </a:prstGeom>
          <a:noFill/>
          <a:ln>
            <a:noFill/>
          </a:ln>
        </p:spPr>
        <p:txBody>
          <a:bodyPr anchorCtr="0" anchor="t" bIns="27425" lIns="45700" spcFirstLastPara="1" rIns="45700" wrap="square" tIns="27425">
            <a:noAutofit/>
          </a:bodyPr>
          <a:lstStyle/>
          <a:p>
            <a:pPr indent="0" lvl="0" marL="0" marR="0" rtl="0" algn="l">
              <a:spcBef>
                <a:spcPts val="0"/>
              </a:spcBef>
              <a:spcAft>
                <a:spcPts val="0"/>
              </a:spcAft>
              <a:buNone/>
            </a:pPr>
            <a:r>
              <a:rPr b="1" lang="en-US" sz="1100">
                <a:solidFill>
                  <a:srgbClr val="7B1C2E"/>
                </a:solidFill>
                <a:latin typeface="Calibri"/>
                <a:ea typeface="Calibri"/>
                <a:cs typeface="Calibri"/>
                <a:sym typeface="Calibri"/>
              </a:rPr>
              <a:t>06 · INTELIGENCIA ARTIFICIAL</a:t>
            </a:r>
            <a:endParaRPr b="1" sz="1100">
              <a:solidFill>
                <a:srgbClr val="7B1C2E"/>
              </a:solidFill>
              <a:latin typeface="Calibri"/>
              <a:ea typeface="Calibri"/>
              <a:cs typeface="Calibri"/>
              <a:sym typeface="Calibri"/>
            </a:endParaRPr>
          </a:p>
        </p:txBody>
      </p:sp>
      <p:cxnSp>
        <p:nvCxnSpPr>
          <p:cNvPr id="459" name="Google Shape;459;p25"/>
          <p:cNvCxnSpPr/>
          <p:nvPr/>
        </p:nvCxnSpPr>
        <p:spPr>
          <a:xfrm>
            <a:off x="548640" y="1188720"/>
            <a:ext cx="11091600" cy="0"/>
          </a:xfrm>
          <a:prstGeom prst="straightConnector1">
            <a:avLst/>
          </a:prstGeom>
          <a:noFill/>
          <a:ln cap="flat" cmpd="sng" w="25400">
            <a:solidFill>
              <a:srgbClr val="7B1C2E"/>
            </a:solidFill>
            <a:prstDash val="solid"/>
            <a:miter lim="8000"/>
            <a:headEnd len="sm" w="sm" type="none"/>
            <a:tailEnd len="sm" w="sm" type="none"/>
          </a:ln>
        </p:spPr>
      </p:cxnSp>
      <p:sp>
        <p:nvSpPr>
          <p:cNvPr id="460" name="Google Shape;460;p25"/>
          <p:cNvSpPr/>
          <p:nvPr/>
        </p:nvSpPr>
        <p:spPr>
          <a:xfrm>
            <a:off x="0" y="6510528"/>
            <a:ext cx="12191700" cy="347400"/>
          </a:xfrm>
          <a:prstGeom prst="rect">
            <a:avLst/>
          </a:prstGeom>
          <a:solidFill>
            <a:srgbClr val="7B1C2E"/>
          </a:solidFill>
          <a:ln>
            <a:noFill/>
          </a:ln>
        </p:spPr>
        <p:txBody>
          <a:bodyPr anchorCtr="0" anchor="ctr" bIns="36575" lIns="91425" spcFirstLastPara="1" rIns="91425" wrap="square" tIns="36575">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ronveil_v6_inv.png" id="461" name="Google Shape;461;p25"/>
          <p:cNvPicPr preferRelativeResize="0"/>
          <p:nvPr/>
        </p:nvPicPr>
        <p:blipFill rotWithShape="1">
          <a:blip r:embed="rId4">
            <a:alphaModFix/>
          </a:blip>
          <a:srcRect b="0" l="0" r="0" t="0"/>
          <a:stretch/>
        </p:blipFill>
        <p:spPr>
          <a:xfrm>
            <a:off x="457200" y="6537960"/>
            <a:ext cx="292608" cy="292608"/>
          </a:xfrm>
          <a:prstGeom prst="rect">
            <a:avLst/>
          </a:prstGeom>
          <a:noFill/>
          <a:ln>
            <a:noFill/>
          </a:ln>
        </p:spPr>
      </p:pic>
      <p:sp>
        <p:nvSpPr>
          <p:cNvPr id="462" name="Google Shape;462;p25"/>
          <p:cNvSpPr txBox="1"/>
          <p:nvPr/>
        </p:nvSpPr>
        <p:spPr>
          <a:xfrm>
            <a:off x="822960" y="6528816"/>
            <a:ext cx="5486400" cy="310800"/>
          </a:xfrm>
          <a:prstGeom prst="rect">
            <a:avLst/>
          </a:prstGeom>
          <a:noFill/>
          <a:ln>
            <a:noFill/>
          </a:ln>
        </p:spPr>
        <p:txBody>
          <a:bodyPr anchorCtr="0" anchor="ctr" bIns="27425" lIns="45700" spcFirstLastPara="1" rIns="45700" wrap="square" tIns="27425">
            <a:noAutofit/>
          </a:bodyPr>
          <a:lstStyle/>
          <a:p>
            <a:pPr indent="0" lvl="0" marL="0" marR="0" rtl="0" algn="l">
              <a:spcBef>
                <a:spcPts val="0"/>
              </a:spcBef>
              <a:spcAft>
                <a:spcPts val="0"/>
              </a:spcAft>
              <a:buNone/>
            </a:pPr>
            <a:r>
              <a:rPr b="1" lang="en-US" sz="1050">
                <a:solidFill>
                  <a:srgbClr val="F2F2F2"/>
                </a:solidFill>
                <a:latin typeface="Calibri"/>
                <a:ea typeface="Calibri"/>
                <a:cs typeface="Calibri"/>
                <a:sym typeface="Calibri"/>
              </a:rPr>
              <a:t>IronVeil · Framework de defensa para LLMs autoalojados</a:t>
            </a:r>
            <a:endParaRPr/>
          </a:p>
        </p:txBody>
      </p:sp>
      <p:sp>
        <p:nvSpPr>
          <p:cNvPr id="463" name="Google Shape;463;p25"/>
          <p:cNvSpPr txBox="1"/>
          <p:nvPr/>
        </p:nvSpPr>
        <p:spPr>
          <a:xfrm>
            <a:off x="6217920" y="6528816"/>
            <a:ext cx="5303400" cy="310800"/>
          </a:xfrm>
          <a:prstGeom prst="rect">
            <a:avLst/>
          </a:prstGeom>
          <a:noFill/>
          <a:ln>
            <a:noFill/>
          </a:ln>
        </p:spPr>
        <p:txBody>
          <a:bodyPr anchorCtr="0" anchor="ctr" bIns="27425" lIns="45700" spcFirstLastPara="1" rIns="45700" wrap="square" tIns="27425">
            <a:noAutofit/>
          </a:bodyPr>
          <a:lstStyle/>
          <a:p>
            <a:pPr indent="0" lvl="0" marL="0" marR="0" rtl="0" algn="r">
              <a:spcBef>
                <a:spcPts val="0"/>
              </a:spcBef>
              <a:spcAft>
                <a:spcPts val="0"/>
              </a:spcAft>
              <a:buNone/>
            </a:pPr>
            <a:r>
              <a:rPr b="0" i="0" lang="en-US" sz="1050" u="none" cap="none" strike="noStrike">
                <a:solidFill>
                  <a:srgbClr val="D9D9D9"/>
                </a:solidFill>
                <a:latin typeface="Calibri"/>
                <a:ea typeface="Calibri"/>
                <a:cs typeface="Calibri"/>
                <a:sym typeface="Calibri"/>
              </a:rPr>
              <a:t>Escuela Colombiana de Ingeniería Julio Garavito · 2026</a:t>
            </a:r>
            <a:endParaRPr/>
          </a:p>
        </p:txBody>
      </p:sp>
      <p:sp>
        <p:nvSpPr>
          <p:cNvPr id="464" name="Google Shape;464;p25"/>
          <p:cNvSpPr txBox="1"/>
          <p:nvPr/>
        </p:nvSpPr>
        <p:spPr>
          <a:xfrm>
            <a:off x="11475720" y="6528816"/>
            <a:ext cx="548700" cy="310800"/>
          </a:xfrm>
          <a:prstGeom prst="rect">
            <a:avLst/>
          </a:prstGeom>
          <a:noFill/>
          <a:ln>
            <a:noFill/>
          </a:ln>
        </p:spPr>
        <p:txBody>
          <a:bodyPr anchorCtr="0" anchor="ctr" bIns="27425" lIns="45700" spcFirstLastPara="1" rIns="45700" wrap="square" tIns="27425">
            <a:noAutofit/>
          </a:bodyPr>
          <a:lstStyle/>
          <a:p>
            <a:pPr indent="0" lvl="0" marL="0" marR="0" rtl="0" algn="r">
              <a:spcBef>
                <a:spcPts val="0"/>
              </a:spcBef>
              <a:spcAft>
                <a:spcPts val="0"/>
              </a:spcAft>
              <a:buNone/>
            </a:pPr>
            <a:r>
              <a:rPr b="1" lang="en-US" sz="1100">
                <a:solidFill>
                  <a:srgbClr val="FFFFFF"/>
                </a:solidFill>
                <a:latin typeface="Calibri"/>
                <a:ea typeface="Calibri"/>
                <a:cs typeface="Calibri"/>
                <a:sym typeface="Calibri"/>
              </a:rPr>
              <a:t>11</a:t>
            </a:r>
            <a:endParaRPr b="1" sz="1100">
              <a:solidFill>
                <a:srgbClr val="FFFFFF"/>
              </a:solidFill>
              <a:latin typeface="Calibri"/>
              <a:ea typeface="Calibri"/>
              <a:cs typeface="Calibri"/>
              <a:sym typeface="Calibri"/>
            </a:endParaRPr>
          </a:p>
        </p:txBody>
      </p:sp>
      <p:graphicFrame>
        <p:nvGraphicFramePr>
          <p:cNvPr id="465" name="Google Shape;465;p25"/>
          <p:cNvGraphicFramePr/>
          <p:nvPr/>
        </p:nvGraphicFramePr>
        <p:xfrm>
          <a:off x="548640" y="1325880"/>
          <a:ext cx="3000000" cy="3000000"/>
        </p:xfrm>
        <a:graphic>
          <a:graphicData uri="http://schemas.openxmlformats.org/drawingml/2006/table">
            <a:tbl>
              <a:tblPr>
                <a:noFill/>
                <a:tableStyleId>{6BB7EA19-134A-4353-B84C-D1BC6A298CFA}</a:tableStyleId>
              </a:tblPr>
              <a:tblGrid>
                <a:gridCol w="2103100"/>
                <a:gridCol w="4480550"/>
                <a:gridCol w="4507975"/>
              </a:tblGrid>
              <a:tr h="396250">
                <a:tc>
                  <a:txBody>
                    <a:bodyPr/>
                    <a:lstStyle/>
                    <a:p>
                      <a:pPr indent="0" lvl="0" marL="0" rtl="0" algn="l">
                        <a:spcBef>
                          <a:spcPts val="0"/>
                        </a:spcBef>
                        <a:spcAft>
                          <a:spcPts val="0"/>
                        </a:spcAft>
                        <a:buNone/>
                      </a:pPr>
                      <a:r>
                        <a:rPr b="1" lang="en-US">
                          <a:latin typeface="Calibri"/>
                          <a:ea typeface="Calibri"/>
                          <a:cs typeface="Calibri"/>
                          <a:sym typeface="Calibri"/>
                        </a:rPr>
                        <a:t>Criterio</a:t>
                      </a:r>
                      <a:endParaRPr b="1">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b="1" lang="en-US">
                          <a:latin typeface="Calibri"/>
                          <a:ea typeface="Calibri"/>
                          <a:cs typeface="Calibri"/>
                          <a:sym typeface="Calibri"/>
                        </a:rPr>
                        <a:t>Llama Prompt Guard 2 (autoalojado)</a:t>
                      </a:r>
                      <a:endParaRPr b="1">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b="1" lang="en-US">
                          <a:latin typeface="Calibri"/>
                          <a:ea typeface="Calibri"/>
                          <a:cs typeface="Calibri"/>
                          <a:sym typeface="Calibri"/>
                        </a:rPr>
                        <a:t>Jev (servicio de pago)</a:t>
                      </a:r>
                      <a:endParaRPr b="1">
                        <a:latin typeface="Calibri"/>
                        <a:ea typeface="Calibri"/>
                        <a:cs typeface="Calibri"/>
                        <a:sym typeface="Calibri"/>
                      </a:endParaRPr>
                    </a:p>
                  </a:txBody>
                  <a:tcPr marT="91425" marB="91425" marR="91425" marL="91425"/>
                </a:tc>
              </a:tr>
              <a:tr h="396250">
                <a:tc>
                  <a:txBody>
                    <a:bodyPr/>
                    <a:lstStyle/>
                    <a:p>
                      <a:pPr indent="0" lvl="0" marL="0" rtl="0" algn="l">
                        <a:spcBef>
                          <a:spcPts val="0"/>
                        </a:spcBef>
                        <a:spcAft>
                          <a:spcPts val="0"/>
                        </a:spcAft>
                        <a:buNone/>
                      </a:pPr>
                      <a:r>
                        <a:rPr b="1" lang="en-US">
                          <a:latin typeface="Calibri"/>
                          <a:ea typeface="Calibri"/>
                          <a:cs typeface="Calibri"/>
                          <a:sym typeface="Calibri"/>
                        </a:rPr>
                        <a:t>Despliegue</a:t>
                      </a:r>
                      <a:endParaRPr b="1">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n-US">
                          <a:latin typeface="Calibri"/>
                          <a:ea typeface="Calibri"/>
                          <a:cs typeface="Calibri"/>
                          <a:sym typeface="Calibri"/>
                        </a:rPr>
                        <a:t>Local: 86 M de parámetros; el texto no sale de la red</a:t>
                      </a:r>
                      <a:endParaRPr>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n-US">
                          <a:latin typeface="Calibri"/>
                          <a:ea typeface="Calibri"/>
                          <a:cs typeface="Calibri"/>
                          <a:sym typeface="Calibri"/>
                        </a:rPr>
                        <a:t>API de TypeSafe: el texto de cada petición sale a un tercero</a:t>
                      </a:r>
                      <a:endParaRPr>
                        <a:latin typeface="Calibri"/>
                        <a:ea typeface="Calibri"/>
                        <a:cs typeface="Calibri"/>
                        <a:sym typeface="Calibri"/>
                      </a:endParaRPr>
                    </a:p>
                  </a:txBody>
                  <a:tcPr marT="91425" marB="91425" marR="91425" marL="91425"/>
                </a:tc>
              </a:tr>
              <a:tr h="396250">
                <a:tc>
                  <a:txBody>
                    <a:bodyPr/>
                    <a:lstStyle/>
                    <a:p>
                      <a:pPr indent="0" lvl="0" marL="0" rtl="0" algn="l">
                        <a:spcBef>
                          <a:spcPts val="0"/>
                        </a:spcBef>
                        <a:spcAft>
                          <a:spcPts val="0"/>
                        </a:spcAft>
                        <a:buNone/>
                      </a:pPr>
                      <a:r>
                        <a:rPr b="1" lang="en-US">
                          <a:latin typeface="Calibri"/>
                          <a:ea typeface="Calibri"/>
                          <a:cs typeface="Calibri"/>
                          <a:sym typeface="Calibri"/>
                        </a:rPr>
                        <a:t>Idiomas</a:t>
                      </a:r>
                      <a:endParaRPr b="1">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n-US">
                          <a:latin typeface="Calibri"/>
                          <a:ea typeface="Calibri"/>
                          <a:cs typeface="Calibri"/>
                          <a:sym typeface="Calibri"/>
                        </a:rPr>
                        <a:t>8 (ficha del modelo en Hugging Face)</a:t>
                      </a:r>
                      <a:endParaRPr>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n-US">
                          <a:latin typeface="Calibri"/>
                          <a:ea typeface="Calibri"/>
                          <a:cs typeface="Calibri"/>
                          <a:sym typeface="Calibri"/>
                        </a:rPr>
                        <a:t>+50</a:t>
                      </a:r>
                      <a:endParaRPr>
                        <a:latin typeface="Calibri"/>
                        <a:ea typeface="Calibri"/>
                        <a:cs typeface="Calibri"/>
                        <a:sym typeface="Calibri"/>
                      </a:endParaRPr>
                    </a:p>
                  </a:txBody>
                  <a:tcPr marT="91425" marB="91425" marR="91425" marL="91425"/>
                </a:tc>
              </a:tr>
              <a:tr h="396250">
                <a:tc>
                  <a:txBody>
                    <a:bodyPr/>
                    <a:lstStyle/>
                    <a:p>
                      <a:pPr indent="0" lvl="0" marL="0" rtl="0" algn="l">
                        <a:spcBef>
                          <a:spcPts val="0"/>
                        </a:spcBef>
                        <a:spcAft>
                          <a:spcPts val="0"/>
                        </a:spcAft>
                        <a:buNone/>
                      </a:pPr>
                      <a:r>
                        <a:rPr b="1" lang="en-US">
                          <a:latin typeface="Calibri"/>
                          <a:ea typeface="Calibri"/>
                          <a:cs typeface="Calibri"/>
                          <a:sym typeface="Calibri"/>
                        </a:rPr>
                        <a:t>Ataques de Garak (339)</a:t>
                      </a:r>
                      <a:endParaRPr b="1">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n-US">
                          <a:latin typeface="Calibri"/>
                          <a:ea typeface="Calibri"/>
                          <a:cs typeface="Calibri"/>
                          <a:sym typeface="Calibri"/>
                        </a:rPr>
                        <a:t>Detección real: 221/339 (65 %). Otros 118 se bloquearon por falla cerrada y no se cuentan como detección</a:t>
                      </a:r>
                      <a:r>
                        <a:rPr lang="en-US">
                          <a:latin typeface="Calibri"/>
                          <a:ea typeface="Calibri"/>
                          <a:cs typeface="Calibri"/>
                          <a:sym typeface="Calibri"/>
                        </a:rPr>
                        <a:t> ²</a:t>
                      </a:r>
                      <a:endParaRPr>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n-US">
                          <a:latin typeface="Calibri"/>
                          <a:ea typeface="Calibri"/>
                          <a:cs typeface="Calibri"/>
                          <a:sym typeface="Calibri"/>
                        </a:rPr>
                        <a:t>Frena 86 % en la entrada (291/339); ASR 0,3 %</a:t>
                      </a:r>
                      <a:endParaRPr>
                        <a:latin typeface="Calibri"/>
                        <a:ea typeface="Calibri"/>
                        <a:cs typeface="Calibri"/>
                        <a:sym typeface="Calibri"/>
                      </a:endParaRPr>
                    </a:p>
                  </a:txBody>
                  <a:tcPr marT="91425" marB="91425" marR="91425" marL="91425"/>
                </a:tc>
              </a:tr>
              <a:tr h="396250">
                <a:tc>
                  <a:txBody>
                    <a:bodyPr/>
                    <a:lstStyle/>
                    <a:p>
                      <a:pPr indent="0" lvl="0" marL="0" rtl="0" algn="l">
                        <a:spcBef>
                          <a:spcPts val="0"/>
                        </a:spcBef>
                        <a:spcAft>
                          <a:spcPts val="0"/>
                        </a:spcAft>
                        <a:buNone/>
                      </a:pPr>
                      <a:r>
                        <a:rPr b="1" lang="en-US">
                          <a:latin typeface="Calibri"/>
                          <a:ea typeface="Calibri"/>
                          <a:cs typeface="Calibri"/>
                          <a:sym typeface="Calibri"/>
                        </a:rPr>
                        <a:t>Latencia</a:t>
                      </a:r>
                      <a:endParaRPr b="1">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n-US">
                          <a:latin typeface="Calibri"/>
                          <a:ea typeface="Calibri"/>
                          <a:cs typeface="Calibri"/>
                          <a:sym typeface="Calibri"/>
                        </a:rPr>
                        <a:t>≈ 39 ms por llamada de entrada</a:t>
                      </a:r>
                      <a:endParaRPr>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n-US">
                          <a:latin typeface="Calibri"/>
                          <a:ea typeface="Calibri"/>
                          <a:cs typeface="Calibri"/>
                          <a:sym typeface="Calibri"/>
                        </a:rPr>
                        <a:t>p50 de 92 a 221 ms, con picos (modelo nuevo)</a:t>
                      </a:r>
                      <a:endParaRPr>
                        <a:latin typeface="Calibri"/>
                        <a:ea typeface="Calibri"/>
                        <a:cs typeface="Calibri"/>
                        <a:sym typeface="Calibri"/>
                      </a:endParaRPr>
                    </a:p>
                  </a:txBody>
                  <a:tcPr marT="91425" marB="91425" marR="91425" marL="91425"/>
                </a:tc>
              </a:tr>
              <a:tr h="396250">
                <a:tc>
                  <a:txBody>
                    <a:bodyPr/>
                    <a:lstStyle/>
                    <a:p>
                      <a:pPr indent="0" lvl="0" marL="0" rtl="0" algn="l">
                        <a:spcBef>
                          <a:spcPts val="0"/>
                        </a:spcBef>
                        <a:spcAft>
                          <a:spcPts val="0"/>
                        </a:spcAft>
                        <a:buNone/>
                      </a:pPr>
                      <a:r>
                        <a:rPr b="1" lang="en-US">
                          <a:latin typeface="Calibri"/>
                          <a:ea typeface="Calibri"/>
                          <a:cs typeface="Calibri"/>
                          <a:sym typeface="Calibri"/>
                        </a:rPr>
                        <a:t>Costo</a:t>
                      </a:r>
                      <a:endParaRPr b="1">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n-US">
                          <a:latin typeface="Calibri"/>
                          <a:ea typeface="Calibri"/>
                          <a:cs typeface="Calibri"/>
                          <a:sym typeface="Calibri"/>
                        </a:rPr>
                        <a:t>≈ USD 731 al mes de infraestructura ³</a:t>
                      </a:r>
                      <a:endParaRPr>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n-US">
                          <a:latin typeface="Calibri"/>
                          <a:ea typeface="Calibri"/>
                          <a:cs typeface="Calibri"/>
                          <a:sym typeface="Calibri"/>
                        </a:rPr>
                        <a:t>USD 0,042 por millón de tokens de entrada; la salida no se cobra</a:t>
                      </a:r>
                      <a:endParaRPr>
                        <a:latin typeface="Calibri"/>
                        <a:ea typeface="Calibri"/>
                        <a:cs typeface="Calibri"/>
                        <a:sym typeface="Calibri"/>
                      </a:endParaRPr>
                    </a:p>
                  </a:txBody>
                  <a:tcPr marT="91425" marB="91425" marR="91425" marL="91425"/>
                </a:tc>
              </a:tr>
            </a:tbl>
          </a:graphicData>
        </a:graphic>
      </p:graphicFrame>
      <p:sp>
        <p:nvSpPr>
          <p:cNvPr id="466" name="Google Shape;466;p25"/>
          <p:cNvSpPr/>
          <p:nvPr/>
        </p:nvSpPr>
        <p:spPr>
          <a:xfrm>
            <a:off x="548640" y="4846320"/>
            <a:ext cx="11091600" cy="7314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467" name="Google Shape;467;p25"/>
          <p:cNvSpPr txBox="1"/>
          <p:nvPr/>
        </p:nvSpPr>
        <p:spPr>
          <a:xfrm>
            <a:off x="731520" y="4919472"/>
            <a:ext cx="10725900" cy="594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500">
                <a:solidFill>
                  <a:srgbClr val="262626"/>
                </a:solidFill>
                <a:latin typeface="Calibri"/>
                <a:ea typeface="Calibri"/>
                <a:cs typeface="Calibri"/>
                <a:sym typeface="Calibri"/>
              </a:rPr>
              <a:t>El valor está en el proxy: los cinco mecanismos no cambian si cambia el clasificador. Prompt Guard, Llama Guard o Jev se conectan por configuración.</a:t>
            </a:r>
            <a:endParaRPr b="1" sz="1500">
              <a:solidFill>
                <a:srgbClr val="262626"/>
              </a:solidFill>
              <a:latin typeface="Calibri"/>
              <a:ea typeface="Calibri"/>
              <a:cs typeface="Calibri"/>
              <a:sym typeface="Calibri"/>
            </a:endParaRPr>
          </a:p>
        </p:txBody>
      </p:sp>
      <p:sp>
        <p:nvSpPr>
          <p:cNvPr id="468" name="Google Shape;468;p25"/>
          <p:cNvSpPr txBox="1"/>
          <p:nvPr/>
        </p:nvSpPr>
        <p:spPr>
          <a:xfrm>
            <a:off x="548640" y="5669280"/>
            <a:ext cx="11091600" cy="777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100">
                <a:solidFill>
                  <a:srgbClr val="595959"/>
                </a:solidFill>
                <a:latin typeface="Calibri"/>
                <a:ea typeface="Calibri"/>
                <a:cs typeface="Calibri"/>
                <a:sym typeface="Calibri"/>
              </a:rPr>
              <a:t>¹ El fabricante no publica una cifra de idiomas; solo se informan los idiomas que el equipo midió. </a:t>
            </a:r>
            <a:r>
              <a:rPr lang="en-US" sz="1100">
                <a:solidFill>
                  <a:srgbClr val="595959"/>
                </a:solidFill>
                <a:latin typeface="Calibri"/>
                <a:ea typeface="Calibri"/>
                <a:cs typeface="Calibri"/>
                <a:sym typeface="Calibri"/>
              </a:rPr>
              <a:t>² Corrida con la clasificación de salida sin GPU. ³ Estimación del equipo para una instancia con recursos suficientes; una de ML más pequeña ronda USD 330 al mes. Fuente: carpeta analisis/ del repositorio.</a:t>
            </a:r>
            <a:endParaRPr sz="1100">
              <a:solidFill>
                <a:srgbClr val="595959"/>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3" name="Shape 473"/>
        <p:cNvGrpSpPr/>
        <p:nvPr/>
      </p:nvGrpSpPr>
      <p:grpSpPr>
        <a:xfrm>
          <a:off x="0" y="0"/>
          <a:ext cx="0" cy="0"/>
          <a:chOff x="0" y="0"/>
          <a:chExt cx="0" cy="0"/>
        </a:xfrm>
      </p:grpSpPr>
      <p:sp>
        <p:nvSpPr>
          <p:cNvPr id="474" name="Google Shape;474;p26"/>
          <p:cNvSpPr txBox="1"/>
          <p:nvPr>
            <p:ph type="title"/>
          </p:nvPr>
        </p:nvSpPr>
        <p:spPr>
          <a:xfrm>
            <a:off x="1371600" y="457200"/>
            <a:ext cx="8869800" cy="6402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4A1020"/>
              </a:buClr>
              <a:buSzPts val="2800"/>
              <a:buFont typeface="Calibri"/>
              <a:buNone/>
            </a:pPr>
            <a:r>
              <a:rPr lang="en-US" sz="2800">
                <a:solidFill>
                  <a:srgbClr val="4A1020"/>
                </a:solidFill>
              </a:rPr>
              <a:t>Costo: cuándo conviene pagar por token</a:t>
            </a:r>
            <a:endParaRPr sz="2800">
              <a:solidFill>
                <a:srgbClr val="4A1020"/>
              </a:solidFill>
            </a:endParaRPr>
          </a:p>
        </p:txBody>
      </p:sp>
      <p:pic>
        <p:nvPicPr>
          <p:cNvPr descr="ironveil_v6.png" id="475" name="Google Shape;475;p26"/>
          <p:cNvPicPr preferRelativeResize="0"/>
          <p:nvPr/>
        </p:nvPicPr>
        <p:blipFill rotWithShape="1">
          <a:blip r:embed="rId3">
            <a:alphaModFix/>
          </a:blip>
          <a:srcRect b="0" l="0" r="0" t="0"/>
          <a:stretch/>
        </p:blipFill>
        <p:spPr>
          <a:xfrm>
            <a:off x="502920" y="274320"/>
            <a:ext cx="822961" cy="822961"/>
          </a:xfrm>
          <a:prstGeom prst="rect">
            <a:avLst/>
          </a:prstGeom>
          <a:noFill/>
          <a:ln>
            <a:noFill/>
          </a:ln>
        </p:spPr>
      </p:pic>
      <p:sp>
        <p:nvSpPr>
          <p:cNvPr id="476" name="Google Shape;476;p26"/>
          <p:cNvSpPr txBox="1"/>
          <p:nvPr/>
        </p:nvSpPr>
        <p:spPr>
          <a:xfrm>
            <a:off x="1371600" y="246888"/>
            <a:ext cx="8229600" cy="274200"/>
          </a:xfrm>
          <a:prstGeom prst="rect">
            <a:avLst/>
          </a:prstGeom>
          <a:noFill/>
          <a:ln>
            <a:noFill/>
          </a:ln>
        </p:spPr>
        <p:txBody>
          <a:bodyPr anchorCtr="0" anchor="t" bIns="27425" lIns="45700" spcFirstLastPara="1" rIns="45700" wrap="square" tIns="27425">
            <a:noAutofit/>
          </a:bodyPr>
          <a:lstStyle/>
          <a:p>
            <a:pPr indent="0" lvl="0" marL="0" marR="0" rtl="0" algn="l">
              <a:spcBef>
                <a:spcPts val="0"/>
              </a:spcBef>
              <a:spcAft>
                <a:spcPts val="0"/>
              </a:spcAft>
              <a:buNone/>
            </a:pPr>
            <a:r>
              <a:rPr b="1" lang="en-US" sz="1100">
                <a:solidFill>
                  <a:srgbClr val="7B1C2E"/>
                </a:solidFill>
                <a:latin typeface="Calibri"/>
                <a:ea typeface="Calibri"/>
                <a:cs typeface="Calibri"/>
                <a:sym typeface="Calibri"/>
              </a:rPr>
              <a:t>06 · INTELIGENCIA ARTIFICIAL</a:t>
            </a:r>
            <a:endParaRPr b="1" sz="1100">
              <a:solidFill>
                <a:srgbClr val="7B1C2E"/>
              </a:solidFill>
              <a:latin typeface="Calibri"/>
              <a:ea typeface="Calibri"/>
              <a:cs typeface="Calibri"/>
              <a:sym typeface="Calibri"/>
            </a:endParaRPr>
          </a:p>
        </p:txBody>
      </p:sp>
      <p:cxnSp>
        <p:nvCxnSpPr>
          <p:cNvPr id="477" name="Google Shape;477;p26"/>
          <p:cNvCxnSpPr/>
          <p:nvPr/>
        </p:nvCxnSpPr>
        <p:spPr>
          <a:xfrm>
            <a:off x="548640" y="1188720"/>
            <a:ext cx="11091600" cy="0"/>
          </a:xfrm>
          <a:prstGeom prst="straightConnector1">
            <a:avLst/>
          </a:prstGeom>
          <a:noFill/>
          <a:ln cap="flat" cmpd="sng" w="25400">
            <a:solidFill>
              <a:srgbClr val="7B1C2E"/>
            </a:solidFill>
            <a:prstDash val="solid"/>
            <a:miter lim="8000"/>
            <a:headEnd len="sm" w="sm" type="none"/>
            <a:tailEnd len="sm" w="sm" type="none"/>
          </a:ln>
        </p:spPr>
      </p:cxnSp>
      <p:sp>
        <p:nvSpPr>
          <p:cNvPr id="478" name="Google Shape;478;p26"/>
          <p:cNvSpPr/>
          <p:nvPr/>
        </p:nvSpPr>
        <p:spPr>
          <a:xfrm>
            <a:off x="0" y="6510528"/>
            <a:ext cx="12191700" cy="347400"/>
          </a:xfrm>
          <a:prstGeom prst="rect">
            <a:avLst/>
          </a:prstGeom>
          <a:solidFill>
            <a:srgbClr val="7B1C2E"/>
          </a:solidFill>
          <a:ln>
            <a:noFill/>
          </a:ln>
        </p:spPr>
        <p:txBody>
          <a:bodyPr anchorCtr="0" anchor="ctr" bIns="36575" lIns="91425" spcFirstLastPara="1" rIns="91425" wrap="square" tIns="36575">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ronveil_v6_inv.png" id="479" name="Google Shape;479;p26"/>
          <p:cNvPicPr preferRelativeResize="0"/>
          <p:nvPr/>
        </p:nvPicPr>
        <p:blipFill rotWithShape="1">
          <a:blip r:embed="rId4">
            <a:alphaModFix/>
          </a:blip>
          <a:srcRect b="0" l="0" r="0" t="0"/>
          <a:stretch/>
        </p:blipFill>
        <p:spPr>
          <a:xfrm>
            <a:off x="457200" y="6537960"/>
            <a:ext cx="292608" cy="292608"/>
          </a:xfrm>
          <a:prstGeom prst="rect">
            <a:avLst/>
          </a:prstGeom>
          <a:noFill/>
          <a:ln>
            <a:noFill/>
          </a:ln>
        </p:spPr>
      </p:pic>
      <p:sp>
        <p:nvSpPr>
          <p:cNvPr id="480" name="Google Shape;480;p26"/>
          <p:cNvSpPr txBox="1"/>
          <p:nvPr/>
        </p:nvSpPr>
        <p:spPr>
          <a:xfrm>
            <a:off x="822960" y="6528816"/>
            <a:ext cx="5486400" cy="310800"/>
          </a:xfrm>
          <a:prstGeom prst="rect">
            <a:avLst/>
          </a:prstGeom>
          <a:noFill/>
          <a:ln>
            <a:noFill/>
          </a:ln>
        </p:spPr>
        <p:txBody>
          <a:bodyPr anchorCtr="0" anchor="ctr" bIns="27425" lIns="45700" spcFirstLastPara="1" rIns="45700" wrap="square" tIns="27425">
            <a:noAutofit/>
          </a:bodyPr>
          <a:lstStyle/>
          <a:p>
            <a:pPr indent="0" lvl="0" marL="0" marR="0" rtl="0" algn="l">
              <a:spcBef>
                <a:spcPts val="0"/>
              </a:spcBef>
              <a:spcAft>
                <a:spcPts val="0"/>
              </a:spcAft>
              <a:buNone/>
            </a:pPr>
            <a:r>
              <a:rPr b="1" lang="en-US" sz="1050">
                <a:solidFill>
                  <a:srgbClr val="F2F2F2"/>
                </a:solidFill>
                <a:latin typeface="Calibri"/>
                <a:ea typeface="Calibri"/>
                <a:cs typeface="Calibri"/>
                <a:sym typeface="Calibri"/>
              </a:rPr>
              <a:t>IronVeil · Framework de defensa para LLMs autoalojados</a:t>
            </a:r>
            <a:endParaRPr/>
          </a:p>
        </p:txBody>
      </p:sp>
      <p:sp>
        <p:nvSpPr>
          <p:cNvPr id="481" name="Google Shape;481;p26"/>
          <p:cNvSpPr txBox="1"/>
          <p:nvPr/>
        </p:nvSpPr>
        <p:spPr>
          <a:xfrm>
            <a:off x="6217920" y="6528816"/>
            <a:ext cx="5303400" cy="310800"/>
          </a:xfrm>
          <a:prstGeom prst="rect">
            <a:avLst/>
          </a:prstGeom>
          <a:noFill/>
          <a:ln>
            <a:noFill/>
          </a:ln>
        </p:spPr>
        <p:txBody>
          <a:bodyPr anchorCtr="0" anchor="ctr" bIns="27425" lIns="45700" spcFirstLastPara="1" rIns="45700" wrap="square" tIns="27425">
            <a:noAutofit/>
          </a:bodyPr>
          <a:lstStyle/>
          <a:p>
            <a:pPr indent="0" lvl="0" marL="0" marR="0" rtl="0" algn="r">
              <a:spcBef>
                <a:spcPts val="0"/>
              </a:spcBef>
              <a:spcAft>
                <a:spcPts val="0"/>
              </a:spcAft>
              <a:buNone/>
            </a:pPr>
            <a:r>
              <a:rPr b="0" i="0" lang="en-US" sz="1050" u="none" cap="none" strike="noStrike">
                <a:solidFill>
                  <a:srgbClr val="D9D9D9"/>
                </a:solidFill>
                <a:latin typeface="Calibri"/>
                <a:ea typeface="Calibri"/>
                <a:cs typeface="Calibri"/>
                <a:sym typeface="Calibri"/>
              </a:rPr>
              <a:t>Escuela Colombiana de Ingeniería Julio Garavito · 2026</a:t>
            </a:r>
            <a:endParaRPr/>
          </a:p>
        </p:txBody>
      </p:sp>
      <p:sp>
        <p:nvSpPr>
          <p:cNvPr id="482" name="Google Shape;482;p26"/>
          <p:cNvSpPr txBox="1"/>
          <p:nvPr/>
        </p:nvSpPr>
        <p:spPr>
          <a:xfrm>
            <a:off x="11475720" y="6528816"/>
            <a:ext cx="548700" cy="310800"/>
          </a:xfrm>
          <a:prstGeom prst="rect">
            <a:avLst/>
          </a:prstGeom>
          <a:noFill/>
          <a:ln>
            <a:noFill/>
          </a:ln>
        </p:spPr>
        <p:txBody>
          <a:bodyPr anchorCtr="0" anchor="ctr" bIns="27425" lIns="45700" spcFirstLastPara="1" rIns="45700" wrap="square" tIns="27425">
            <a:noAutofit/>
          </a:bodyPr>
          <a:lstStyle/>
          <a:p>
            <a:pPr indent="0" lvl="0" marL="0" marR="0" rtl="0" algn="r">
              <a:spcBef>
                <a:spcPts val="0"/>
              </a:spcBef>
              <a:spcAft>
                <a:spcPts val="0"/>
              </a:spcAft>
              <a:buNone/>
            </a:pPr>
            <a:r>
              <a:rPr b="1" lang="en-US" sz="1100">
                <a:solidFill>
                  <a:srgbClr val="FFFFFF"/>
                </a:solidFill>
                <a:latin typeface="Calibri"/>
                <a:ea typeface="Calibri"/>
                <a:cs typeface="Calibri"/>
                <a:sym typeface="Calibri"/>
              </a:rPr>
              <a:t>12</a:t>
            </a:r>
            <a:endParaRPr b="1" sz="1100">
              <a:solidFill>
                <a:srgbClr val="FFFFFF"/>
              </a:solidFill>
              <a:latin typeface="Calibri"/>
              <a:ea typeface="Calibri"/>
              <a:cs typeface="Calibri"/>
              <a:sym typeface="Calibri"/>
            </a:endParaRPr>
          </a:p>
        </p:txBody>
      </p:sp>
      <p:sp>
        <p:nvSpPr>
          <p:cNvPr id="483" name="Google Shape;483;p26"/>
          <p:cNvSpPr/>
          <p:nvPr/>
        </p:nvSpPr>
        <p:spPr>
          <a:xfrm>
            <a:off x="548640" y="1325880"/>
            <a:ext cx="3612000" cy="19203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484" name="Google Shape;484;p26"/>
          <p:cNvSpPr txBox="1"/>
          <p:nvPr/>
        </p:nvSpPr>
        <p:spPr>
          <a:xfrm>
            <a:off x="685800" y="1417320"/>
            <a:ext cx="3337500" cy="594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800">
                <a:solidFill>
                  <a:srgbClr val="7B1C2E"/>
                </a:solidFill>
                <a:latin typeface="Calibri"/>
                <a:ea typeface="Calibri"/>
                <a:cs typeface="Calibri"/>
                <a:sym typeface="Calibri"/>
              </a:rPr>
              <a:t>≈ USD 731</a:t>
            </a:r>
            <a:endParaRPr b="1" sz="2800">
              <a:solidFill>
                <a:srgbClr val="7B1C2E"/>
              </a:solidFill>
              <a:latin typeface="Calibri"/>
              <a:ea typeface="Calibri"/>
              <a:cs typeface="Calibri"/>
              <a:sym typeface="Calibri"/>
            </a:endParaRPr>
          </a:p>
        </p:txBody>
      </p:sp>
      <p:sp>
        <p:nvSpPr>
          <p:cNvPr id="485" name="Google Shape;485;p26"/>
          <p:cNvSpPr txBox="1"/>
          <p:nvPr/>
        </p:nvSpPr>
        <p:spPr>
          <a:xfrm>
            <a:off x="685800" y="2011680"/>
            <a:ext cx="3337500" cy="65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500">
                <a:solidFill>
                  <a:srgbClr val="262626"/>
                </a:solidFill>
                <a:latin typeface="Calibri"/>
                <a:ea typeface="Calibri"/>
                <a:cs typeface="Calibri"/>
                <a:sym typeface="Calibri"/>
              </a:rPr>
              <a:t>al mes con Prompt Guard autoalojado</a:t>
            </a:r>
            <a:endParaRPr b="1" sz="1500">
              <a:solidFill>
                <a:srgbClr val="262626"/>
              </a:solidFill>
              <a:latin typeface="Calibri"/>
              <a:ea typeface="Calibri"/>
              <a:cs typeface="Calibri"/>
              <a:sym typeface="Calibri"/>
            </a:endParaRPr>
          </a:p>
        </p:txBody>
      </p:sp>
      <p:sp>
        <p:nvSpPr>
          <p:cNvPr id="486" name="Google Shape;486;p26"/>
          <p:cNvSpPr txBox="1"/>
          <p:nvPr/>
        </p:nvSpPr>
        <p:spPr>
          <a:xfrm>
            <a:off x="685800" y="2679192"/>
            <a:ext cx="3337500" cy="548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200">
                <a:solidFill>
                  <a:srgbClr val="595959"/>
                </a:solidFill>
                <a:latin typeface="Calibri"/>
                <a:ea typeface="Calibri"/>
                <a:cs typeface="Calibri"/>
                <a:sym typeface="Calibri"/>
              </a:rPr>
              <a:t>Instancia con recursos suficientes; una de ML ronda USD 330</a:t>
            </a:r>
            <a:endParaRPr sz="1200">
              <a:solidFill>
                <a:srgbClr val="595959"/>
              </a:solidFill>
              <a:latin typeface="Calibri"/>
              <a:ea typeface="Calibri"/>
              <a:cs typeface="Calibri"/>
              <a:sym typeface="Calibri"/>
            </a:endParaRPr>
          </a:p>
        </p:txBody>
      </p:sp>
      <p:sp>
        <p:nvSpPr>
          <p:cNvPr id="487" name="Google Shape;487;p26"/>
          <p:cNvSpPr/>
          <p:nvPr/>
        </p:nvSpPr>
        <p:spPr>
          <a:xfrm>
            <a:off x="4288536" y="1325880"/>
            <a:ext cx="3612000" cy="19203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488" name="Google Shape;488;p26"/>
          <p:cNvSpPr txBox="1"/>
          <p:nvPr/>
        </p:nvSpPr>
        <p:spPr>
          <a:xfrm>
            <a:off x="4425696" y="1417320"/>
            <a:ext cx="3337500" cy="594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800">
                <a:solidFill>
                  <a:srgbClr val="7B1C2E"/>
                </a:solidFill>
                <a:latin typeface="Calibri"/>
                <a:ea typeface="Calibri"/>
                <a:cs typeface="Calibri"/>
                <a:sym typeface="Calibri"/>
              </a:rPr>
              <a:t>USD 0,042</a:t>
            </a:r>
            <a:endParaRPr b="1" sz="2800">
              <a:solidFill>
                <a:srgbClr val="7B1C2E"/>
              </a:solidFill>
              <a:latin typeface="Calibri"/>
              <a:ea typeface="Calibri"/>
              <a:cs typeface="Calibri"/>
              <a:sym typeface="Calibri"/>
            </a:endParaRPr>
          </a:p>
        </p:txBody>
      </p:sp>
      <p:sp>
        <p:nvSpPr>
          <p:cNvPr id="489" name="Google Shape;489;p26"/>
          <p:cNvSpPr txBox="1"/>
          <p:nvPr/>
        </p:nvSpPr>
        <p:spPr>
          <a:xfrm>
            <a:off x="4425696" y="2011680"/>
            <a:ext cx="3337500" cy="65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500">
                <a:solidFill>
                  <a:srgbClr val="262626"/>
                </a:solidFill>
                <a:latin typeface="Calibri"/>
                <a:ea typeface="Calibri"/>
                <a:cs typeface="Calibri"/>
                <a:sym typeface="Calibri"/>
              </a:rPr>
              <a:t>por millón de tokens con Jev</a:t>
            </a:r>
            <a:endParaRPr b="1" sz="1500">
              <a:solidFill>
                <a:srgbClr val="262626"/>
              </a:solidFill>
              <a:latin typeface="Calibri"/>
              <a:ea typeface="Calibri"/>
              <a:cs typeface="Calibri"/>
              <a:sym typeface="Calibri"/>
            </a:endParaRPr>
          </a:p>
        </p:txBody>
      </p:sp>
      <p:sp>
        <p:nvSpPr>
          <p:cNvPr id="490" name="Google Shape;490;p26"/>
          <p:cNvSpPr txBox="1"/>
          <p:nvPr/>
        </p:nvSpPr>
        <p:spPr>
          <a:xfrm>
            <a:off x="4425696" y="2679192"/>
            <a:ext cx="3337500" cy="548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200">
                <a:solidFill>
                  <a:srgbClr val="595959"/>
                </a:solidFill>
                <a:latin typeface="Calibri"/>
                <a:ea typeface="Calibri"/>
                <a:cs typeface="Calibri"/>
                <a:sym typeface="Calibri"/>
              </a:rPr>
              <a:t>Solo entrada; la salida no se cobra</a:t>
            </a:r>
            <a:endParaRPr sz="1200">
              <a:solidFill>
                <a:srgbClr val="595959"/>
              </a:solidFill>
              <a:latin typeface="Calibri"/>
              <a:ea typeface="Calibri"/>
              <a:cs typeface="Calibri"/>
              <a:sym typeface="Calibri"/>
            </a:endParaRPr>
          </a:p>
        </p:txBody>
      </p:sp>
      <p:sp>
        <p:nvSpPr>
          <p:cNvPr id="491" name="Google Shape;491;p26"/>
          <p:cNvSpPr/>
          <p:nvPr/>
        </p:nvSpPr>
        <p:spPr>
          <a:xfrm>
            <a:off x="8028432" y="1325880"/>
            <a:ext cx="3612000" cy="19203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492" name="Google Shape;492;p26"/>
          <p:cNvSpPr txBox="1"/>
          <p:nvPr/>
        </p:nvSpPr>
        <p:spPr>
          <a:xfrm>
            <a:off x="8165592" y="1417320"/>
            <a:ext cx="3337500" cy="594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800">
                <a:solidFill>
                  <a:srgbClr val="7B1C2E"/>
                </a:solidFill>
                <a:latin typeface="Calibri"/>
                <a:ea typeface="Calibri"/>
                <a:cs typeface="Calibri"/>
                <a:sym typeface="Calibri"/>
              </a:rPr>
              <a:t>≈ 17,4 M</a:t>
            </a:r>
            <a:endParaRPr b="1" sz="2800">
              <a:solidFill>
                <a:srgbClr val="7B1C2E"/>
              </a:solidFill>
              <a:latin typeface="Calibri"/>
              <a:ea typeface="Calibri"/>
              <a:cs typeface="Calibri"/>
              <a:sym typeface="Calibri"/>
            </a:endParaRPr>
          </a:p>
        </p:txBody>
      </p:sp>
      <p:sp>
        <p:nvSpPr>
          <p:cNvPr id="493" name="Google Shape;493;p26"/>
          <p:cNvSpPr txBox="1"/>
          <p:nvPr/>
        </p:nvSpPr>
        <p:spPr>
          <a:xfrm>
            <a:off x="8165592" y="2011680"/>
            <a:ext cx="3337500" cy="65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500">
                <a:solidFill>
                  <a:srgbClr val="262626"/>
                </a:solidFill>
                <a:latin typeface="Calibri"/>
                <a:ea typeface="Calibri"/>
                <a:cs typeface="Calibri"/>
                <a:sym typeface="Calibri"/>
              </a:rPr>
              <a:t>prompts al mes: punto de equilibrio</a:t>
            </a:r>
            <a:endParaRPr b="1" sz="1500">
              <a:solidFill>
                <a:srgbClr val="262626"/>
              </a:solidFill>
              <a:latin typeface="Calibri"/>
              <a:ea typeface="Calibri"/>
              <a:cs typeface="Calibri"/>
              <a:sym typeface="Calibri"/>
            </a:endParaRPr>
          </a:p>
        </p:txBody>
      </p:sp>
      <p:sp>
        <p:nvSpPr>
          <p:cNvPr id="494" name="Google Shape;494;p26"/>
          <p:cNvSpPr txBox="1"/>
          <p:nvPr/>
        </p:nvSpPr>
        <p:spPr>
          <a:xfrm>
            <a:off x="8165592" y="2679192"/>
            <a:ext cx="3337500" cy="548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200">
                <a:solidFill>
                  <a:srgbClr val="595959"/>
                </a:solidFill>
                <a:latin typeface="Calibri"/>
                <a:ea typeface="Calibri"/>
                <a:cs typeface="Calibri"/>
                <a:sym typeface="Calibri"/>
              </a:rPr>
              <a:t>Frente a USD 731; supone ≈ 1 000 tokens por prompt</a:t>
            </a:r>
            <a:endParaRPr sz="1200">
              <a:solidFill>
                <a:srgbClr val="595959"/>
              </a:solidFill>
              <a:latin typeface="Calibri"/>
              <a:ea typeface="Calibri"/>
              <a:cs typeface="Calibri"/>
              <a:sym typeface="Calibri"/>
            </a:endParaRPr>
          </a:p>
        </p:txBody>
      </p:sp>
      <p:graphicFrame>
        <p:nvGraphicFramePr>
          <p:cNvPr id="495" name="Google Shape;495;p26"/>
          <p:cNvGraphicFramePr/>
          <p:nvPr/>
        </p:nvGraphicFramePr>
        <p:xfrm>
          <a:off x="548640" y="3383280"/>
          <a:ext cx="3000000" cy="3000000"/>
        </p:xfrm>
        <a:graphic>
          <a:graphicData uri="http://schemas.openxmlformats.org/drawingml/2006/table">
            <a:tbl>
              <a:tblPr>
                <a:noFill/>
                <a:tableStyleId>{6BB7EA19-134A-4353-B84C-D1BC6A298CFA}</a:tableStyleId>
              </a:tblPr>
              <a:tblGrid>
                <a:gridCol w="2468875"/>
                <a:gridCol w="2103100"/>
                <a:gridCol w="2103100"/>
              </a:tblGrid>
              <a:tr h="396250">
                <a:tc>
                  <a:txBody>
                    <a:bodyPr/>
                    <a:lstStyle/>
                    <a:p>
                      <a:pPr indent="0" lvl="0" marL="0" rtl="0" algn="l">
                        <a:spcBef>
                          <a:spcPts val="0"/>
                        </a:spcBef>
                        <a:spcAft>
                          <a:spcPts val="0"/>
                        </a:spcAft>
                        <a:buNone/>
                      </a:pPr>
                      <a:r>
                        <a:rPr b="1" lang="en-US">
                          <a:latin typeface="Calibri"/>
                          <a:ea typeface="Calibri"/>
                          <a:cs typeface="Calibri"/>
                          <a:sym typeface="Calibri"/>
                        </a:rPr>
                        <a:t>Prompts al mes</a:t>
                      </a:r>
                      <a:endParaRPr b="1">
                        <a:latin typeface="Calibri"/>
                        <a:ea typeface="Calibri"/>
                        <a:cs typeface="Calibri"/>
                        <a:sym typeface="Calibri"/>
                      </a:endParaRPr>
                    </a:p>
                  </a:txBody>
                  <a:tcPr marT="91425" marB="91425" marR="91425" marL="91425"/>
                </a:tc>
                <a:tc>
                  <a:txBody>
                    <a:bodyPr/>
                    <a:lstStyle/>
                    <a:p>
                      <a:pPr indent="0" lvl="0" marL="0" rtl="0" algn="r">
                        <a:spcBef>
                          <a:spcPts val="0"/>
                        </a:spcBef>
                        <a:spcAft>
                          <a:spcPts val="0"/>
                        </a:spcAft>
                        <a:buNone/>
                      </a:pPr>
                      <a:r>
                        <a:rPr b="1" lang="en-US">
                          <a:latin typeface="Calibri"/>
                          <a:ea typeface="Calibri"/>
                          <a:cs typeface="Calibri"/>
                          <a:sym typeface="Calibri"/>
                        </a:rPr>
                        <a:t>Jev</a:t>
                      </a:r>
                      <a:endParaRPr b="1">
                        <a:latin typeface="Calibri"/>
                        <a:ea typeface="Calibri"/>
                        <a:cs typeface="Calibri"/>
                        <a:sym typeface="Calibri"/>
                      </a:endParaRPr>
                    </a:p>
                  </a:txBody>
                  <a:tcPr marT="91425" marB="91425" marR="91425" marL="91425"/>
                </a:tc>
                <a:tc>
                  <a:txBody>
                    <a:bodyPr/>
                    <a:lstStyle/>
                    <a:p>
                      <a:pPr indent="0" lvl="0" marL="0" rtl="0" algn="r">
                        <a:spcBef>
                          <a:spcPts val="0"/>
                        </a:spcBef>
                        <a:spcAft>
                          <a:spcPts val="0"/>
                        </a:spcAft>
                        <a:buNone/>
                      </a:pPr>
                      <a:r>
                        <a:rPr b="1" lang="en-US">
                          <a:latin typeface="Calibri"/>
                          <a:ea typeface="Calibri"/>
                          <a:cs typeface="Calibri"/>
                          <a:sym typeface="Calibri"/>
                        </a:rPr>
                        <a:t>Autoalojado</a:t>
                      </a:r>
                      <a:endParaRPr b="1">
                        <a:latin typeface="Calibri"/>
                        <a:ea typeface="Calibri"/>
                        <a:cs typeface="Calibri"/>
                        <a:sym typeface="Calibri"/>
                      </a:endParaRPr>
                    </a:p>
                  </a:txBody>
                  <a:tcPr marT="91425" marB="91425" marR="91425" marL="91425"/>
                </a:tc>
              </a:tr>
              <a:tr h="396250">
                <a:tc>
                  <a:txBody>
                    <a:bodyPr/>
                    <a:lstStyle/>
                    <a:p>
                      <a:pPr indent="0" lvl="0" marL="0" rtl="0" algn="l">
                        <a:spcBef>
                          <a:spcPts val="0"/>
                        </a:spcBef>
                        <a:spcAft>
                          <a:spcPts val="0"/>
                        </a:spcAft>
                        <a:buNone/>
                      </a:pPr>
                      <a:r>
                        <a:rPr b="1" lang="en-US">
                          <a:latin typeface="Calibri"/>
                          <a:ea typeface="Calibri"/>
                          <a:cs typeface="Calibri"/>
                          <a:sym typeface="Calibri"/>
                        </a:rPr>
                        <a:t>1 millón</a:t>
                      </a:r>
                      <a:endParaRPr b="1">
                        <a:latin typeface="Calibri"/>
                        <a:ea typeface="Calibri"/>
                        <a:cs typeface="Calibri"/>
                        <a:sym typeface="Calibri"/>
                      </a:endParaRPr>
                    </a:p>
                  </a:txBody>
                  <a:tcPr marT="91425" marB="91425" marR="91425" marL="91425"/>
                </a:tc>
                <a:tc>
                  <a:txBody>
                    <a:bodyPr/>
                    <a:lstStyle/>
                    <a:p>
                      <a:pPr indent="0" lvl="0" marL="0" rtl="0" algn="r">
                        <a:spcBef>
                          <a:spcPts val="0"/>
                        </a:spcBef>
                        <a:spcAft>
                          <a:spcPts val="0"/>
                        </a:spcAft>
                        <a:buNone/>
                      </a:pPr>
                      <a:r>
                        <a:rPr lang="en-US">
                          <a:latin typeface="Calibri"/>
                          <a:ea typeface="Calibri"/>
                          <a:cs typeface="Calibri"/>
                          <a:sym typeface="Calibri"/>
                        </a:rPr>
                        <a:t>≈ USD 42</a:t>
                      </a:r>
                      <a:endParaRPr>
                        <a:latin typeface="Calibri"/>
                        <a:ea typeface="Calibri"/>
                        <a:cs typeface="Calibri"/>
                        <a:sym typeface="Calibri"/>
                      </a:endParaRPr>
                    </a:p>
                  </a:txBody>
                  <a:tcPr marT="91425" marB="91425" marR="91425" marL="91425"/>
                </a:tc>
                <a:tc>
                  <a:txBody>
                    <a:bodyPr/>
                    <a:lstStyle/>
                    <a:p>
                      <a:pPr indent="0" lvl="0" marL="0" rtl="0" algn="r">
                        <a:spcBef>
                          <a:spcPts val="0"/>
                        </a:spcBef>
                        <a:spcAft>
                          <a:spcPts val="0"/>
                        </a:spcAft>
                        <a:buNone/>
                      </a:pPr>
                      <a:r>
                        <a:rPr lang="en-US">
                          <a:latin typeface="Calibri"/>
                          <a:ea typeface="Calibri"/>
                          <a:cs typeface="Calibri"/>
                          <a:sym typeface="Calibri"/>
                        </a:rPr>
                        <a:t>≈ USD 731</a:t>
                      </a:r>
                      <a:endParaRPr>
                        <a:latin typeface="Calibri"/>
                        <a:ea typeface="Calibri"/>
                        <a:cs typeface="Calibri"/>
                        <a:sym typeface="Calibri"/>
                      </a:endParaRPr>
                    </a:p>
                  </a:txBody>
                  <a:tcPr marT="91425" marB="91425" marR="91425" marL="91425"/>
                </a:tc>
              </a:tr>
              <a:tr h="396250">
                <a:tc>
                  <a:txBody>
                    <a:bodyPr/>
                    <a:lstStyle/>
                    <a:p>
                      <a:pPr indent="0" lvl="0" marL="0" rtl="0" algn="l">
                        <a:spcBef>
                          <a:spcPts val="0"/>
                        </a:spcBef>
                        <a:spcAft>
                          <a:spcPts val="0"/>
                        </a:spcAft>
                        <a:buNone/>
                      </a:pPr>
                      <a:r>
                        <a:rPr b="1" lang="en-US">
                          <a:latin typeface="Calibri"/>
                          <a:ea typeface="Calibri"/>
                          <a:cs typeface="Calibri"/>
                          <a:sym typeface="Calibri"/>
                        </a:rPr>
                        <a:t>5 millones</a:t>
                      </a:r>
                      <a:endParaRPr b="1">
                        <a:latin typeface="Calibri"/>
                        <a:ea typeface="Calibri"/>
                        <a:cs typeface="Calibri"/>
                        <a:sym typeface="Calibri"/>
                      </a:endParaRPr>
                    </a:p>
                  </a:txBody>
                  <a:tcPr marT="91425" marB="91425" marR="91425" marL="91425"/>
                </a:tc>
                <a:tc>
                  <a:txBody>
                    <a:bodyPr/>
                    <a:lstStyle/>
                    <a:p>
                      <a:pPr indent="0" lvl="0" marL="0" rtl="0" algn="r">
                        <a:spcBef>
                          <a:spcPts val="0"/>
                        </a:spcBef>
                        <a:spcAft>
                          <a:spcPts val="0"/>
                        </a:spcAft>
                        <a:buNone/>
                      </a:pPr>
                      <a:r>
                        <a:rPr lang="en-US">
                          <a:latin typeface="Calibri"/>
                          <a:ea typeface="Calibri"/>
                          <a:cs typeface="Calibri"/>
                          <a:sym typeface="Calibri"/>
                        </a:rPr>
                        <a:t>≈ USD 210</a:t>
                      </a:r>
                      <a:endParaRPr>
                        <a:latin typeface="Calibri"/>
                        <a:ea typeface="Calibri"/>
                        <a:cs typeface="Calibri"/>
                        <a:sym typeface="Calibri"/>
                      </a:endParaRPr>
                    </a:p>
                  </a:txBody>
                  <a:tcPr marT="91425" marB="91425" marR="91425" marL="91425"/>
                </a:tc>
                <a:tc>
                  <a:txBody>
                    <a:bodyPr/>
                    <a:lstStyle/>
                    <a:p>
                      <a:pPr indent="0" lvl="0" marL="0" rtl="0" algn="r">
                        <a:spcBef>
                          <a:spcPts val="0"/>
                        </a:spcBef>
                        <a:spcAft>
                          <a:spcPts val="0"/>
                        </a:spcAft>
                        <a:buNone/>
                      </a:pPr>
                      <a:r>
                        <a:rPr lang="en-US">
                          <a:latin typeface="Calibri"/>
                          <a:ea typeface="Calibri"/>
                          <a:cs typeface="Calibri"/>
                          <a:sym typeface="Calibri"/>
                        </a:rPr>
                        <a:t>≈ USD 731</a:t>
                      </a:r>
                      <a:endParaRPr>
                        <a:latin typeface="Calibri"/>
                        <a:ea typeface="Calibri"/>
                        <a:cs typeface="Calibri"/>
                        <a:sym typeface="Calibri"/>
                      </a:endParaRPr>
                    </a:p>
                  </a:txBody>
                  <a:tcPr marT="91425" marB="91425" marR="91425" marL="91425"/>
                </a:tc>
              </a:tr>
              <a:tr h="396250">
                <a:tc>
                  <a:txBody>
                    <a:bodyPr/>
                    <a:lstStyle/>
                    <a:p>
                      <a:pPr indent="0" lvl="0" marL="0" rtl="0" algn="l">
                        <a:spcBef>
                          <a:spcPts val="0"/>
                        </a:spcBef>
                        <a:spcAft>
                          <a:spcPts val="0"/>
                        </a:spcAft>
                        <a:buNone/>
                      </a:pPr>
                      <a:r>
                        <a:rPr b="1" lang="en-US">
                          <a:latin typeface="Calibri"/>
                          <a:ea typeface="Calibri"/>
                          <a:cs typeface="Calibri"/>
                          <a:sym typeface="Calibri"/>
                        </a:rPr>
                        <a:t>10 millones</a:t>
                      </a:r>
                      <a:endParaRPr b="1">
                        <a:latin typeface="Calibri"/>
                        <a:ea typeface="Calibri"/>
                        <a:cs typeface="Calibri"/>
                        <a:sym typeface="Calibri"/>
                      </a:endParaRPr>
                    </a:p>
                  </a:txBody>
                  <a:tcPr marT="91425" marB="91425" marR="91425" marL="91425"/>
                </a:tc>
                <a:tc>
                  <a:txBody>
                    <a:bodyPr/>
                    <a:lstStyle/>
                    <a:p>
                      <a:pPr indent="0" lvl="0" marL="0" rtl="0" algn="r">
                        <a:spcBef>
                          <a:spcPts val="0"/>
                        </a:spcBef>
                        <a:spcAft>
                          <a:spcPts val="0"/>
                        </a:spcAft>
                        <a:buNone/>
                      </a:pPr>
                      <a:r>
                        <a:rPr lang="en-US">
                          <a:latin typeface="Calibri"/>
                          <a:ea typeface="Calibri"/>
                          <a:cs typeface="Calibri"/>
                          <a:sym typeface="Calibri"/>
                        </a:rPr>
                        <a:t>≈ USD 420</a:t>
                      </a:r>
                      <a:endParaRPr>
                        <a:latin typeface="Calibri"/>
                        <a:ea typeface="Calibri"/>
                        <a:cs typeface="Calibri"/>
                        <a:sym typeface="Calibri"/>
                      </a:endParaRPr>
                    </a:p>
                  </a:txBody>
                  <a:tcPr marT="91425" marB="91425" marR="91425" marL="91425"/>
                </a:tc>
                <a:tc>
                  <a:txBody>
                    <a:bodyPr/>
                    <a:lstStyle/>
                    <a:p>
                      <a:pPr indent="0" lvl="0" marL="0" rtl="0" algn="r">
                        <a:spcBef>
                          <a:spcPts val="0"/>
                        </a:spcBef>
                        <a:spcAft>
                          <a:spcPts val="0"/>
                        </a:spcAft>
                        <a:buNone/>
                      </a:pPr>
                      <a:r>
                        <a:rPr lang="en-US">
                          <a:latin typeface="Calibri"/>
                          <a:ea typeface="Calibri"/>
                          <a:cs typeface="Calibri"/>
                          <a:sym typeface="Calibri"/>
                        </a:rPr>
                        <a:t>≈ USD 731</a:t>
                      </a:r>
                      <a:endParaRPr>
                        <a:latin typeface="Calibri"/>
                        <a:ea typeface="Calibri"/>
                        <a:cs typeface="Calibri"/>
                        <a:sym typeface="Calibri"/>
                      </a:endParaRPr>
                    </a:p>
                  </a:txBody>
                  <a:tcPr marT="91425" marB="91425" marR="91425" marL="91425"/>
                </a:tc>
              </a:tr>
              <a:tr h="396250">
                <a:tc>
                  <a:txBody>
                    <a:bodyPr/>
                    <a:lstStyle/>
                    <a:p>
                      <a:pPr indent="0" lvl="0" marL="0" rtl="0" algn="l">
                        <a:spcBef>
                          <a:spcPts val="0"/>
                        </a:spcBef>
                        <a:spcAft>
                          <a:spcPts val="0"/>
                        </a:spcAft>
                        <a:buNone/>
                      </a:pPr>
                      <a:r>
                        <a:rPr b="1" lang="en-US">
                          <a:latin typeface="Calibri"/>
                          <a:ea typeface="Calibri"/>
                          <a:cs typeface="Calibri"/>
                          <a:sym typeface="Calibri"/>
                        </a:rPr>
                        <a:t>17,4 millones</a:t>
                      </a:r>
                      <a:endParaRPr b="1">
                        <a:latin typeface="Calibri"/>
                        <a:ea typeface="Calibri"/>
                        <a:cs typeface="Calibri"/>
                        <a:sym typeface="Calibri"/>
                      </a:endParaRPr>
                    </a:p>
                  </a:txBody>
                  <a:tcPr marT="91425" marB="91425" marR="91425" marL="91425"/>
                </a:tc>
                <a:tc>
                  <a:txBody>
                    <a:bodyPr/>
                    <a:lstStyle/>
                    <a:p>
                      <a:pPr indent="0" lvl="0" marL="0" rtl="0" algn="r">
                        <a:spcBef>
                          <a:spcPts val="0"/>
                        </a:spcBef>
                        <a:spcAft>
                          <a:spcPts val="0"/>
                        </a:spcAft>
                        <a:buNone/>
                      </a:pPr>
                      <a:r>
                        <a:rPr lang="en-US">
                          <a:latin typeface="Calibri"/>
                          <a:ea typeface="Calibri"/>
                          <a:cs typeface="Calibri"/>
                          <a:sym typeface="Calibri"/>
                        </a:rPr>
                        <a:t>≈ USD 731</a:t>
                      </a:r>
                      <a:endParaRPr>
                        <a:latin typeface="Calibri"/>
                        <a:ea typeface="Calibri"/>
                        <a:cs typeface="Calibri"/>
                        <a:sym typeface="Calibri"/>
                      </a:endParaRPr>
                    </a:p>
                  </a:txBody>
                  <a:tcPr marT="91425" marB="91425" marR="91425" marL="91425"/>
                </a:tc>
                <a:tc>
                  <a:txBody>
                    <a:bodyPr/>
                    <a:lstStyle/>
                    <a:p>
                      <a:pPr indent="0" lvl="0" marL="0" rtl="0" algn="r">
                        <a:spcBef>
                          <a:spcPts val="0"/>
                        </a:spcBef>
                        <a:spcAft>
                          <a:spcPts val="0"/>
                        </a:spcAft>
                        <a:buNone/>
                      </a:pPr>
                      <a:r>
                        <a:rPr lang="en-US">
                          <a:latin typeface="Calibri"/>
                          <a:ea typeface="Calibri"/>
                          <a:cs typeface="Calibri"/>
                          <a:sym typeface="Calibri"/>
                        </a:rPr>
                        <a:t>≈ USD 731</a:t>
                      </a:r>
                      <a:endParaRPr>
                        <a:latin typeface="Calibri"/>
                        <a:ea typeface="Calibri"/>
                        <a:cs typeface="Calibri"/>
                        <a:sym typeface="Calibri"/>
                      </a:endParaRPr>
                    </a:p>
                  </a:txBody>
                  <a:tcPr marT="91425" marB="91425" marR="91425" marL="91425"/>
                </a:tc>
              </a:tr>
            </a:tbl>
          </a:graphicData>
        </a:graphic>
      </p:graphicFrame>
      <p:sp>
        <p:nvSpPr>
          <p:cNvPr id="496" name="Google Shape;496;p26"/>
          <p:cNvSpPr/>
          <p:nvPr/>
        </p:nvSpPr>
        <p:spPr>
          <a:xfrm>
            <a:off x="7452360" y="3383280"/>
            <a:ext cx="4188000" cy="2103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497" name="Google Shape;497;p26"/>
          <p:cNvSpPr txBox="1"/>
          <p:nvPr/>
        </p:nvSpPr>
        <p:spPr>
          <a:xfrm>
            <a:off x="7616952" y="3474720"/>
            <a:ext cx="3886200" cy="36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500">
                <a:solidFill>
                  <a:srgbClr val="7B1C2E"/>
                </a:solidFill>
                <a:latin typeface="Calibri"/>
                <a:ea typeface="Calibri"/>
                <a:cs typeface="Calibri"/>
                <a:sym typeface="Calibri"/>
              </a:rPr>
              <a:t>Cómo leerlo</a:t>
            </a:r>
            <a:endParaRPr b="1" sz="1500">
              <a:solidFill>
                <a:srgbClr val="7B1C2E"/>
              </a:solidFill>
              <a:latin typeface="Calibri"/>
              <a:ea typeface="Calibri"/>
              <a:cs typeface="Calibri"/>
              <a:sym typeface="Calibri"/>
            </a:endParaRPr>
          </a:p>
        </p:txBody>
      </p:sp>
      <p:sp>
        <p:nvSpPr>
          <p:cNvPr id="498" name="Google Shape;498;p26"/>
          <p:cNvSpPr txBox="1"/>
          <p:nvPr/>
        </p:nvSpPr>
        <p:spPr>
          <a:xfrm>
            <a:off x="7616952" y="3840480"/>
            <a:ext cx="3886200" cy="160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a:solidFill>
                  <a:srgbClr val="262626"/>
                </a:solidFill>
                <a:latin typeface="Calibri"/>
                <a:ea typeface="Calibri"/>
                <a:cs typeface="Calibri"/>
                <a:sym typeface="Calibri"/>
              </a:rPr>
              <a:t>Por debajo de ≈ 17 millones de prompts al mes, pagar por token cuesta menos que mantener el servidor. Por encima, conviene autoalojar. Si los textos no pueden salir de la red de la empresa, autoalojar sigue siendo la opción.</a:t>
            </a:r>
            <a:endParaRPr>
              <a:solidFill>
                <a:srgbClr val="262626"/>
              </a:solidFill>
              <a:latin typeface="Calibri"/>
              <a:ea typeface="Calibri"/>
              <a:cs typeface="Calibri"/>
              <a:sym typeface="Calibri"/>
            </a:endParaRPr>
          </a:p>
        </p:txBody>
      </p:sp>
      <p:sp>
        <p:nvSpPr>
          <p:cNvPr id="499" name="Google Shape;499;p26"/>
          <p:cNvSpPr txBox="1"/>
          <p:nvPr/>
        </p:nvSpPr>
        <p:spPr>
          <a:xfrm>
            <a:off x="548640" y="5669280"/>
            <a:ext cx="11091600" cy="731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100">
                <a:solidFill>
                  <a:srgbClr val="595959"/>
                </a:solidFill>
                <a:latin typeface="Calibri"/>
                <a:ea typeface="Calibri"/>
                <a:cs typeface="Calibri"/>
                <a:sym typeface="Calibri"/>
              </a:rPr>
              <a:t>Cálculo del equipo con la tarifa publicada de Jev (USD 0,042 por millón de tokens de entrada) y un supuesto de 1 000 tokens por prompt. El costo de la instancia es una estimación y no incluye operación ni personal. Con otro largo de prompt cambia el punto de equilibrio.</a:t>
            </a:r>
            <a:endParaRPr sz="1100">
              <a:solidFill>
                <a:srgbClr val="595959"/>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4" name="Shape 504"/>
        <p:cNvGrpSpPr/>
        <p:nvPr/>
      </p:nvGrpSpPr>
      <p:grpSpPr>
        <a:xfrm>
          <a:off x="0" y="0"/>
          <a:ext cx="0" cy="0"/>
          <a:chOff x="0" y="0"/>
          <a:chExt cx="0" cy="0"/>
        </a:xfrm>
      </p:grpSpPr>
      <p:sp>
        <p:nvSpPr>
          <p:cNvPr id="505" name="Google Shape;505;p27"/>
          <p:cNvSpPr txBox="1"/>
          <p:nvPr>
            <p:ph type="title"/>
          </p:nvPr>
        </p:nvSpPr>
        <p:spPr>
          <a:xfrm>
            <a:off x="1371600" y="457200"/>
            <a:ext cx="8869680" cy="64008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4A1020"/>
              </a:buClr>
              <a:buSzPts val="2800"/>
              <a:buFont typeface="Calibri"/>
              <a:buNone/>
            </a:pPr>
            <a:r>
              <a:rPr b="1" lang="en-US" sz="2800">
                <a:solidFill>
                  <a:srgbClr val="4A1020"/>
                </a:solidFill>
              </a:rPr>
              <a:t>Métricas y criterios de éxito</a:t>
            </a:r>
            <a:endParaRPr/>
          </a:p>
        </p:txBody>
      </p:sp>
      <p:pic>
        <p:nvPicPr>
          <p:cNvPr descr="ironveil_v6.png" id="506" name="Google Shape;506;p27"/>
          <p:cNvPicPr preferRelativeResize="0"/>
          <p:nvPr/>
        </p:nvPicPr>
        <p:blipFill rotWithShape="1">
          <a:blip r:embed="rId3">
            <a:alphaModFix/>
          </a:blip>
          <a:srcRect b="0" l="0" r="0" t="0"/>
          <a:stretch/>
        </p:blipFill>
        <p:spPr>
          <a:xfrm>
            <a:off x="502920" y="274320"/>
            <a:ext cx="822960" cy="822960"/>
          </a:xfrm>
          <a:prstGeom prst="rect">
            <a:avLst/>
          </a:prstGeom>
          <a:noFill/>
          <a:ln>
            <a:noFill/>
          </a:ln>
        </p:spPr>
      </p:pic>
      <p:sp>
        <p:nvSpPr>
          <p:cNvPr id="507" name="Google Shape;507;p27"/>
          <p:cNvSpPr txBox="1"/>
          <p:nvPr/>
        </p:nvSpPr>
        <p:spPr>
          <a:xfrm>
            <a:off x="1371600" y="246888"/>
            <a:ext cx="8229600" cy="27432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1100" u="none" cap="none" strike="noStrike">
                <a:solidFill>
                  <a:srgbClr val="7B1C2E"/>
                </a:solidFill>
                <a:latin typeface="Calibri"/>
                <a:ea typeface="Calibri"/>
                <a:cs typeface="Calibri"/>
                <a:sym typeface="Calibri"/>
              </a:rPr>
              <a:t>07 · MÉTRICAS Y EVALUACIÓN</a:t>
            </a:r>
            <a:endParaRPr/>
          </a:p>
        </p:txBody>
      </p:sp>
      <p:cxnSp>
        <p:nvCxnSpPr>
          <p:cNvPr id="508" name="Google Shape;508;p27"/>
          <p:cNvCxnSpPr/>
          <p:nvPr/>
        </p:nvCxnSpPr>
        <p:spPr>
          <a:xfrm>
            <a:off x="548640" y="1188720"/>
            <a:ext cx="11091672" cy="0"/>
          </a:xfrm>
          <a:prstGeom prst="straightConnector1">
            <a:avLst/>
          </a:prstGeom>
          <a:noFill/>
          <a:ln cap="flat" cmpd="sng" w="25400">
            <a:solidFill>
              <a:srgbClr val="7B1C2E"/>
            </a:solidFill>
            <a:prstDash val="solid"/>
            <a:miter lim="8000"/>
            <a:headEnd len="sm" w="sm" type="none"/>
            <a:tailEnd len="sm" w="sm" type="none"/>
          </a:ln>
        </p:spPr>
      </p:cxnSp>
      <p:sp>
        <p:nvSpPr>
          <p:cNvPr id="509" name="Google Shape;509;p27"/>
          <p:cNvSpPr/>
          <p:nvPr/>
        </p:nvSpPr>
        <p:spPr>
          <a:xfrm>
            <a:off x="0" y="6510528"/>
            <a:ext cx="12191695" cy="347472"/>
          </a:xfrm>
          <a:prstGeom prst="rect">
            <a:avLst/>
          </a:prstGeom>
          <a:solidFill>
            <a:srgbClr val="7B1C2E"/>
          </a:solidFill>
          <a:ln>
            <a:noFill/>
          </a:ln>
        </p:spPr>
        <p:txBody>
          <a:bodyPr anchorCtr="0" anchor="ctr" bIns="36575" lIns="91425" spcFirstLastPara="1" rIns="91425" wrap="square" tIns="36575">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ronveil_v6_inv.png" id="510" name="Google Shape;510;p27"/>
          <p:cNvPicPr preferRelativeResize="0"/>
          <p:nvPr/>
        </p:nvPicPr>
        <p:blipFill rotWithShape="1">
          <a:blip r:embed="rId4">
            <a:alphaModFix/>
          </a:blip>
          <a:srcRect b="0" l="0" r="0" t="0"/>
          <a:stretch/>
        </p:blipFill>
        <p:spPr>
          <a:xfrm>
            <a:off x="457200" y="6537960"/>
            <a:ext cx="292608" cy="292608"/>
          </a:xfrm>
          <a:prstGeom prst="rect">
            <a:avLst/>
          </a:prstGeom>
          <a:noFill/>
          <a:ln>
            <a:noFill/>
          </a:ln>
        </p:spPr>
      </p:pic>
      <p:sp>
        <p:nvSpPr>
          <p:cNvPr id="511" name="Google Shape;511;p27"/>
          <p:cNvSpPr txBox="1"/>
          <p:nvPr/>
        </p:nvSpPr>
        <p:spPr>
          <a:xfrm>
            <a:off x="822960" y="6528816"/>
            <a:ext cx="5486400" cy="310896"/>
          </a:xfrm>
          <a:prstGeom prst="rect">
            <a:avLst/>
          </a:prstGeom>
          <a:noFill/>
          <a:ln>
            <a:noFill/>
          </a:ln>
        </p:spPr>
        <p:txBody>
          <a:bodyPr anchorCtr="0" anchor="ctr" bIns="27425" lIns="45700" spcFirstLastPara="1" rIns="45700" wrap="square" tIns="27425">
            <a:noAutofit/>
          </a:bodyPr>
          <a:lstStyle/>
          <a:p>
            <a:pPr indent="0" lvl="0" marL="0" marR="0" rtl="0" algn="l">
              <a:spcBef>
                <a:spcPts val="0"/>
              </a:spcBef>
              <a:spcAft>
                <a:spcPts val="0"/>
              </a:spcAft>
              <a:buNone/>
            </a:pPr>
            <a:r>
              <a:rPr b="1" lang="en-US" sz="1050">
                <a:solidFill>
                  <a:srgbClr val="F2F2F2"/>
                </a:solidFill>
                <a:latin typeface="Calibri"/>
                <a:ea typeface="Calibri"/>
                <a:cs typeface="Calibri"/>
                <a:sym typeface="Calibri"/>
              </a:rPr>
              <a:t>IronVeil · Framework de defensa para LLMs autoalojados</a:t>
            </a:r>
            <a:endParaRPr/>
          </a:p>
        </p:txBody>
      </p:sp>
      <p:sp>
        <p:nvSpPr>
          <p:cNvPr id="512" name="Google Shape;512;p27"/>
          <p:cNvSpPr txBox="1"/>
          <p:nvPr/>
        </p:nvSpPr>
        <p:spPr>
          <a:xfrm>
            <a:off x="6217920" y="6528816"/>
            <a:ext cx="5303520" cy="310896"/>
          </a:xfrm>
          <a:prstGeom prst="rect">
            <a:avLst/>
          </a:prstGeom>
          <a:noFill/>
          <a:ln>
            <a:noFill/>
          </a:ln>
        </p:spPr>
        <p:txBody>
          <a:bodyPr anchorCtr="0" anchor="ctr" bIns="27425" lIns="45700" spcFirstLastPara="1" rIns="45700" wrap="square" tIns="27425">
            <a:spAutoFit/>
          </a:bodyPr>
          <a:lstStyle/>
          <a:p>
            <a:pPr indent="0" lvl="0" marL="0" marR="0" rtl="0" algn="r">
              <a:spcBef>
                <a:spcPts val="0"/>
              </a:spcBef>
              <a:spcAft>
                <a:spcPts val="0"/>
              </a:spcAft>
              <a:buNone/>
            </a:pPr>
            <a:r>
              <a:rPr b="0" i="0" lang="en-US" sz="1050" u="none" cap="none" strike="noStrike">
                <a:solidFill>
                  <a:srgbClr val="D9D9D9"/>
                </a:solidFill>
                <a:latin typeface="Calibri"/>
                <a:ea typeface="Calibri"/>
                <a:cs typeface="Calibri"/>
                <a:sym typeface="Calibri"/>
              </a:rPr>
              <a:t>Escuela Colombiana de Ingeniería Julio Garavito · 2026</a:t>
            </a:r>
            <a:endParaRPr/>
          </a:p>
        </p:txBody>
      </p:sp>
      <p:sp>
        <p:nvSpPr>
          <p:cNvPr id="513" name="Google Shape;513;p27"/>
          <p:cNvSpPr txBox="1"/>
          <p:nvPr/>
        </p:nvSpPr>
        <p:spPr>
          <a:xfrm>
            <a:off x="11475720" y="6528816"/>
            <a:ext cx="548640" cy="310896"/>
          </a:xfrm>
          <a:prstGeom prst="rect">
            <a:avLst/>
          </a:prstGeom>
          <a:noFill/>
          <a:ln>
            <a:noFill/>
          </a:ln>
        </p:spPr>
        <p:txBody>
          <a:bodyPr anchorCtr="0" anchor="ctr" bIns="27425" lIns="45700" spcFirstLastPara="1" rIns="45700" wrap="square" tIns="27425">
            <a:noAutofit/>
          </a:bodyPr>
          <a:lstStyle/>
          <a:p>
            <a:pPr indent="0" lvl="0" marL="0" marR="0" rtl="0" algn="r">
              <a:spcBef>
                <a:spcPts val="0"/>
              </a:spcBef>
              <a:spcAft>
                <a:spcPts val="0"/>
              </a:spcAft>
              <a:buNone/>
            </a:pPr>
            <a:r>
              <a:rPr b="1" lang="en-US" sz="1100">
                <a:solidFill>
                  <a:srgbClr val="FFFFFF"/>
                </a:solidFill>
                <a:latin typeface="Calibri"/>
                <a:ea typeface="Calibri"/>
                <a:cs typeface="Calibri"/>
                <a:sym typeface="Calibri"/>
              </a:rPr>
              <a:t>13</a:t>
            </a:r>
            <a:endParaRPr b="1" sz="1100">
              <a:solidFill>
                <a:srgbClr val="FFFFFF"/>
              </a:solidFill>
              <a:latin typeface="Calibri"/>
              <a:ea typeface="Calibri"/>
              <a:cs typeface="Calibri"/>
              <a:sym typeface="Calibri"/>
            </a:endParaRPr>
          </a:p>
        </p:txBody>
      </p:sp>
      <p:graphicFrame>
        <p:nvGraphicFramePr>
          <p:cNvPr id="514" name="Google Shape;514;p27"/>
          <p:cNvGraphicFramePr/>
          <p:nvPr/>
        </p:nvGraphicFramePr>
        <p:xfrm>
          <a:off x="548640" y="1371600"/>
          <a:ext cx="3000000" cy="3000000"/>
        </p:xfrm>
        <a:graphic>
          <a:graphicData uri="http://schemas.openxmlformats.org/drawingml/2006/table">
            <a:tbl>
              <a:tblPr>
                <a:noFill/>
                <a:tableStyleId>{54399A4E-D85B-4455-A2F1-B83CA0E6E0C5}</a:tableStyleId>
              </a:tblPr>
              <a:tblGrid>
                <a:gridCol w="1650000"/>
                <a:gridCol w="2700000"/>
                <a:gridCol w="2500000"/>
                <a:gridCol w="3050000"/>
                <a:gridCol w="1194700"/>
              </a:tblGrid>
              <a:tr h="411475">
                <a:tc>
                  <a:txBody>
                    <a:bodyPr/>
                    <a:lstStyle/>
                    <a:p>
                      <a:pPr indent="0" lvl="0" marL="0" marR="0" rtl="0" algn="l">
                        <a:spcBef>
                          <a:spcPts val="0"/>
                        </a:spcBef>
                        <a:spcAft>
                          <a:spcPts val="0"/>
                        </a:spcAft>
                        <a:buNone/>
                      </a:pPr>
                      <a:r>
                        <a:rPr b="1" lang="en-US" sz="1050">
                          <a:solidFill>
                            <a:srgbClr val="FFFFFF"/>
                          </a:solidFill>
                        </a:rPr>
                        <a:t>Métrica</a:t>
                      </a:r>
                      <a:endParaRPr sz="1050"/>
                    </a:p>
                  </a:txBody>
                  <a:tcPr marT="36575" marB="36575" marR="91450" marL="91450" anchor="ctr">
                    <a:solidFill>
                      <a:srgbClr val="4A1020"/>
                    </a:solidFill>
                  </a:tcPr>
                </a:tc>
                <a:tc>
                  <a:txBody>
                    <a:bodyPr/>
                    <a:lstStyle/>
                    <a:p>
                      <a:pPr indent="0" lvl="0" marL="0" marR="0" rtl="0" algn="l">
                        <a:spcBef>
                          <a:spcPts val="0"/>
                        </a:spcBef>
                        <a:spcAft>
                          <a:spcPts val="0"/>
                        </a:spcAft>
                        <a:buNone/>
                      </a:pPr>
                      <a:r>
                        <a:rPr b="1" lang="en-US" sz="1050">
                          <a:solidFill>
                            <a:srgbClr val="FFFFFF"/>
                          </a:solidFill>
                        </a:rPr>
                        <a:t>Método de evaluación</a:t>
                      </a:r>
                      <a:endParaRPr sz="1050"/>
                    </a:p>
                  </a:txBody>
                  <a:tcPr marT="36575" marB="36575" marR="91450" marL="91450" anchor="ctr">
                    <a:solidFill>
                      <a:srgbClr val="4A1020"/>
                    </a:solidFill>
                  </a:tcPr>
                </a:tc>
                <a:tc>
                  <a:txBody>
                    <a:bodyPr/>
                    <a:lstStyle/>
                    <a:p>
                      <a:pPr indent="0" lvl="0" marL="0" marR="0" rtl="0" algn="l">
                        <a:spcBef>
                          <a:spcPts val="0"/>
                        </a:spcBef>
                        <a:spcAft>
                          <a:spcPts val="0"/>
                        </a:spcAft>
                        <a:buNone/>
                      </a:pPr>
                      <a:r>
                        <a:rPr b="1" lang="en-US" sz="1050">
                          <a:solidFill>
                            <a:srgbClr val="FFFFFF"/>
                          </a:solidFill>
                        </a:rPr>
                        <a:t>Criterio de éxito</a:t>
                      </a:r>
                      <a:endParaRPr sz="1050"/>
                    </a:p>
                  </a:txBody>
                  <a:tcPr marT="36575" marB="36575" marR="91450" marL="91450" anchor="ctr">
                    <a:solidFill>
                      <a:srgbClr val="4A1020"/>
                    </a:solidFill>
                  </a:tcPr>
                </a:tc>
                <a:tc>
                  <a:txBody>
                    <a:bodyPr/>
                    <a:lstStyle/>
                    <a:p>
                      <a:pPr indent="0" lvl="0" marL="0" marR="0" rtl="0" algn="l">
                        <a:spcBef>
                          <a:spcPts val="0"/>
                        </a:spcBef>
                        <a:spcAft>
                          <a:spcPts val="0"/>
                        </a:spcAft>
                        <a:buNone/>
                      </a:pPr>
                      <a:r>
                        <a:rPr b="1" lang="en-US" sz="1050">
                          <a:solidFill>
                            <a:srgbClr val="FFFFFF"/>
                          </a:solidFill>
                        </a:rPr>
                        <a:t>Observado</a:t>
                      </a:r>
                      <a:endParaRPr sz="1050"/>
                    </a:p>
                  </a:txBody>
                  <a:tcPr marT="36575" marB="36575" marR="91450" marL="91450" anchor="ctr">
                    <a:solidFill>
                      <a:srgbClr val="4A1020"/>
                    </a:solidFill>
                  </a:tcPr>
                </a:tc>
                <a:tc>
                  <a:txBody>
                    <a:bodyPr/>
                    <a:lstStyle/>
                    <a:p>
                      <a:pPr indent="0" lvl="0" marL="0" marR="0" rtl="0" algn="l">
                        <a:spcBef>
                          <a:spcPts val="0"/>
                        </a:spcBef>
                        <a:spcAft>
                          <a:spcPts val="0"/>
                        </a:spcAft>
                        <a:buNone/>
                      </a:pPr>
                      <a:r>
                        <a:rPr b="1" lang="en-US" sz="1050">
                          <a:solidFill>
                            <a:srgbClr val="FFFFFF"/>
                          </a:solidFill>
                        </a:rPr>
                        <a:t>¿Cumple?</a:t>
                      </a:r>
                      <a:endParaRPr b="1" sz="1050">
                        <a:solidFill>
                          <a:srgbClr val="FFFFFF"/>
                        </a:solidFill>
                      </a:endParaRPr>
                    </a:p>
                  </a:txBody>
                  <a:tcPr marT="36575" marB="36575" marR="91450" marL="91450" anchor="ctr">
                    <a:solidFill>
                      <a:srgbClr val="4A1020"/>
                    </a:solidFill>
                  </a:tcPr>
                </a:tc>
              </a:tr>
              <a:tr h="566925">
                <a:tc>
                  <a:txBody>
                    <a:bodyPr/>
                    <a:lstStyle/>
                    <a:p>
                      <a:pPr indent="0" lvl="0" marL="0" marR="0" rtl="0" algn="l">
                        <a:spcBef>
                          <a:spcPts val="0"/>
                        </a:spcBef>
                        <a:spcAft>
                          <a:spcPts val="0"/>
                        </a:spcAft>
                        <a:buNone/>
                      </a:pPr>
                      <a:r>
                        <a:rPr b="1" lang="en-US" sz="1050">
                          <a:solidFill>
                            <a:srgbClr val="7B1C2E"/>
                          </a:solidFill>
                        </a:rPr>
                        <a:t>ASR (fuga del canario)</a:t>
                      </a:r>
                      <a:endParaRPr sz="1050"/>
                    </a:p>
                  </a:txBody>
                  <a:tcPr marT="36575" marB="36575" marR="91450" marL="91450" anchor="ctr">
                    <a:solidFill>
                      <a:srgbClr val="FFFFFF"/>
                    </a:solidFill>
                  </a:tcPr>
                </a:tc>
                <a:tc>
                  <a:txBody>
                    <a:bodyPr/>
                    <a:lstStyle/>
                    <a:p>
                      <a:pPr indent="0" lvl="0" marL="0" marR="0" rtl="0" algn="l">
                        <a:spcBef>
                          <a:spcPts val="0"/>
                        </a:spcBef>
                        <a:spcAft>
                          <a:spcPts val="0"/>
                        </a:spcAft>
                        <a:buNone/>
                      </a:pPr>
                      <a:r>
                        <a:rPr b="0" lang="en-US" sz="1050">
                          <a:solidFill>
                            <a:srgbClr val="262626"/>
                          </a:solidFill>
                        </a:rPr>
                        <a:t>Fuga verificada en la respuesta; k/n por celda; Fisher exacto contra C0</a:t>
                      </a:r>
                      <a:endParaRPr sz="1050"/>
                    </a:p>
                  </a:txBody>
                  <a:tcPr marT="36575" marB="36575" marR="91450" marL="91450" anchor="ctr">
                    <a:solidFill>
                      <a:srgbClr val="FFFFFF"/>
                    </a:solidFill>
                  </a:tcPr>
                </a:tc>
                <a:tc>
                  <a:txBody>
                    <a:bodyPr/>
                    <a:lstStyle/>
                    <a:p>
                      <a:pPr indent="0" lvl="0" marL="0" marR="0" rtl="0" algn="l">
                        <a:spcBef>
                          <a:spcPts val="0"/>
                        </a:spcBef>
                        <a:spcAft>
                          <a:spcPts val="0"/>
                        </a:spcAft>
                        <a:buNone/>
                      </a:pPr>
                      <a:r>
                        <a:rPr lang="en-US" sz="1050">
                          <a:solidFill>
                            <a:srgbClr val="262626"/>
                          </a:solidFill>
                        </a:rPr>
                        <a:t>Directo: reducción ≥ 50 puntos y p &lt; 0,05 †; parcial: entre 0 y 50 puntos</a:t>
                      </a:r>
                      <a:endParaRPr sz="1050"/>
                    </a:p>
                  </a:txBody>
                  <a:tcPr marT="36575" marB="36575" marR="91450" marL="91450" anchor="ctr">
                    <a:solidFill>
                      <a:srgbClr val="FFFFFF"/>
                    </a:solidFill>
                  </a:tcPr>
                </a:tc>
                <a:tc>
                  <a:txBody>
                    <a:bodyPr/>
                    <a:lstStyle/>
                    <a:p>
                      <a:pPr indent="0" lvl="0" marL="0" marR="0" rtl="0" algn="l">
                        <a:spcBef>
                          <a:spcPts val="0"/>
                        </a:spcBef>
                        <a:spcAft>
                          <a:spcPts val="0"/>
                        </a:spcAft>
                        <a:buNone/>
                      </a:pPr>
                      <a:r>
                        <a:rPr lang="en-US" sz="1050">
                          <a:solidFill>
                            <a:srgbClr val="262626"/>
                          </a:solidFill>
                        </a:rPr>
                        <a:t>Directo: 1 caso (aprobación humana en V5, 74,7 → 0,2 %). Parcial: filtrado en V2 a V4; delimitación y mínimo privilegio en V4. Promedio V1–V4: 31,2 → 15,0 % (C0 a C1 y C6)</a:t>
                      </a:r>
                      <a:endParaRPr sz="1050"/>
                    </a:p>
                  </a:txBody>
                  <a:tcPr marT="36575" marB="36575" marR="91450" marL="91450" anchor="ctr">
                    <a:solidFill>
                      <a:srgbClr val="FFFFFF"/>
                    </a:solidFill>
                  </a:tcPr>
                </a:tc>
                <a:tc>
                  <a:txBody>
                    <a:bodyPr/>
                    <a:lstStyle/>
                    <a:p>
                      <a:pPr indent="0" lvl="0" marL="0" marR="0" rtl="0" algn="l">
                        <a:spcBef>
                          <a:spcPts val="0"/>
                        </a:spcBef>
                        <a:spcAft>
                          <a:spcPts val="0"/>
                        </a:spcAft>
                        <a:buNone/>
                      </a:pPr>
                      <a:r>
                        <a:rPr lang="en-US" sz="1050">
                          <a:solidFill>
                            <a:srgbClr val="262626"/>
                          </a:solidFill>
                        </a:rPr>
                        <a:t>Parcial</a:t>
                      </a:r>
                      <a:endParaRPr b="0" sz="1050">
                        <a:solidFill>
                          <a:srgbClr val="262626"/>
                        </a:solidFill>
                      </a:endParaRPr>
                    </a:p>
                  </a:txBody>
                  <a:tcPr marT="36575" marB="36575" marR="91450" marL="91450" anchor="ctr">
                    <a:solidFill>
                      <a:srgbClr val="FFFFFF"/>
                    </a:solidFill>
                  </a:tcPr>
                </a:tc>
              </a:tr>
              <a:tr h="566925">
                <a:tc>
                  <a:txBody>
                    <a:bodyPr/>
                    <a:lstStyle/>
                    <a:p>
                      <a:pPr indent="0" lvl="0" marL="0" marR="0" rtl="0" algn="l">
                        <a:spcBef>
                          <a:spcPts val="0"/>
                        </a:spcBef>
                        <a:spcAft>
                          <a:spcPts val="0"/>
                        </a:spcAft>
                        <a:buNone/>
                      </a:pPr>
                      <a:r>
                        <a:rPr b="1" lang="en-US" sz="1050">
                          <a:solidFill>
                            <a:srgbClr val="7B1C2E"/>
                          </a:solidFill>
                        </a:rPr>
                        <a:t>Ataque completo V4</a:t>
                      </a:r>
                      <a:endParaRPr sz="1050"/>
                    </a:p>
                  </a:txBody>
                  <a:tcPr marT="36575" marB="36575" marR="91450" marL="91450" anchor="ctr">
                    <a:solidFill>
                      <a:srgbClr val="F2F2F2"/>
                    </a:solidFill>
                  </a:tcPr>
                </a:tc>
                <a:tc>
                  <a:txBody>
                    <a:bodyPr/>
                    <a:lstStyle/>
                    <a:p>
                      <a:pPr indent="0" lvl="0" marL="0" marR="0" rtl="0" algn="l">
                        <a:spcBef>
                          <a:spcPts val="0"/>
                        </a:spcBef>
                        <a:spcAft>
                          <a:spcPts val="0"/>
                        </a:spcAft>
                        <a:buNone/>
                      </a:pPr>
                      <a:r>
                        <a:rPr b="0" lang="en-US" sz="1050">
                          <a:solidFill>
                            <a:srgbClr val="262626"/>
                          </a:solidFill>
                        </a:rPr>
                        <a:t>Extracción + uso cruzado, medidos por pasos</a:t>
                      </a:r>
                      <a:endParaRPr sz="1050"/>
                    </a:p>
                  </a:txBody>
                  <a:tcPr marT="36575" marB="36575" marR="91450" marL="91450" anchor="ctr">
                    <a:solidFill>
                      <a:srgbClr val="F2F2F2"/>
                    </a:solidFill>
                  </a:tcPr>
                </a:tc>
                <a:tc>
                  <a:txBody>
                    <a:bodyPr/>
                    <a:lstStyle/>
                    <a:p>
                      <a:pPr indent="0" lvl="0" marL="0" marR="0" rtl="0" algn="l">
                        <a:spcBef>
                          <a:spcPts val="0"/>
                        </a:spcBef>
                        <a:spcAft>
                          <a:spcPts val="0"/>
                        </a:spcAft>
                        <a:buNone/>
                      </a:pPr>
                      <a:r>
                        <a:rPr b="0" lang="en-US" sz="1050">
                          <a:solidFill>
                            <a:srgbClr val="262626"/>
                          </a:solidFill>
                        </a:rPr>
                        <a:t>Bajar a 0 % tras el paso 2 †</a:t>
                      </a:r>
                      <a:endParaRPr sz="1050"/>
                    </a:p>
                  </a:txBody>
                  <a:tcPr marT="36575" marB="36575" marR="91450" marL="91450" anchor="ctr">
                    <a:solidFill>
                      <a:srgbClr val="F2F2F2"/>
                    </a:solidFill>
                  </a:tcPr>
                </a:tc>
                <a:tc>
                  <a:txBody>
                    <a:bodyPr/>
                    <a:lstStyle/>
                    <a:p>
                      <a:pPr indent="0" lvl="0" marL="0" marR="0" rtl="0" algn="l">
                        <a:spcBef>
                          <a:spcPts val="0"/>
                        </a:spcBef>
                        <a:spcAft>
                          <a:spcPts val="0"/>
                        </a:spcAft>
                        <a:buNone/>
                      </a:pPr>
                      <a:r>
                        <a:rPr b="0" lang="en-US" sz="1050">
                          <a:solidFill>
                            <a:srgbClr val="262626"/>
                          </a:solidFill>
                        </a:rPr>
                        <a:t>12/39 → 0/39 (p = 0,0002)</a:t>
                      </a:r>
                      <a:endParaRPr sz="1050"/>
                    </a:p>
                  </a:txBody>
                  <a:tcPr marT="36575" marB="36575" marR="91450" marL="91450" anchor="ctr">
                    <a:solidFill>
                      <a:srgbClr val="F2F2F2"/>
                    </a:solidFill>
                  </a:tcPr>
                </a:tc>
                <a:tc>
                  <a:txBody>
                    <a:bodyPr/>
                    <a:lstStyle/>
                    <a:p>
                      <a:pPr indent="0" lvl="0" marL="0" marR="0" rtl="0" algn="l">
                        <a:spcBef>
                          <a:spcPts val="0"/>
                        </a:spcBef>
                        <a:spcAft>
                          <a:spcPts val="0"/>
                        </a:spcAft>
                        <a:buNone/>
                      </a:pPr>
                      <a:r>
                        <a:rPr lang="en-US" sz="1050">
                          <a:solidFill>
                            <a:srgbClr val="262626"/>
                          </a:solidFill>
                        </a:rPr>
                        <a:t>Sí</a:t>
                      </a:r>
                      <a:endParaRPr b="0" sz="1050">
                        <a:solidFill>
                          <a:srgbClr val="262626"/>
                        </a:solidFill>
                      </a:endParaRPr>
                    </a:p>
                  </a:txBody>
                  <a:tcPr marT="36575" marB="36575" marR="91450" marL="91450" anchor="ctr">
                    <a:solidFill>
                      <a:srgbClr val="F2F2F2"/>
                    </a:solidFill>
                  </a:tcPr>
                </a:tc>
              </a:tr>
              <a:tr h="566925">
                <a:tc>
                  <a:txBody>
                    <a:bodyPr/>
                    <a:lstStyle/>
                    <a:p>
                      <a:pPr indent="0" lvl="0" marL="0" marR="0" rtl="0" algn="l">
                        <a:spcBef>
                          <a:spcPts val="0"/>
                        </a:spcBef>
                        <a:spcAft>
                          <a:spcPts val="0"/>
                        </a:spcAft>
                        <a:buNone/>
                      </a:pPr>
                      <a:r>
                        <a:rPr b="1" lang="en-US" sz="1050">
                          <a:solidFill>
                            <a:srgbClr val="7B1C2E"/>
                          </a:solidFill>
                        </a:rPr>
                        <a:t>Falsos positivos</a:t>
                      </a:r>
                      <a:endParaRPr sz="1050"/>
                    </a:p>
                  </a:txBody>
                  <a:tcPr marT="36575" marB="36575" marR="91450" marL="91450" anchor="ctr">
                    <a:solidFill>
                      <a:srgbClr val="FFFFFF"/>
                    </a:solidFill>
                  </a:tcPr>
                </a:tc>
                <a:tc>
                  <a:txBody>
                    <a:bodyPr/>
                    <a:lstStyle/>
                    <a:p>
                      <a:pPr indent="0" lvl="0" marL="0" marR="0" rtl="0" algn="l">
                        <a:spcBef>
                          <a:spcPts val="0"/>
                        </a:spcBef>
                        <a:spcAft>
                          <a:spcPts val="0"/>
                        </a:spcAft>
                        <a:buNone/>
                      </a:pPr>
                      <a:r>
                        <a:rPr b="0" lang="en-US" sz="1050">
                          <a:solidFill>
                            <a:srgbClr val="262626"/>
                          </a:solidFill>
                        </a:rPr>
                        <a:t>60 mensajes legítimos (12 distintos) en C0, C3 y C6</a:t>
                      </a:r>
                      <a:endParaRPr sz="1050"/>
                    </a:p>
                  </a:txBody>
                  <a:tcPr marT="36575" marB="36575" marR="91450" marL="91450" anchor="ctr">
                    <a:solidFill>
                      <a:srgbClr val="FFFFFF"/>
                    </a:solidFill>
                  </a:tcPr>
                </a:tc>
                <a:tc>
                  <a:txBody>
                    <a:bodyPr/>
                    <a:lstStyle/>
                    <a:p>
                      <a:pPr indent="0" lvl="0" marL="0" marR="0" rtl="0" algn="l">
                        <a:spcBef>
                          <a:spcPts val="0"/>
                        </a:spcBef>
                        <a:spcAft>
                          <a:spcPts val="0"/>
                        </a:spcAft>
                        <a:buNone/>
                      </a:pPr>
                      <a:r>
                        <a:rPr b="0" lang="en-US" sz="1050">
                          <a:solidFill>
                            <a:srgbClr val="262626"/>
                          </a:solidFill>
                        </a:rPr>
                        <a:t>0 legítimos bloqueados ‡</a:t>
                      </a:r>
                      <a:endParaRPr sz="1050"/>
                    </a:p>
                  </a:txBody>
                  <a:tcPr marT="36575" marB="36575" marR="91450" marL="91450" anchor="ctr">
                    <a:solidFill>
                      <a:srgbClr val="FFFFFF"/>
                    </a:solidFill>
                  </a:tcPr>
                </a:tc>
                <a:tc>
                  <a:txBody>
                    <a:bodyPr/>
                    <a:lstStyle/>
                    <a:p>
                      <a:pPr indent="0" lvl="0" marL="0" marR="0" rtl="0" algn="l">
                        <a:spcBef>
                          <a:spcPts val="0"/>
                        </a:spcBef>
                        <a:spcAft>
                          <a:spcPts val="0"/>
                        </a:spcAft>
                        <a:buNone/>
                      </a:pPr>
                      <a:r>
                        <a:rPr lang="en-US" sz="1050">
                          <a:solidFill>
                            <a:srgbClr val="262626"/>
                          </a:solidFill>
                        </a:rPr>
                        <a:t>0/60 en la entrada; la salida puede retener una respuesta legítima (tasa real no medida)</a:t>
                      </a:r>
                      <a:endParaRPr sz="1050"/>
                    </a:p>
                  </a:txBody>
                  <a:tcPr marT="36575" marB="36575" marR="91450" marL="91450" anchor="ctr">
                    <a:solidFill>
                      <a:srgbClr val="FFFFFF"/>
                    </a:solidFill>
                  </a:tcPr>
                </a:tc>
                <a:tc>
                  <a:txBody>
                    <a:bodyPr/>
                    <a:lstStyle/>
                    <a:p>
                      <a:pPr indent="0" lvl="0" marL="0" marR="0" rtl="0" algn="l">
                        <a:spcBef>
                          <a:spcPts val="0"/>
                        </a:spcBef>
                        <a:spcAft>
                          <a:spcPts val="0"/>
                        </a:spcAft>
                        <a:buNone/>
                      </a:pPr>
                      <a:r>
                        <a:rPr lang="en-US" sz="1050">
                          <a:solidFill>
                            <a:srgbClr val="262626"/>
                          </a:solidFill>
                        </a:rPr>
                        <a:t>No concluyente</a:t>
                      </a:r>
                      <a:endParaRPr b="0" sz="1050">
                        <a:solidFill>
                          <a:srgbClr val="262626"/>
                        </a:solidFill>
                      </a:endParaRPr>
                    </a:p>
                  </a:txBody>
                  <a:tcPr marT="36575" marB="36575" marR="91450" marL="91450" anchor="ctr">
                    <a:solidFill>
                      <a:srgbClr val="FFFFFF"/>
                    </a:solidFill>
                  </a:tcPr>
                </a:tc>
              </a:tr>
              <a:tr h="566925">
                <a:tc>
                  <a:txBody>
                    <a:bodyPr/>
                    <a:lstStyle/>
                    <a:p>
                      <a:pPr indent="0" lvl="0" marL="0" marR="0" rtl="0" algn="l">
                        <a:spcBef>
                          <a:spcPts val="0"/>
                        </a:spcBef>
                        <a:spcAft>
                          <a:spcPts val="0"/>
                        </a:spcAft>
                        <a:buNone/>
                      </a:pPr>
                      <a:r>
                        <a:rPr b="1" lang="en-US" sz="1050">
                          <a:solidFill>
                            <a:srgbClr val="7B1C2E"/>
                          </a:solidFill>
                        </a:rPr>
                        <a:t>Latencia propia</a:t>
                      </a:r>
                      <a:endParaRPr sz="1050"/>
                    </a:p>
                  </a:txBody>
                  <a:tcPr marT="36575" marB="36575" marR="91450" marL="91450" anchor="ctr">
                    <a:solidFill>
                      <a:srgbClr val="F2F2F2"/>
                    </a:solidFill>
                  </a:tcPr>
                </a:tc>
                <a:tc>
                  <a:txBody>
                    <a:bodyPr/>
                    <a:lstStyle/>
                    <a:p>
                      <a:pPr indent="0" lvl="0" marL="0" marR="0" rtl="0" algn="l">
                        <a:spcBef>
                          <a:spcPts val="0"/>
                        </a:spcBef>
                        <a:spcAft>
                          <a:spcPts val="0"/>
                        </a:spcAft>
                        <a:buNone/>
                      </a:pPr>
                      <a:r>
                        <a:rPr b="0" lang="en-US" sz="1050">
                          <a:solidFill>
                            <a:srgbClr val="262626"/>
                          </a:solidFill>
                        </a:rPr>
                        <a:t>Tiempo total menos tiempo del modelo, por pieza (µs)</a:t>
                      </a:r>
                      <a:endParaRPr sz="1050"/>
                    </a:p>
                  </a:txBody>
                  <a:tcPr marT="36575" marB="36575" marR="91450" marL="91450" anchor="ctr">
                    <a:solidFill>
                      <a:srgbClr val="F2F2F2"/>
                    </a:solidFill>
                  </a:tcPr>
                </a:tc>
                <a:tc>
                  <a:txBody>
                    <a:bodyPr/>
                    <a:lstStyle/>
                    <a:p>
                      <a:pPr indent="0" lvl="0" marL="0" marR="0" rtl="0" algn="l">
                        <a:spcBef>
                          <a:spcPts val="0"/>
                        </a:spcBef>
                        <a:spcAft>
                          <a:spcPts val="0"/>
                        </a:spcAft>
                        <a:buNone/>
                      </a:pPr>
                      <a:r>
                        <a:rPr b="0" lang="en-US" sz="1050">
                          <a:solidFill>
                            <a:srgbClr val="262626"/>
                          </a:solidFill>
                        </a:rPr>
                        <a:t>Mediana &lt; 100 ms ‡</a:t>
                      </a:r>
                      <a:endParaRPr sz="1050"/>
                    </a:p>
                  </a:txBody>
                  <a:tcPr marT="36575" marB="36575" marR="91450" marL="91450" anchor="ctr">
                    <a:solidFill>
                      <a:srgbClr val="F2F2F2"/>
                    </a:solidFill>
                  </a:tcPr>
                </a:tc>
                <a:tc>
                  <a:txBody>
                    <a:bodyPr/>
                    <a:lstStyle/>
                    <a:p>
                      <a:pPr indent="0" lvl="0" marL="0" marR="0" rtl="0" algn="l">
                        <a:spcBef>
                          <a:spcPts val="0"/>
                        </a:spcBef>
                        <a:spcAft>
                          <a:spcPts val="0"/>
                        </a:spcAft>
                        <a:buNone/>
                      </a:pPr>
                      <a:r>
                        <a:rPr lang="en-US" sz="1050">
                          <a:solidFill>
                            <a:srgbClr val="262626"/>
                          </a:solidFill>
                        </a:rPr>
                        <a:t>76,6 ms (p95 91); resto &lt; 1 ms. Con Jev, p50 de 92 a 221 ms</a:t>
                      </a:r>
                      <a:endParaRPr sz="1050"/>
                    </a:p>
                  </a:txBody>
                  <a:tcPr marT="36575" marB="36575" marR="91450" marL="91450" anchor="ctr">
                    <a:solidFill>
                      <a:srgbClr val="F2F2F2"/>
                    </a:solidFill>
                  </a:tcPr>
                </a:tc>
                <a:tc>
                  <a:txBody>
                    <a:bodyPr/>
                    <a:lstStyle/>
                    <a:p>
                      <a:pPr indent="0" lvl="0" marL="0" marR="0" rtl="0" algn="l">
                        <a:spcBef>
                          <a:spcPts val="0"/>
                        </a:spcBef>
                        <a:spcAft>
                          <a:spcPts val="0"/>
                        </a:spcAft>
                        <a:buNone/>
                      </a:pPr>
                      <a:r>
                        <a:rPr lang="en-US" sz="1050">
                          <a:solidFill>
                            <a:srgbClr val="262626"/>
                          </a:solidFill>
                        </a:rPr>
                        <a:t>Sí en local; parcial con Jev</a:t>
                      </a:r>
                      <a:endParaRPr b="0" sz="1050">
                        <a:solidFill>
                          <a:srgbClr val="262626"/>
                        </a:solidFill>
                      </a:endParaRPr>
                    </a:p>
                  </a:txBody>
                  <a:tcPr marT="36575" marB="36575" marR="91450" marL="91450" anchor="ctr">
                    <a:solidFill>
                      <a:srgbClr val="F2F2F2"/>
                    </a:solidFill>
                  </a:tcPr>
                </a:tc>
              </a:tr>
              <a:tr h="566925">
                <a:tc>
                  <a:txBody>
                    <a:bodyPr/>
                    <a:lstStyle/>
                    <a:p>
                      <a:pPr indent="0" lvl="0" marL="0" marR="0" rtl="0" algn="l">
                        <a:spcBef>
                          <a:spcPts val="0"/>
                        </a:spcBef>
                        <a:spcAft>
                          <a:spcPts val="0"/>
                        </a:spcAft>
                        <a:buNone/>
                      </a:pPr>
                      <a:r>
                        <a:rPr b="1" lang="en-US" sz="1050">
                          <a:solidFill>
                            <a:srgbClr val="7B1C2E"/>
                          </a:solidFill>
                        </a:rPr>
                        <a:t>Costo de implementación</a:t>
                      </a:r>
                      <a:endParaRPr sz="1050"/>
                    </a:p>
                  </a:txBody>
                  <a:tcPr marT="36575" marB="36575" marR="91450" marL="91450" anchor="ctr">
                    <a:solidFill>
                      <a:srgbClr val="FFFFFF"/>
                    </a:solidFill>
                  </a:tcPr>
                </a:tc>
                <a:tc>
                  <a:txBody>
                    <a:bodyPr/>
                    <a:lstStyle/>
                    <a:p>
                      <a:pPr indent="0" lvl="0" marL="0" marR="0" rtl="0" algn="l">
                        <a:spcBef>
                          <a:spcPts val="0"/>
                        </a:spcBef>
                        <a:spcAft>
                          <a:spcPts val="0"/>
                        </a:spcAft>
                        <a:buNone/>
                      </a:pPr>
                      <a:r>
                        <a:rPr b="0" lang="en-US" sz="1050">
                          <a:solidFill>
                            <a:srgbClr val="262626"/>
                          </a:solidFill>
                        </a:rPr>
                        <a:t>Líneas de código del módulo y horas registradas</a:t>
                      </a:r>
                      <a:endParaRPr sz="1050"/>
                    </a:p>
                  </a:txBody>
                  <a:tcPr marT="36575" marB="36575" marR="91450" marL="91450" anchor="ctr">
                    <a:solidFill>
                      <a:srgbClr val="FFFFFF"/>
                    </a:solidFill>
                  </a:tcPr>
                </a:tc>
                <a:tc>
                  <a:txBody>
                    <a:bodyPr/>
                    <a:lstStyle/>
                    <a:p>
                      <a:pPr indent="0" lvl="0" marL="0" marR="0" rtl="0" algn="l">
                        <a:spcBef>
                          <a:spcPts val="0"/>
                        </a:spcBef>
                        <a:spcAft>
                          <a:spcPts val="0"/>
                        </a:spcAft>
                        <a:buNone/>
                      </a:pPr>
                      <a:r>
                        <a:rPr b="0" lang="en-US" sz="1050">
                          <a:solidFill>
                            <a:srgbClr val="262626"/>
                          </a:solidFill>
                        </a:rPr>
                        <a:t>Sin umbral fijo; se pondera contra la protección ‡</a:t>
                      </a:r>
                      <a:endParaRPr sz="1050"/>
                    </a:p>
                  </a:txBody>
                  <a:tcPr marT="36575" marB="36575" marR="91450" marL="91450" anchor="ctr">
                    <a:solidFill>
                      <a:srgbClr val="FFFFFF"/>
                    </a:solidFill>
                  </a:tcPr>
                </a:tc>
                <a:tc>
                  <a:txBody>
                    <a:bodyPr/>
                    <a:lstStyle/>
                    <a:p>
                      <a:pPr indent="0" lvl="0" marL="0" marR="0" rtl="0" algn="l">
                        <a:spcBef>
                          <a:spcPts val="0"/>
                        </a:spcBef>
                        <a:spcAft>
                          <a:spcPts val="0"/>
                        </a:spcAft>
                        <a:buNone/>
                      </a:pPr>
                      <a:r>
                        <a:rPr b="0" lang="en-US" sz="1050">
                          <a:solidFill>
                            <a:srgbClr val="262626"/>
                          </a:solidFill>
                        </a:rPr>
                        <a:t>C1 248 líneas / 21 h; C6 1599 / 153 h</a:t>
                      </a:r>
                      <a:endParaRPr sz="1050"/>
                    </a:p>
                  </a:txBody>
                  <a:tcPr marT="36575" marB="36575" marR="91450" marL="91450" anchor="ctr">
                    <a:solidFill>
                      <a:srgbClr val="FFFFFF"/>
                    </a:solidFill>
                  </a:tcPr>
                </a:tc>
                <a:tc>
                  <a:txBody>
                    <a:bodyPr/>
                    <a:lstStyle/>
                    <a:p>
                      <a:pPr indent="0" lvl="0" marL="0" marR="0" rtl="0" algn="l">
                        <a:spcBef>
                          <a:spcPts val="0"/>
                        </a:spcBef>
                        <a:spcAft>
                          <a:spcPts val="0"/>
                        </a:spcAft>
                        <a:buNone/>
                      </a:pPr>
                      <a:r>
                        <a:rPr lang="en-US" sz="1050">
                          <a:solidFill>
                            <a:srgbClr val="262626"/>
                          </a:solidFill>
                        </a:rPr>
                        <a:t>Informativo</a:t>
                      </a:r>
                      <a:endParaRPr b="0" sz="1050">
                        <a:solidFill>
                          <a:srgbClr val="262626"/>
                        </a:solidFill>
                      </a:endParaRPr>
                    </a:p>
                  </a:txBody>
                  <a:tcPr marT="36575" marB="36575" marR="91450" marL="91450" anchor="ctr">
                    <a:solidFill>
                      <a:srgbClr val="FFFFFF"/>
                    </a:solidFill>
                  </a:tcPr>
                </a:tc>
              </a:tr>
              <a:tr h="566925">
                <a:tc>
                  <a:txBody>
                    <a:bodyPr/>
                    <a:lstStyle/>
                    <a:p>
                      <a:pPr indent="0" lvl="0" marL="0" marR="0" rtl="0" algn="l">
                        <a:spcBef>
                          <a:spcPts val="0"/>
                        </a:spcBef>
                        <a:spcAft>
                          <a:spcPts val="0"/>
                        </a:spcAft>
                        <a:buNone/>
                      </a:pPr>
                      <a:r>
                        <a:rPr b="1" lang="en-US" sz="1050">
                          <a:solidFill>
                            <a:srgbClr val="7B1C2E"/>
                          </a:solidFill>
                        </a:rPr>
                        <a:t>Fiabilidad del clasificador</a:t>
                      </a:r>
                      <a:endParaRPr sz="1050"/>
                    </a:p>
                  </a:txBody>
                  <a:tcPr marT="36575" marB="36575" marR="91450" marL="91450" anchor="ctr">
                    <a:solidFill>
                      <a:srgbClr val="F2F2F2"/>
                    </a:solidFill>
                  </a:tcPr>
                </a:tc>
                <a:tc>
                  <a:txBody>
                    <a:bodyPr/>
                    <a:lstStyle/>
                    <a:p>
                      <a:pPr indent="0" lvl="0" marL="0" marR="0" rtl="0" algn="l">
                        <a:spcBef>
                          <a:spcPts val="0"/>
                        </a:spcBef>
                        <a:spcAft>
                          <a:spcPts val="0"/>
                        </a:spcAft>
                        <a:buNone/>
                      </a:pPr>
                      <a:r>
                        <a:rPr b="0" lang="en-US" sz="1050">
                          <a:solidFill>
                            <a:srgbClr val="262626"/>
                          </a:solidFill>
                        </a:rPr>
                        <a:t>Estado de cada veredicto en eventos.jsonl</a:t>
                      </a:r>
                      <a:endParaRPr sz="1050"/>
                    </a:p>
                  </a:txBody>
                  <a:tcPr marT="36575" marB="36575" marR="91450" marL="91450" anchor="ctr">
                    <a:solidFill>
                      <a:srgbClr val="F2F2F2"/>
                    </a:solidFill>
                  </a:tcPr>
                </a:tc>
                <a:tc>
                  <a:txBody>
                    <a:bodyPr/>
                    <a:lstStyle/>
                    <a:p>
                      <a:pPr indent="0" lvl="0" marL="0" marR="0" rtl="0" algn="l">
                        <a:spcBef>
                          <a:spcPts val="0"/>
                        </a:spcBef>
                        <a:spcAft>
                          <a:spcPts val="0"/>
                        </a:spcAft>
                        <a:buNone/>
                      </a:pPr>
                      <a:r>
                        <a:rPr b="0" lang="en-US" sz="1050">
                          <a:solidFill>
                            <a:srgbClr val="262626"/>
                          </a:solidFill>
                        </a:rPr>
                        <a:t>Ninguna caída disfrazada de detección ‡</a:t>
                      </a:r>
                      <a:endParaRPr sz="1050"/>
                    </a:p>
                  </a:txBody>
                  <a:tcPr marT="36575" marB="36575" marR="91450" marL="91450" anchor="ctr">
                    <a:solidFill>
                      <a:srgbClr val="F2F2F2"/>
                    </a:solidFill>
                  </a:tcPr>
                </a:tc>
                <a:tc>
                  <a:txBody>
                    <a:bodyPr/>
                    <a:lstStyle/>
                    <a:p>
                      <a:pPr indent="0" lvl="0" marL="0" marR="0" rtl="0" algn="l">
                        <a:spcBef>
                          <a:spcPts val="0"/>
                        </a:spcBef>
                        <a:spcAft>
                          <a:spcPts val="0"/>
                        </a:spcAft>
                        <a:buNone/>
                      </a:pPr>
                      <a:r>
                        <a:rPr b="0" lang="en-US" sz="1050">
                          <a:solidFill>
                            <a:srgbClr val="262626"/>
                          </a:solidFill>
                        </a:rPr>
                        <a:t>462/462 con estado ok</a:t>
                      </a:r>
                      <a:endParaRPr sz="1050"/>
                    </a:p>
                  </a:txBody>
                  <a:tcPr marT="36575" marB="36575" marR="91450" marL="91450" anchor="ctr">
                    <a:solidFill>
                      <a:srgbClr val="F2F2F2"/>
                    </a:solidFill>
                  </a:tcPr>
                </a:tc>
                <a:tc>
                  <a:txBody>
                    <a:bodyPr/>
                    <a:lstStyle/>
                    <a:p>
                      <a:pPr indent="0" lvl="0" marL="0" marR="0" rtl="0" algn="l">
                        <a:spcBef>
                          <a:spcPts val="0"/>
                        </a:spcBef>
                        <a:spcAft>
                          <a:spcPts val="0"/>
                        </a:spcAft>
                        <a:buNone/>
                      </a:pPr>
                      <a:r>
                        <a:rPr lang="en-US" sz="1050">
                          <a:solidFill>
                            <a:srgbClr val="262626"/>
                          </a:solidFill>
                        </a:rPr>
                        <a:t>Sí</a:t>
                      </a:r>
                      <a:endParaRPr b="0" sz="1050">
                        <a:solidFill>
                          <a:srgbClr val="262626"/>
                        </a:solidFill>
                      </a:endParaRPr>
                    </a:p>
                  </a:txBody>
                  <a:tcPr marT="36575" marB="36575" marR="91450" marL="91450" anchor="ctr">
                    <a:solidFill>
                      <a:srgbClr val="F2F2F2"/>
                    </a:solidFill>
                  </a:tcPr>
                </a:tc>
              </a:tr>
              <a:tr h="566925">
                <a:tc>
                  <a:txBody>
                    <a:bodyPr/>
                    <a:lstStyle/>
                    <a:p>
                      <a:pPr indent="0" lvl="0" marL="0" marR="0" rtl="0" algn="l">
                        <a:spcBef>
                          <a:spcPts val="0"/>
                        </a:spcBef>
                        <a:spcAft>
                          <a:spcPts val="0"/>
                        </a:spcAft>
                        <a:buNone/>
                      </a:pPr>
                      <a:r>
                        <a:rPr b="1" lang="en-US" sz="1050">
                          <a:solidFill>
                            <a:srgbClr val="7B1C2E"/>
                          </a:solidFill>
                        </a:rPr>
                        <a:t>Abuso por volumen (V5)</a:t>
                      </a:r>
                      <a:endParaRPr sz="1050"/>
                    </a:p>
                  </a:txBody>
                  <a:tcPr marT="36575" marB="36575" marR="91450" marL="91450" anchor="ctr">
                    <a:solidFill>
                      <a:srgbClr val="FFFFFF"/>
                    </a:solidFill>
                  </a:tcPr>
                </a:tc>
                <a:tc>
                  <a:txBody>
                    <a:bodyPr/>
                    <a:lstStyle/>
                    <a:p>
                      <a:pPr indent="0" lvl="0" marL="0" marR="0" rtl="0" algn="l">
                        <a:spcBef>
                          <a:spcPts val="0"/>
                        </a:spcBef>
                        <a:spcAft>
                          <a:spcPts val="0"/>
                        </a:spcAft>
                        <a:buNone/>
                      </a:pPr>
                      <a:r>
                        <a:rPr b="0" lang="en-US" sz="1050">
                          <a:solidFill>
                            <a:srgbClr val="262626"/>
                          </a:solidFill>
                        </a:rPr>
                        <a:t>ASR con ráfagas crecientes, C0 contra C5</a:t>
                      </a:r>
                      <a:endParaRPr sz="1050"/>
                    </a:p>
                  </a:txBody>
                  <a:tcPr marT="36575" marB="36575" marR="91450" marL="91450" anchor="ctr">
                    <a:solidFill>
                      <a:srgbClr val="FFFFFF"/>
                    </a:solidFill>
                  </a:tcPr>
                </a:tc>
                <a:tc>
                  <a:txBody>
                    <a:bodyPr/>
                    <a:lstStyle/>
                    <a:p>
                      <a:pPr indent="0" lvl="0" marL="0" marR="0" rtl="0" algn="l">
                        <a:spcBef>
                          <a:spcPts val="0"/>
                        </a:spcBef>
                        <a:spcAft>
                          <a:spcPts val="0"/>
                        </a:spcAft>
                        <a:buNone/>
                      </a:pPr>
                      <a:r>
                        <a:rPr b="0" lang="en-US" sz="1050">
                          <a:solidFill>
                            <a:srgbClr val="262626"/>
                          </a:solidFill>
                        </a:rPr>
                        <a:t>Límite de tasa activo ‡</a:t>
                      </a:r>
                      <a:endParaRPr sz="1050"/>
                    </a:p>
                  </a:txBody>
                  <a:tcPr marT="36575" marB="36575" marR="91450" marL="91450" anchor="ctr">
                    <a:solidFill>
                      <a:srgbClr val="FFFFFF"/>
                    </a:solidFill>
                  </a:tcPr>
                </a:tc>
                <a:tc>
                  <a:txBody>
                    <a:bodyPr/>
                    <a:lstStyle/>
                    <a:p>
                      <a:pPr indent="0" lvl="0" marL="0" marR="0" rtl="0" algn="l">
                        <a:spcBef>
                          <a:spcPts val="0"/>
                        </a:spcBef>
                        <a:spcAft>
                          <a:spcPts val="0"/>
                        </a:spcAft>
                        <a:buNone/>
                      </a:pPr>
                      <a:r>
                        <a:rPr lang="en-US" sz="1050">
                          <a:solidFill>
                            <a:srgbClr val="262626"/>
                          </a:solidFill>
                        </a:rPr>
                        <a:t>74,7 % → 0,2 % (datos previos; falta re-correr)</a:t>
                      </a:r>
                      <a:endParaRPr sz="1050"/>
                    </a:p>
                  </a:txBody>
                  <a:tcPr marT="36575" marB="36575" marR="91450" marL="91450" anchor="ctr">
                    <a:solidFill>
                      <a:srgbClr val="FFFFFF"/>
                    </a:solidFill>
                  </a:tcPr>
                </a:tc>
                <a:tc>
                  <a:txBody>
                    <a:bodyPr/>
                    <a:lstStyle/>
                    <a:p>
                      <a:pPr indent="0" lvl="0" marL="0" marR="0" rtl="0" algn="l">
                        <a:spcBef>
                          <a:spcPts val="0"/>
                        </a:spcBef>
                        <a:spcAft>
                          <a:spcPts val="0"/>
                        </a:spcAft>
                        <a:buNone/>
                      </a:pPr>
                      <a:r>
                        <a:rPr lang="en-US" sz="1050">
                          <a:solidFill>
                            <a:srgbClr val="262626"/>
                          </a:solidFill>
                        </a:rPr>
                        <a:t>Sí (a confirmar)</a:t>
                      </a:r>
                      <a:endParaRPr b="0" sz="1050">
                        <a:solidFill>
                          <a:srgbClr val="262626"/>
                        </a:solidFill>
                      </a:endParaRPr>
                    </a:p>
                  </a:txBody>
                  <a:tcPr marT="36575" marB="36575" marR="91450" marL="91450" anchor="ctr">
                    <a:solidFill>
                      <a:srgbClr val="FFFFFF"/>
                    </a:solidFill>
                  </a:tcPr>
                </a:tc>
              </a:tr>
            </a:tbl>
          </a:graphicData>
        </a:graphic>
      </p:graphicFrame>
      <p:sp>
        <p:nvSpPr>
          <p:cNvPr id="515" name="Google Shape;515;p27"/>
          <p:cNvSpPr txBox="1"/>
          <p:nvPr/>
        </p:nvSpPr>
        <p:spPr>
          <a:xfrm>
            <a:off x="548640" y="6080000"/>
            <a:ext cx="11091600" cy="548700"/>
          </a:xfrm>
          <a:prstGeom prst="rect">
            <a:avLst/>
          </a:prstGeom>
          <a:noFill/>
          <a:ln>
            <a:noFill/>
          </a:ln>
        </p:spPr>
        <p:txBody>
          <a:bodyPr anchorCtr="0" anchor="t" bIns="27425" lIns="45700" spcFirstLastPara="1" rIns="45700" wrap="square" tIns="27425">
            <a:noAutofit/>
          </a:bodyPr>
          <a:lstStyle/>
          <a:p>
            <a:pPr indent="0" lvl="0" marL="0" marR="0" rtl="0" algn="l">
              <a:spcBef>
                <a:spcPts val="0"/>
              </a:spcBef>
              <a:spcAft>
                <a:spcPts val="0"/>
              </a:spcAft>
              <a:buNone/>
            </a:pPr>
            <a:r>
              <a:rPr i="1" lang="en-US" sz="950">
                <a:solidFill>
                  <a:srgbClr val="595959"/>
                </a:solidFill>
                <a:latin typeface="Calibri"/>
                <a:ea typeface="Calibri"/>
                <a:cs typeface="Calibri"/>
                <a:sym typeface="Calibri"/>
              </a:rPr>
              <a:t>† Umbral definido por el equipo en el análisis (analisis/matriz_real_vs_hipotesis.py); se declara para poder discutirlo.</a:t>
            </a:r>
            <a:r>
              <a:rPr b="0" i="1" lang="en-US" sz="950" u="none" cap="none" strike="noStrike">
                <a:solidFill>
                  <a:srgbClr val="595959"/>
                </a:solidFill>
                <a:latin typeface="Calibri"/>
                <a:ea typeface="Calibri"/>
                <a:cs typeface="Calibri"/>
                <a:sym typeface="Calibri"/>
              </a:rPr>
              <a:t>  </a:t>
            </a:r>
            <a:r>
              <a:rPr i="1" lang="en-US" sz="950">
                <a:solidFill>
                  <a:srgbClr val="595959"/>
                </a:solidFill>
                <a:latin typeface="Calibri"/>
                <a:ea typeface="Calibri"/>
                <a:cs typeface="Calibri"/>
                <a:sym typeface="Calibri"/>
              </a:rPr>
              <a:t>‡ Umbral propuesto por el equipo para esta evaluación.</a:t>
            </a:r>
            <a:r>
              <a:rPr b="0" i="1" lang="en-US" sz="950" u="none" cap="none" strike="noStrike">
                <a:solidFill>
                  <a:srgbClr val="595959"/>
                </a:solidFill>
                <a:latin typeface="Calibri"/>
                <a:ea typeface="Calibri"/>
                <a:cs typeface="Calibri"/>
                <a:sym typeface="Calibri"/>
              </a:rPr>
              <a:t>  </a:t>
            </a:r>
            <a:r>
              <a:rPr i="1" lang="en-US" sz="950">
                <a:solidFill>
                  <a:srgbClr val="595959"/>
                </a:solidFill>
                <a:latin typeface="Calibri"/>
                <a:ea typeface="Calibri"/>
                <a:cs typeface="Calibri"/>
                <a:sym typeface="Calibri"/>
              </a:rPr>
              <a:t>Con n pequeño, dos intervalos que se solapan no son distinguibles. «Parcial» es un efecto menor que el umbral, no «sin efecto».</a:t>
            </a:r>
            <a:endParaRPr sz="95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0" name="Shape 520"/>
        <p:cNvGrpSpPr/>
        <p:nvPr/>
      </p:nvGrpSpPr>
      <p:grpSpPr>
        <a:xfrm>
          <a:off x="0" y="0"/>
          <a:ext cx="0" cy="0"/>
          <a:chOff x="0" y="0"/>
          <a:chExt cx="0" cy="0"/>
        </a:xfrm>
      </p:grpSpPr>
      <p:sp>
        <p:nvSpPr>
          <p:cNvPr id="521" name="Google Shape;521;p28"/>
          <p:cNvSpPr txBox="1"/>
          <p:nvPr>
            <p:ph type="title"/>
          </p:nvPr>
        </p:nvSpPr>
        <p:spPr>
          <a:xfrm>
            <a:off x="1371600" y="457200"/>
            <a:ext cx="8869680" cy="64008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4A1020"/>
              </a:buClr>
              <a:buSzPts val="2800"/>
              <a:buFont typeface="Calibri"/>
              <a:buNone/>
            </a:pPr>
            <a:r>
              <a:rPr b="1" lang="en-US" sz="2800">
                <a:solidFill>
                  <a:srgbClr val="4A1020"/>
                </a:solidFill>
              </a:rPr>
              <a:t>Resultados frente a los criterios</a:t>
            </a:r>
            <a:endParaRPr/>
          </a:p>
        </p:txBody>
      </p:sp>
      <p:pic>
        <p:nvPicPr>
          <p:cNvPr descr="ironveil_v6.png" id="522" name="Google Shape;522;p28"/>
          <p:cNvPicPr preferRelativeResize="0"/>
          <p:nvPr/>
        </p:nvPicPr>
        <p:blipFill rotWithShape="1">
          <a:blip r:embed="rId3">
            <a:alphaModFix/>
          </a:blip>
          <a:srcRect b="0" l="0" r="0" t="0"/>
          <a:stretch/>
        </p:blipFill>
        <p:spPr>
          <a:xfrm>
            <a:off x="502920" y="274320"/>
            <a:ext cx="822960" cy="822960"/>
          </a:xfrm>
          <a:prstGeom prst="rect">
            <a:avLst/>
          </a:prstGeom>
          <a:noFill/>
          <a:ln>
            <a:noFill/>
          </a:ln>
        </p:spPr>
      </p:pic>
      <p:sp>
        <p:nvSpPr>
          <p:cNvPr id="523" name="Google Shape;523;p28"/>
          <p:cNvSpPr txBox="1"/>
          <p:nvPr/>
        </p:nvSpPr>
        <p:spPr>
          <a:xfrm>
            <a:off x="1371600" y="246888"/>
            <a:ext cx="8229600" cy="27432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1100" u="none" cap="none" strike="noStrike">
                <a:solidFill>
                  <a:srgbClr val="7B1C2E"/>
                </a:solidFill>
                <a:latin typeface="Calibri"/>
                <a:ea typeface="Calibri"/>
                <a:cs typeface="Calibri"/>
                <a:sym typeface="Calibri"/>
              </a:rPr>
              <a:t>07 · MÉTRICAS Y EVALUACIÓN</a:t>
            </a:r>
            <a:endParaRPr/>
          </a:p>
        </p:txBody>
      </p:sp>
      <p:cxnSp>
        <p:nvCxnSpPr>
          <p:cNvPr id="524" name="Google Shape;524;p28"/>
          <p:cNvCxnSpPr/>
          <p:nvPr/>
        </p:nvCxnSpPr>
        <p:spPr>
          <a:xfrm>
            <a:off x="548640" y="1188720"/>
            <a:ext cx="11091672" cy="0"/>
          </a:xfrm>
          <a:prstGeom prst="straightConnector1">
            <a:avLst/>
          </a:prstGeom>
          <a:noFill/>
          <a:ln cap="flat" cmpd="sng" w="25400">
            <a:solidFill>
              <a:srgbClr val="7B1C2E"/>
            </a:solidFill>
            <a:prstDash val="solid"/>
            <a:miter lim="8000"/>
            <a:headEnd len="sm" w="sm" type="none"/>
            <a:tailEnd len="sm" w="sm" type="none"/>
          </a:ln>
        </p:spPr>
      </p:cxnSp>
      <p:sp>
        <p:nvSpPr>
          <p:cNvPr id="525" name="Google Shape;525;p28"/>
          <p:cNvSpPr/>
          <p:nvPr/>
        </p:nvSpPr>
        <p:spPr>
          <a:xfrm>
            <a:off x="0" y="6510528"/>
            <a:ext cx="12191695" cy="347472"/>
          </a:xfrm>
          <a:prstGeom prst="rect">
            <a:avLst/>
          </a:prstGeom>
          <a:solidFill>
            <a:srgbClr val="7B1C2E"/>
          </a:solidFill>
          <a:ln>
            <a:noFill/>
          </a:ln>
        </p:spPr>
        <p:txBody>
          <a:bodyPr anchorCtr="0" anchor="ctr" bIns="36575" lIns="91425" spcFirstLastPara="1" rIns="91425" wrap="square" tIns="36575">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ronveil_v6_inv.png" id="526" name="Google Shape;526;p28"/>
          <p:cNvPicPr preferRelativeResize="0"/>
          <p:nvPr/>
        </p:nvPicPr>
        <p:blipFill rotWithShape="1">
          <a:blip r:embed="rId4">
            <a:alphaModFix/>
          </a:blip>
          <a:srcRect b="0" l="0" r="0" t="0"/>
          <a:stretch/>
        </p:blipFill>
        <p:spPr>
          <a:xfrm>
            <a:off x="457200" y="6537960"/>
            <a:ext cx="292608" cy="292608"/>
          </a:xfrm>
          <a:prstGeom prst="rect">
            <a:avLst/>
          </a:prstGeom>
          <a:noFill/>
          <a:ln>
            <a:noFill/>
          </a:ln>
        </p:spPr>
      </p:pic>
      <p:sp>
        <p:nvSpPr>
          <p:cNvPr id="527" name="Google Shape;527;p28"/>
          <p:cNvSpPr txBox="1"/>
          <p:nvPr/>
        </p:nvSpPr>
        <p:spPr>
          <a:xfrm>
            <a:off x="822960" y="6528816"/>
            <a:ext cx="5486400" cy="310896"/>
          </a:xfrm>
          <a:prstGeom prst="rect">
            <a:avLst/>
          </a:prstGeom>
          <a:noFill/>
          <a:ln>
            <a:noFill/>
          </a:ln>
        </p:spPr>
        <p:txBody>
          <a:bodyPr anchorCtr="0" anchor="ctr" bIns="27425" lIns="45700" spcFirstLastPara="1" rIns="45700" wrap="square" tIns="27425">
            <a:noAutofit/>
          </a:bodyPr>
          <a:lstStyle/>
          <a:p>
            <a:pPr indent="0" lvl="0" marL="0" marR="0" rtl="0" algn="l">
              <a:spcBef>
                <a:spcPts val="0"/>
              </a:spcBef>
              <a:spcAft>
                <a:spcPts val="0"/>
              </a:spcAft>
              <a:buNone/>
            </a:pPr>
            <a:r>
              <a:rPr b="1" lang="en-US" sz="1050">
                <a:solidFill>
                  <a:srgbClr val="F2F2F2"/>
                </a:solidFill>
                <a:latin typeface="Calibri"/>
                <a:ea typeface="Calibri"/>
                <a:cs typeface="Calibri"/>
                <a:sym typeface="Calibri"/>
              </a:rPr>
              <a:t>IronVeil · Framework de defensa para LLMs autoalojados</a:t>
            </a:r>
            <a:endParaRPr/>
          </a:p>
        </p:txBody>
      </p:sp>
      <p:sp>
        <p:nvSpPr>
          <p:cNvPr id="528" name="Google Shape;528;p28"/>
          <p:cNvSpPr txBox="1"/>
          <p:nvPr/>
        </p:nvSpPr>
        <p:spPr>
          <a:xfrm>
            <a:off x="6217920" y="6528816"/>
            <a:ext cx="5303520" cy="310896"/>
          </a:xfrm>
          <a:prstGeom prst="rect">
            <a:avLst/>
          </a:prstGeom>
          <a:noFill/>
          <a:ln>
            <a:noFill/>
          </a:ln>
        </p:spPr>
        <p:txBody>
          <a:bodyPr anchorCtr="0" anchor="ctr" bIns="27425" lIns="45700" spcFirstLastPara="1" rIns="45700" wrap="square" tIns="27425">
            <a:spAutoFit/>
          </a:bodyPr>
          <a:lstStyle/>
          <a:p>
            <a:pPr indent="0" lvl="0" marL="0" marR="0" rtl="0" algn="r">
              <a:spcBef>
                <a:spcPts val="0"/>
              </a:spcBef>
              <a:spcAft>
                <a:spcPts val="0"/>
              </a:spcAft>
              <a:buNone/>
            </a:pPr>
            <a:r>
              <a:rPr b="0" i="0" lang="en-US" sz="1050" u="none" cap="none" strike="noStrike">
                <a:solidFill>
                  <a:srgbClr val="D9D9D9"/>
                </a:solidFill>
                <a:latin typeface="Calibri"/>
                <a:ea typeface="Calibri"/>
                <a:cs typeface="Calibri"/>
                <a:sym typeface="Calibri"/>
              </a:rPr>
              <a:t>Escuela Colombiana de Ingeniería Julio Garavito · 2026</a:t>
            </a:r>
            <a:endParaRPr/>
          </a:p>
        </p:txBody>
      </p:sp>
      <p:sp>
        <p:nvSpPr>
          <p:cNvPr id="529" name="Google Shape;529;p28"/>
          <p:cNvSpPr txBox="1"/>
          <p:nvPr/>
        </p:nvSpPr>
        <p:spPr>
          <a:xfrm>
            <a:off x="11475720" y="6528816"/>
            <a:ext cx="548640" cy="310896"/>
          </a:xfrm>
          <a:prstGeom prst="rect">
            <a:avLst/>
          </a:prstGeom>
          <a:noFill/>
          <a:ln>
            <a:noFill/>
          </a:ln>
        </p:spPr>
        <p:txBody>
          <a:bodyPr anchorCtr="0" anchor="ctr" bIns="27425" lIns="45700" spcFirstLastPara="1" rIns="45700" wrap="square" tIns="27425">
            <a:noAutofit/>
          </a:bodyPr>
          <a:lstStyle/>
          <a:p>
            <a:pPr indent="0" lvl="0" marL="0" marR="0" rtl="0" algn="r">
              <a:spcBef>
                <a:spcPts val="0"/>
              </a:spcBef>
              <a:spcAft>
                <a:spcPts val="0"/>
              </a:spcAft>
              <a:buNone/>
            </a:pPr>
            <a:r>
              <a:rPr b="1" lang="en-US" sz="1100">
                <a:solidFill>
                  <a:srgbClr val="FFFFFF"/>
                </a:solidFill>
                <a:latin typeface="Calibri"/>
                <a:ea typeface="Calibri"/>
                <a:cs typeface="Calibri"/>
                <a:sym typeface="Calibri"/>
              </a:rPr>
              <a:t>14</a:t>
            </a:r>
            <a:endParaRPr b="1" sz="1100">
              <a:solidFill>
                <a:srgbClr val="FFFFFF"/>
              </a:solidFill>
              <a:latin typeface="Calibri"/>
              <a:ea typeface="Calibri"/>
              <a:cs typeface="Calibri"/>
              <a:sym typeface="Calibri"/>
            </a:endParaRPr>
          </a:p>
        </p:txBody>
      </p:sp>
      <p:pic>
        <p:nvPicPr>
          <p:cNvPr id="530" name="Google Shape;530;p28"/>
          <p:cNvPicPr preferRelativeResize="0"/>
          <p:nvPr/>
        </p:nvPicPr>
        <p:blipFill rotWithShape="1">
          <a:blip r:embed="rId5">
            <a:alphaModFix/>
          </a:blip>
          <a:srcRect b="0" l="0" r="0" t="0"/>
          <a:stretch/>
        </p:blipFill>
        <p:spPr>
          <a:xfrm>
            <a:off x="548640" y="1325880"/>
            <a:ext cx="3886200" cy="3429000"/>
          </a:xfrm>
          <a:prstGeom prst="rect">
            <a:avLst/>
          </a:prstGeom>
          <a:noFill/>
          <a:ln>
            <a:noFill/>
          </a:ln>
        </p:spPr>
      </p:pic>
      <p:pic>
        <p:nvPicPr>
          <p:cNvPr id="531" name="Google Shape;531;p28"/>
          <p:cNvPicPr preferRelativeResize="0"/>
          <p:nvPr/>
        </p:nvPicPr>
        <p:blipFill rotWithShape="1">
          <a:blip r:embed="rId6">
            <a:alphaModFix/>
          </a:blip>
          <a:srcRect b="0" l="0" r="0" t="0"/>
          <a:stretch/>
        </p:blipFill>
        <p:spPr>
          <a:xfrm>
            <a:off x="4526280" y="1325880"/>
            <a:ext cx="3886200" cy="3429000"/>
          </a:xfrm>
          <a:prstGeom prst="rect">
            <a:avLst/>
          </a:prstGeom>
          <a:noFill/>
          <a:ln>
            <a:noFill/>
          </a:ln>
        </p:spPr>
      </p:pic>
      <p:sp>
        <p:nvSpPr>
          <p:cNvPr id="532" name="Google Shape;532;p28"/>
          <p:cNvSpPr/>
          <p:nvPr/>
        </p:nvSpPr>
        <p:spPr>
          <a:xfrm>
            <a:off x="8595360" y="1371600"/>
            <a:ext cx="3044952" cy="3337560"/>
          </a:xfrm>
          <a:prstGeom prst="roundRect">
            <a:avLst>
              <a:gd fmla="val 6000" name="adj"/>
            </a:avLst>
          </a:prstGeom>
          <a:solidFill>
            <a:srgbClr val="F2F2F2"/>
          </a:solidFill>
          <a:ln>
            <a:noFill/>
          </a:ln>
        </p:spPr>
        <p:txBody>
          <a:bodyPr anchorCtr="0" anchor="t" bIns="36575" lIns="91425" spcFirstLastPara="1" rIns="91425" wrap="square" tIns="36575">
            <a:noAutofit/>
          </a:bodyPr>
          <a:lstStyle/>
          <a:p>
            <a:pPr indent="0" lvl="0" marL="0" marR="0" rtl="0" algn="l">
              <a:spcBef>
                <a:spcPts val="0"/>
              </a:spcBef>
              <a:spcAft>
                <a:spcPts val="0"/>
              </a:spcAft>
              <a:buNone/>
            </a:pPr>
            <a:r>
              <a:rPr b="1" i="0" lang="en-US" sz="1300" u="none" cap="none" strike="noStrike">
                <a:solidFill>
                  <a:srgbClr val="262626"/>
                </a:solidFill>
                <a:latin typeface="Calibri"/>
                <a:ea typeface="Calibri"/>
                <a:cs typeface="Calibri"/>
                <a:sym typeface="Calibri"/>
              </a:rPr>
              <a:t>VEREDICTO</a:t>
            </a:r>
            <a:endParaRPr/>
          </a:p>
          <a:p>
            <a:pPr indent="0" lvl="0" marL="0" marR="0" rtl="0" algn="l">
              <a:spcBef>
                <a:spcPts val="1000"/>
              </a:spcBef>
              <a:spcAft>
                <a:spcPts val="0"/>
              </a:spcAft>
              <a:buNone/>
            </a:pPr>
            <a:r>
              <a:rPr b="1" i="0" lang="en-US" sz="1500" u="none" cap="none" strike="noStrike">
                <a:solidFill>
                  <a:srgbClr val="262626"/>
                </a:solidFill>
                <a:latin typeface="Calibri"/>
                <a:ea typeface="Calibri"/>
                <a:cs typeface="Calibri"/>
                <a:sym typeface="Calibri"/>
              </a:rPr>
              <a:t>H1 en parte. </a:t>
            </a:r>
            <a:r>
              <a:rPr b="0" i="0" lang="en-US" sz="1400" u="none" cap="none" strike="noStrike">
                <a:solidFill>
                  <a:srgbClr val="262626"/>
                </a:solidFill>
                <a:latin typeface="Calibri"/>
                <a:ea typeface="Calibri"/>
                <a:cs typeface="Calibri"/>
                <a:sym typeface="Calibri"/>
              </a:rPr>
              <a:t>C4 y C5 se confirman (V4 12/39 → 0/39; V5 74,7 → 0,2 %). En inyección solo el filtrado reduce.</a:t>
            </a:r>
            <a:endParaRPr/>
          </a:p>
          <a:p>
            <a:pPr indent="0" lvl="0" marL="0" marR="0" rtl="0" algn="l">
              <a:spcBef>
                <a:spcPts val="1000"/>
              </a:spcBef>
              <a:spcAft>
                <a:spcPts val="0"/>
              </a:spcAft>
              <a:buNone/>
            </a:pPr>
            <a:r>
              <a:rPr b="1" i="0" lang="en-US" sz="1500" u="none" cap="none" strike="noStrike">
                <a:solidFill>
                  <a:srgbClr val="262626"/>
                </a:solidFill>
                <a:latin typeface="Calibri"/>
                <a:ea typeface="Calibri"/>
                <a:cs typeface="Calibri"/>
                <a:sym typeface="Calibri"/>
              </a:rPr>
              <a:t>H2 en parte. </a:t>
            </a:r>
            <a:r>
              <a:rPr b="0" i="0" lang="en-US" sz="1400" u="none" cap="none" strike="noStrike">
                <a:solidFill>
                  <a:srgbClr val="262626"/>
                </a:solidFill>
                <a:latin typeface="Calibri"/>
                <a:ea typeface="Calibri"/>
                <a:cs typeface="Calibri"/>
                <a:sym typeface="Calibri"/>
              </a:rPr>
              <a:t>C6 iguala a C1 (15,0 %) y ninguna llega a 0 %.</a:t>
            </a:r>
            <a:endParaRPr/>
          </a:p>
        </p:txBody>
      </p:sp>
      <p:sp>
        <p:nvSpPr>
          <p:cNvPr id="533" name="Google Shape;533;p28"/>
          <p:cNvSpPr/>
          <p:nvPr/>
        </p:nvSpPr>
        <p:spPr>
          <a:xfrm>
            <a:off x="548640" y="4937760"/>
            <a:ext cx="5440680" cy="1417320"/>
          </a:xfrm>
          <a:prstGeom prst="roundRect">
            <a:avLst>
              <a:gd fmla="val 6000" name="adj"/>
            </a:avLst>
          </a:prstGeom>
          <a:solidFill>
            <a:srgbClr val="F2F2F2"/>
          </a:solidFill>
          <a:ln cap="flat" cmpd="sng" w="12700">
            <a:solidFill>
              <a:srgbClr val="D0D0D0"/>
            </a:solidFill>
            <a:prstDash val="solid"/>
            <a:miter lim="8000"/>
            <a:headEnd len="sm" w="sm" type="none"/>
            <a:tailEnd len="sm" w="sm" type="none"/>
          </a:ln>
        </p:spPr>
        <p:txBody>
          <a:bodyPr anchorCtr="0" anchor="ctr" bIns="36575" lIns="91425" spcFirstLastPara="1" rIns="91425" wrap="square" tIns="36575">
            <a:noAutofit/>
          </a:bodyPr>
          <a:lstStyle/>
          <a:p>
            <a:pPr indent="0" lvl="0" marL="0" marR="0" rtl="0" algn="l">
              <a:spcBef>
                <a:spcPts val="0"/>
              </a:spcBef>
              <a:spcAft>
                <a:spcPts val="0"/>
              </a:spcAft>
              <a:buNone/>
            </a:pPr>
            <a:r>
              <a:rPr b="1" i="0" lang="en-US" sz="1400" u="none" cap="none" strike="noStrike">
                <a:solidFill>
                  <a:srgbClr val="4A1020"/>
                </a:solidFill>
                <a:latin typeface="Calibri"/>
                <a:ea typeface="Calibri"/>
                <a:cs typeface="Calibri"/>
                <a:sym typeface="Calibri"/>
              </a:rPr>
              <a:t>Sin V1 (40 % en todas por el entorno)</a:t>
            </a:r>
            <a:endParaRPr/>
          </a:p>
          <a:p>
            <a:pPr indent="0" lvl="0" marL="0" marR="0" rtl="0" algn="l">
              <a:spcBef>
                <a:spcPts val="400"/>
              </a:spcBef>
              <a:spcAft>
                <a:spcPts val="0"/>
              </a:spcAft>
              <a:buNone/>
            </a:pPr>
            <a:r>
              <a:rPr b="0" i="0" lang="en-US" sz="1300" u="none" cap="none" strike="noStrike">
                <a:solidFill>
                  <a:srgbClr val="4A1020"/>
                </a:solidFill>
                <a:latin typeface="Calibri"/>
                <a:ea typeface="Calibri"/>
                <a:cs typeface="Calibri"/>
                <a:sym typeface="Calibri"/>
              </a:rPr>
              <a:t>C0 28,2 % → C1 y C6 6,7 %. Es la lectura más limpia del efecto de las defensas.</a:t>
            </a:r>
            <a:endParaRPr/>
          </a:p>
        </p:txBody>
      </p:sp>
      <p:sp>
        <p:nvSpPr>
          <p:cNvPr id="534" name="Google Shape;534;p28"/>
          <p:cNvSpPr/>
          <p:nvPr/>
        </p:nvSpPr>
        <p:spPr>
          <a:xfrm>
            <a:off x="6199632" y="4937760"/>
            <a:ext cx="5440680" cy="1417320"/>
          </a:xfrm>
          <a:prstGeom prst="roundRect">
            <a:avLst>
              <a:gd fmla="val 6000" name="adj"/>
            </a:avLst>
          </a:prstGeom>
          <a:solidFill>
            <a:srgbClr val="F2F2F2"/>
          </a:solidFill>
          <a:ln cap="flat" cmpd="sng" w="12700">
            <a:solidFill>
              <a:srgbClr val="7B1C2E"/>
            </a:solidFill>
            <a:prstDash val="solid"/>
            <a:miter lim="8000"/>
            <a:headEnd len="sm" w="sm" type="none"/>
            <a:tailEnd len="sm" w="sm" type="none"/>
          </a:ln>
        </p:spPr>
        <p:txBody>
          <a:bodyPr anchorCtr="0" anchor="ctr" bIns="36575" lIns="91425" spcFirstLastPara="1" rIns="91425" wrap="square" tIns="36575">
            <a:noAutofit/>
          </a:bodyPr>
          <a:lstStyle/>
          <a:p>
            <a:pPr indent="0" lvl="0" marL="0" marR="0" rtl="0" algn="l">
              <a:spcBef>
                <a:spcPts val="0"/>
              </a:spcBef>
              <a:spcAft>
                <a:spcPts val="0"/>
              </a:spcAft>
              <a:buNone/>
            </a:pPr>
            <a:r>
              <a:rPr b="1" i="0" lang="en-US" sz="1400" u="none" cap="none" strike="noStrike">
                <a:solidFill>
                  <a:srgbClr val="4A1020"/>
                </a:solidFill>
                <a:latin typeface="Calibri"/>
                <a:ea typeface="Calibri"/>
                <a:cs typeface="Calibri"/>
                <a:sym typeface="Calibri"/>
              </a:rPr>
              <a:t>Mejor costo-beneficio</a:t>
            </a:r>
            <a:endParaRPr/>
          </a:p>
          <a:p>
            <a:pPr indent="0" lvl="0" marL="0" marR="0" rtl="0" algn="l">
              <a:spcBef>
                <a:spcPts val="400"/>
              </a:spcBef>
              <a:spcAft>
                <a:spcPts val="0"/>
              </a:spcAft>
              <a:buNone/>
            </a:pPr>
            <a:r>
              <a:rPr b="0" i="0" lang="en-US" sz="1300" u="none" cap="none" strike="noStrike">
                <a:solidFill>
                  <a:srgbClr val="4A1020"/>
                </a:solidFill>
                <a:latin typeface="Calibri"/>
                <a:ea typeface="Calibri"/>
                <a:cs typeface="Calibri"/>
                <a:sym typeface="Calibri"/>
              </a:rPr>
              <a:t>Filtrado + delimitación + mínimo privilegio (≈ 50 h, &lt; 1 ms). Derivada de los efectos por mecanismo; aún no se ejecutó como configuración.</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9" name="Shape 539"/>
        <p:cNvGrpSpPr/>
        <p:nvPr/>
      </p:nvGrpSpPr>
      <p:grpSpPr>
        <a:xfrm>
          <a:off x="0" y="0"/>
          <a:ext cx="0" cy="0"/>
          <a:chOff x="0" y="0"/>
          <a:chExt cx="0" cy="0"/>
        </a:xfrm>
      </p:grpSpPr>
      <p:sp>
        <p:nvSpPr>
          <p:cNvPr id="540" name="Google Shape;540;p29"/>
          <p:cNvSpPr txBox="1"/>
          <p:nvPr>
            <p:ph type="title"/>
          </p:nvPr>
        </p:nvSpPr>
        <p:spPr>
          <a:xfrm>
            <a:off x="1371600" y="457200"/>
            <a:ext cx="8869800" cy="6402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4A1020"/>
              </a:buClr>
              <a:buSzPts val="2800"/>
              <a:buFont typeface="Calibri"/>
              <a:buNone/>
            </a:pPr>
            <a:r>
              <a:rPr lang="en-US" sz="2800">
                <a:solidFill>
                  <a:srgbClr val="4A1020"/>
                </a:solidFill>
              </a:rPr>
              <a:t>Garak: con Jev y el proxy, 0 de 339 ataques</a:t>
            </a:r>
            <a:endParaRPr sz="2800">
              <a:solidFill>
                <a:srgbClr val="4A1020"/>
              </a:solidFill>
            </a:endParaRPr>
          </a:p>
        </p:txBody>
      </p:sp>
      <p:pic>
        <p:nvPicPr>
          <p:cNvPr descr="ironveil_v6.png" id="541" name="Google Shape;541;p29"/>
          <p:cNvPicPr preferRelativeResize="0"/>
          <p:nvPr/>
        </p:nvPicPr>
        <p:blipFill rotWithShape="1">
          <a:blip r:embed="rId3">
            <a:alphaModFix/>
          </a:blip>
          <a:srcRect b="0" l="0" r="0" t="0"/>
          <a:stretch/>
        </p:blipFill>
        <p:spPr>
          <a:xfrm>
            <a:off x="502920" y="274320"/>
            <a:ext cx="822961" cy="822961"/>
          </a:xfrm>
          <a:prstGeom prst="rect">
            <a:avLst/>
          </a:prstGeom>
          <a:noFill/>
          <a:ln>
            <a:noFill/>
          </a:ln>
        </p:spPr>
      </p:pic>
      <p:sp>
        <p:nvSpPr>
          <p:cNvPr id="542" name="Google Shape;542;p29"/>
          <p:cNvSpPr txBox="1"/>
          <p:nvPr/>
        </p:nvSpPr>
        <p:spPr>
          <a:xfrm>
            <a:off x="1371600" y="246888"/>
            <a:ext cx="8229600" cy="274200"/>
          </a:xfrm>
          <a:prstGeom prst="rect">
            <a:avLst/>
          </a:prstGeom>
          <a:noFill/>
          <a:ln>
            <a:noFill/>
          </a:ln>
        </p:spPr>
        <p:txBody>
          <a:bodyPr anchorCtr="0" anchor="t" bIns="27425" lIns="45700" spcFirstLastPara="1" rIns="45700" wrap="square" tIns="27425">
            <a:noAutofit/>
          </a:bodyPr>
          <a:lstStyle/>
          <a:p>
            <a:pPr indent="0" lvl="0" marL="0" marR="0" rtl="0" algn="l">
              <a:spcBef>
                <a:spcPts val="0"/>
              </a:spcBef>
              <a:spcAft>
                <a:spcPts val="0"/>
              </a:spcAft>
              <a:buNone/>
            </a:pPr>
            <a:r>
              <a:rPr b="1" lang="en-US" sz="1100">
                <a:solidFill>
                  <a:srgbClr val="7B1C2E"/>
                </a:solidFill>
                <a:latin typeface="Calibri"/>
                <a:ea typeface="Calibri"/>
                <a:cs typeface="Calibri"/>
                <a:sym typeface="Calibri"/>
              </a:rPr>
              <a:t>07 · MÉTRICAS Y EVALUACIÓN</a:t>
            </a:r>
            <a:endParaRPr b="1" sz="1100">
              <a:solidFill>
                <a:srgbClr val="7B1C2E"/>
              </a:solidFill>
              <a:latin typeface="Calibri"/>
              <a:ea typeface="Calibri"/>
              <a:cs typeface="Calibri"/>
              <a:sym typeface="Calibri"/>
            </a:endParaRPr>
          </a:p>
        </p:txBody>
      </p:sp>
      <p:cxnSp>
        <p:nvCxnSpPr>
          <p:cNvPr id="543" name="Google Shape;543;p29"/>
          <p:cNvCxnSpPr/>
          <p:nvPr/>
        </p:nvCxnSpPr>
        <p:spPr>
          <a:xfrm>
            <a:off x="548640" y="1188720"/>
            <a:ext cx="11091600" cy="0"/>
          </a:xfrm>
          <a:prstGeom prst="straightConnector1">
            <a:avLst/>
          </a:prstGeom>
          <a:noFill/>
          <a:ln cap="flat" cmpd="sng" w="25400">
            <a:solidFill>
              <a:srgbClr val="7B1C2E"/>
            </a:solidFill>
            <a:prstDash val="solid"/>
            <a:miter lim="8000"/>
            <a:headEnd len="sm" w="sm" type="none"/>
            <a:tailEnd len="sm" w="sm" type="none"/>
          </a:ln>
        </p:spPr>
      </p:cxnSp>
      <p:sp>
        <p:nvSpPr>
          <p:cNvPr id="544" name="Google Shape;544;p29"/>
          <p:cNvSpPr/>
          <p:nvPr/>
        </p:nvSpPr>
        <p:spPr>
          <a:xfrm>
            <a:off x="0" y="6510528"/>
            <a:ext cx="12191700" cy="347400"/>
          </a:xfrm>
          <a:prstGeom prst="rect">
            <a:avLst/>
          </a:prstGeom>
          <a:solidFill>
            <a:srgbClr val="7B1C2E"/>
          </a:solidFill>
          <a:ln>
            <a:noFill/>
          </a:ln>
        </p:spPr>
        <p:txBody>
          <a:bodyPr anchorCtr="0" anchor="ctr" bIns="36575" lIns="91425" spcFirstLastPara="1" rIns="91425" wrap="square" tIns="36575">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ronveil_v6_inv.png" id="545" name="Google Shape;545;p29"/>
          <p:cNvPicPr preferRelativeResize="0"/>
          <p:nvPr/>
        </p:nvPicPr>
        <p:blipFill rotWithShape="1">
          <a:blip r:embed="rId4">
            <a:alphaModFix/>
          </a:blip>
          <a:srcRect b="0" l="0" r="0" t="0"/>
          <a:stretch/>
        </p:blipFill>
        <p:spPr>
          <a:xfrm>
            <a:off x="457200" y="6537960"/>
            <a:ext cx="292608" cy="292608"/>
          </a:xfrm>
          <a:prstGeom prst="rect">
            <a:avLst/>
          </a:prstGeom>
          <a:noFill/>
          <a:ln>
            <a:noFill/>
          </a:ln>
        </p:spPr>
      </p:pic>
      <p:sp>
        <p:nvSpPr>
          <p:cNvPr id="546" name="Google Shape;546;p29"/>
          <p:cNvSpPr txBox="1"/>
          <p:nvPr/>
        </p:nvSpPr>
        <p:spPr>
          <a:xfrm>
            <a:off x="822960" y="6528816"/>
            <a:ext cx="5486400" cy="310800"/>
          </a:xfrm>
          <a:prstGeom prst="rect">
            <a:avLst/>
          </a:prstGeom>
          <a:noFill/>
          <a:ln>
            <a:noFill/>
          </a:ln>
        </p:spPr>
        <p:txBody>
          <a:bodyPr anchorCtr="0" anchor="ctr" bIns="27425" lIns="45700" spcFirstLastPara="1" rIns="45700" wrap="square" tIns="27425">
            <a:noAutofit/>
          </a:bodyPr>
          <a:lstStyle/>
          <a:p>
            <a:pPr indent="0" lvl="0" marL="0" marR="0" rtl="0" algn="l">
              <a:spcBef>
                <a:spcPts val="0"/>
              </a:spcBef>
              <a:spcAft>
                <a:spcPts val="0"/>
              </a:spcAft>
              <a:buNone/>
            </a:pPr>
            <a:r>
              <a:rPr b="1" lang="en-US" sz="1050">
                <a:solidFill>
                  <a:srgbClr val="F2F2F2"/>
                </a:solidFill>
                <a:latin typeface="Calibri"/>
                <a:ea typeface="Calibri"/>
                <a:cs typeface="Calibri"/>
                <a:sym typeface="Calibri"/>
              </a:rPr>
              <a:t>IronVeil · Framework de defensa para LLMs autoalojados</a:t>
            </a:r>
            <a:endParaRPr/>
          </a:p>
        </p:txBody>
      </p:sp>
      <p:sp>
        <p:nvSpPr>
          <p:cNvPr id="547" name="Google Shape;547;p29"/>
          <p:cNvSpPr txBox="1"/>
          <p:nvPr/>
        </p:nvSpPr>
        <p:spPr>
          <a:xfrm>
            <a:off x="6217920" y="6528816"/>
            <a:ext cx="5303400" cy="310800"/>
          </a:xfrm>
          <a:prstGeom prst="rect">
            <a:avLst/>
          </a:prstGeom>
          <a:noFill/>
          <a:ln>
            <a:noFill/>
          </a:ln>
        </p:spPr>
        <p:txBody>
          <a:bodyPr anchorCtr="0" anchor="ctr" bIns="27425" lIns="45700" spcFirstLastPara="1" rIns="45700" wrap="square" tIns="27425">
            <a:noAutofit/>
          </a:bodyPr>
          <a:lstStyle/>
          <a:p>
            <a:pPr indent="0" lvl="0" marL="0" marR="0" rtl="0" algn="r">
              <a:spcBef>
                <a:spcPts val="0"/>
              </a:spcBef>
              <a:spcAft>
                <a:spcPts val="0"/>
              </a:spcAft>
              <a:buNone/>
            </a:pPr>
            <a:r>
              <a:rPr b="0" i="0" lang="en-US" sz="1050" u="none" cap="none" strike="noStrike">
                <a:solidFill>
                  <a:srgbClr val="D9D9D9"/>
                </a:solidFill>
                <a:latin typeface="Calibri"/>
                <a:ea typeface="Calibri"/>
                <a:cs typeface="Calibri"/>
                <a:sym typeface="Calibri"/>
              </a:rPr>
              <a:t>Escuela Colombiana de Ingeniería Julio Garavito · 2026</a:t>
            </a:r>
            <a:endParaRPr/>
          </a:p>
        </p:txBody>
      </p:sp>
      <p:sp>
        <p:nvSpPr>
          <p:cNvPr id="548" name="Google Shape;548;p29"/>
          <p:cNvSpPr txBox="1"/>
          <p:nvPr/>
        </p:nvSpPr>
        <p:spPr>
          <a:xfrm>
            <a:off x="11475720" y="6528816"/>
            <a:ext cx="548700" cy="310800"/>
          </a:xfrm>
          <a:prstGeom prst="rect">
            <a:avLst/>
          </a:prstGeom>
          <a:noFill/>
          <a:ln>
            <a:noFill/>
          </a:ln>
        </p:spPr>
        <p:txBody>
          <a:bodyPr anchorCtr="0" anchor="ctr" bIns="27425" lIns="45700" spcFirstLastPara="1" rIns="45700" wrap="square" tIns="27425">
            <a:noAutofit/>
          </a:bodyPr>
          <a:lstStyle/>
          <a:p>
            <a:pPr indent="0" lvl="0" marL="0" marR="0" rtl="0" algn="r">
              <a:spcBef>
                <a:spcPts val="0"/>
              </a:spcBef>
              <a:spcAft>
                <a:spcPts val="0"/>
              </a:spcAft>
              <a:buNone/>
            </a:pPr>
            <a:r>
              <a:rPr b="1" lang="en-US" sz="1100">
                <a:solidFill>
                  <a:srgbClr val="FFFFFF"/>
                </a:solidFill>
                <a:latin typeface="Calibri"/>
                <a:ea typeface="Calibri"/>
                <a:cs typeface="Calibri"/>
                <a:sym typeface="Calibri"/>
              </a:rPr>
              <a:t>15</a:t>
            </a:r>
            <a:endParaRPr b="1" sz="1100">
              <a:solidFill>
                <a:srgbClr val="FFFFFF"/>
              </a:solidFill>
              <a:latin typeface="Calibri"/>
              <a:ea typeface="Calibri"/>
              <a:cs typeface="Calibri"/>
              <a:sym typeface="Calibri"/>
            </a:endParaRPr>
          </a:p>
        </p:txBody>
      </p:sp>
      <p:sp>
        <p:nvSpPr>
          <p:cNvPr id="549" name="Google Shape;549;p29"/>
          <p:cNvSpPr/>
          <p:nvPr/>
        </p:nvSpPr>
        <p:spPr>
          <a:xfrm>
            <a:off x="548640" y="1325880"/>
            <a:ext cx="3612000" cy="2103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550" name="Google Shape;550;p29"/>
          <p:cNvSpPr txBox="1"/>
          <p:nvPr/>
        </p:nvSpPr>
        <p:spPr>
          <a:xfrm>
            <a:off x="685800" y="1417320"/>
            <a:ext cx="3337500" cy="594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800">
                <a:solidFill>
                  <a:srgbClr val="7B1C2E"/>
                </a:solidFill>
                <a:latin typeface="Calibri"/>
                <a:ea typeface="Calibri"/>
                <a:cs typeface="Calibri"/>
                <a:sym typeface="Calibri"/>
              </a:rPr>
              <a:t>51,2 %</a:t>
            </a:r>
            <a:endParaRPr b="1" sz="2800">
              <a:solidFill>
                <a:srgbClr val="7B1C2E"/>
              </a:solidFill>
              <a:latin typeface="Calibri"/>
              <a:ea typeface="Calibri"/>
              <a:cs typeface="Calibri"/>
              <a:sym typeface="Calibri"/>
            </a:endParaRPr>
          </a:p>
        </p:txBody>
      </p:sp>
      <p:sp>
        <p:nvSpPr>
          <p:cNvPr id="551" name="Google Shape;551;p29"/>
          <p:cNvSpPr txBox="1"/>
          <p:nvPr/>
        </p:nvSpPr>
        <p:spPr>
          <a:xfrm>
            <a:off x="685800" y="2011680"/>
            <a:ext cx="3337500" cy="65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500">
                <a:solidFill>
                  <a:srgbClr val="262626"/>
                </a:solidFill>
                <a:latin typeface="Calibri"/>
                <a:ea typeface="Calibri"/>
                <a:cs typeface="Calibri"/>
                <a:sym typeface="Calibri"/>
              </a:rPr>
              <a:t>ASR sin defensas (C0)</a:t>
            </a:r>
            <a:endParaRPr b="1" sz="1500">
              <a:solidFill>
                <a:srgbClr val="262626"/>
              </a:solidFill>
              <a:latin typeface="Calibri"/>
              <a:ea typeface="Calibri"/>
              <a:cs typeface="Calibri"/>
              <a:sym typeface="Calibri"/>
            </a:endParaRPr>
          </a:p>
        </p:txBody>
      </p:sp>
      <p:sp>
        <p:nvSpPr>
          <p:cNvPr id="552" name="Google Shape;552;p29"/>
          <p:cNvSpPr txBox="1"/>
          <p:nvPr/>
        </p:nvSpPr>
        <p:spPr>
          <a:xfrm>
            <a:off x="685800" y="2679192"/>
            <a:ext cx="3337500" cy="548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200">
                <a:solidFill>
                  <a:srgbClr val="595959"/>
                </a:solidFill>
                <a:latin typeface="Calibri"/>
                <a:ea typeface="Calibri"/>
                <a:cs typeface="Calibri"/>
                <a:sym typeface="Calibri"/>
              </a:rPr>
              <a:t>173 de 338 ataques de Garak lograron su objetivo</a:t>
            </a:r>
            <a:endParaRPr sz="1200">
              <a:solidFill>
                <a:srgbClr val="595959"/>
              </a:solidFill>
              <a:latin typeface="Calibri"/>
              <a:ea typeface="Calibri"/>
              <a:cs typeface="Calibri"/>
              <a:sym typeface="Calibri"/>
            </a:endParaRPr>
          </a:p>
        </p:txBody>
      </p:sp>
      <p:sp>
        <p:nvSpPr>
          <p:cNvPr id="553" name="Google Shape;553;p29"/>
          <p:cNvSpPr/>
          <p:nvPr/>
        </p:nvSpPr>
        <p:spPr>
          <a:xfrm>
            <a:off x="4288536" y="1325880"/>
            <a:ext cx="3612000" cy="2103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554" name="Google Shape;554;p29"/>
          <p:cNvSpPr txBox="1"/>
          <p:nvPr/>
        </p:nvSpPr>
        <p:spPr>
          <a:xfrm>
            <a:off x="4425696" y="1417320"/>
            <a:ext cx="3337500" cy="594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800">
                <a:solidFill>
                  <a:srgbClr val="7B1C2E"/>
                </a:solidFill>
                <a:latin typeface="Calibri"/>
                <a:ea typeface="Calibri"/>
                <a:cs typeface="Calibri"/>
                <a:sym typeface="Calibri"/>
              </a:rPr>
              <a:t>0,3 %</a:t>
            </a:r>
            <a:endParaRPr b="1" sz="2800">
              <a:solidFill>
                <a:srgbClr val="7B1C2E"/>
              </a:solidFill>
              <a:latin typeface="Calibri"/>
              <a:ea typeface="Calibri"/>
              <a:cs typeface="Calibri"/>
              <a:sym typeface="Calibri"/>
            </a:endParaRPr>
          </a:p>
        </p:txBody>
      </p:sp>
      <p:sp>
        <p:nvSpPr>
          <p:cNvPr id="555" name="Google Shape;555;p29"/>
          <p:cNvSpPr txBox="1"/>
          <p:nvPr/>
        </p:nvSpPr>
        <p:spPr>
          <a:xfrm>
            <a:off x="4425696" y="2011680"/>
            <a:ext cx="3337500" cy="65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500">
                <a:solidFill>
                  <a:srgbClr val="262626"/>
                </a:solidFill>
                <a:latin typeface="Calibri"/>
                <a:ea typeface="Calibri"/>
                <a:cs typeface="Calibri"/>
                <a:sym typeface="Calibri"/>
              </a:rPr>
              <a:t>Jev solo (C3)</a:t>
            </a:r>
            <a:endParaRPr b="1" sz="1500">
              <a:solidFill>
                <a:srgbClr val="262626"/>
              </a:solidFill>
              <a:latin typeface="Calibri"/>
              <a:ea typeface="Calibri"/>
              <a:cs typeface="Calibri"/>
              <a:sym typeface="Calibri"/>
            </a:endParaRPr>
          </a:p>
        </p:txBody>
      </p:sp>
      <p:sp>
        <p:nvSpPr>
          <p:cNvPr id="556" name="Google Shape;556;p29"/>
          <p:cNvSpPr txBox="1"/>
          <p:nvPr/>
        </p:nvSpPr>
        <p:spPr>
          <a:xfrm>
            <a:off x="4425696" y="2679192"/>
            <a:ext cx="3337500" cy="548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200">
                <a:solidFill>
                  <a:srgbClr val="595959"/>
                </a:solidFill>
                <a:latin typeface="Calibri"/>
                <a:ea typeface="Calibri"/>
                <a:cs typeface="Calibri"/>
                <a:sym typeface="Calibri"/>
              </a:rPr>
              <a:t>1 de 339 lo logró; frena 86 % en la entrada (291/339)</a:t>
            </a:r>
            <a:endParaRPr sz="1200">
              <a:solidFill>
                <a:srgbClr val="595959"/>
              </a:solidFill>
              <a:latin typeface="Calibri"/>
              <a:ea typeface="Calibri"/>
              <a:cs typeface="Calibri"/>
              <a:sym typeface="Calibri"/>
            </a:endParaRPr>
          </a:p>
        </p:txBody>
      </p:sp>
      <p:sp>
        <p:nvSpPr>
          <p:cNvPr id="557" name="Google Shape;557;p29"/>
          <p:cNvSpPr/>
          <p:nvPr/>
        </p:nvSpPr>
        <p:spPr>
          <a:xfrm>
            <a:off x="8028432" y="1325880"/>
            <a:ext cx="3612000" cy="2103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558" name="Google Shape;558;p29"/>
          <p:cNvSpPr txBox="1"/>
          <p:nvPr/>
        </p:nvSpPr>
        <p:spPr>
          <a:xfrm>
            <a:off x="8165592" y="1417320"/>
            <a:ext cx="3337500" cy="594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800">
                <a:solidFill>
                  <a:srgbClr val="7B1C2E"/>
                </a:solidFill>
                <a:latin typeface="Calibri"/>
                <a:ea typeface="Calibri"/>
                <a:cs typeface="Calibri"/>
                <a:sym typeface="Calibri"/>
              </a:rPr>
              <a:t>0,0 %</a:t>
            </a:r>
            <a:endParaRPr b="1" sz="2800">
              <a:solidFill>
                <a:srgbClr val="7B1C2E"/>
              </a:solidFill>
              <a:latin typeface="Calibri"/>
              <a:ea typeface="Calibri"/>
              <a:cs typeface="Calibri"/>
              <a:sym typeface="Calibri"/>
            </a:endParaRPr>
          </a:p>
        </p:txBody>
      </p:sp>
      <p:sp>
        <p:nvSpPr>
          <p:cNvPr id="559" name="Google Shape;559;p29"/>
          <p:cNvSpPr txBox="1"/>
          <p:nvPr/>
        </p:nvSpPr>
        <p:spPr>
          <a:xfrm>
            <a:off x="8165592" y="2011680"/>
            <a:ext cx="3337500" cy="65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500">
                <a:solidFill>
                  <a:srgbClr val="262626"/>
                </a:solidFill>
                <a:latin typeface="Calibri"/>
                <a:ea typeface="Calibri"/>
                <a:cs typeface="Calibri"/>
                <a:sym typeface="Calibri"/>
              </a:rPr>
              <a:t>Jev + proxy (C6 sin aprobación humana)</a:t>
            </a:r>
            <a:endParaRPr b="1" sz="1500">
              <a:solidFill>
                <a:srgbClr val="262626"/>
              </a:solidFill>
              <a:latin typeface="Calibri"/>
              <a:ea typeface="Calibri"/>
              <a:cs typeface="Calibri"/>
              <a:sym typeface="Calibri"/>
            </a:endParaRPr>
          </a:p>
        </p:txBody>
      </p:sp>
      <p:sp>
        <p:nvSpPr>
          <p:cNvPr id="560" name="Google Shape;560;p29"/>
          <p:cNvSpPr txBox="1"/>
          <p:nvPr/>
        </p:nvSpPr>
        <p:spPr>
          <a:xfrm>
            <a:off x="8165592" y="2679192"/>
            <a:ext cx="3337500" cy="548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200">
                <a:solidFill>
                  <a:srgbClr val="595959"/>
                </a:solidFill>
                <a:latin typeface="Calibri"/>
                <a:ea typeface="Calibri"/>
                <a:cs typeface="Calibri"/>
                <a:sym typeface="Calibri"/>
              </a:rPr>
              <a:t>0 de 339; IC 95 % de 0,0 a 1,1 %</a:t>
            </a:r>
            <a:endParaRPr sz="1200">
              <a:solidFill>
                <a:srgbClr val="595959"/>
              </a:solidFill>
              <a:latin typeface="Calibri"/>
              <a:ea typeface="Calibri"/>
              <a:cs typeface="Calibri"/>
              <a:sym typeface="Calibri"/>
            </a:endParaRPr>
          </a:p>
        </p:txBody>
      </p:sp>
      <p:sp>
        <p:nvSpPr>
          <p:cNvPr id="561" name="Google Shape;561;p29"/>
          <p:cNvSpPr/>
          <p:nvPr/>
        </p:nvSpPr>
        <p:spPr>
          <a:xfrm>
            <a:off x="548640" y="3611880"/>
            <a:ext cx="5486400" cy="2103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562" name="Google Shape;562;p29"/>
          <p:cNvSpPr txBox="1"/>
          <p:nvPr/>
        </p:nvSpPr>
        <p:spPr>
          <a:xfrm>
            <a:off x="713232" y="3703320"/>
            <a:ext cx="5166300" cy="36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500">
                <a:solidFill>
                  <a:srgbClr val="7B1C2E"/>
                </a:solidFill>
                <a:latin typeface="Calibri"/>
                <a:ea typeface="Calibri"/>
                <a:cs typeface="Calibri"/>
                <a:sym typeface="Calibri"/>
              </a:rPr>
              <a:t>Qué se probó</a:t>
            </a:r>
            <a:endParaRPr b="1" sz="1500">
              <a:solidFill>
                <a:srgbClr val="7B1C2E"/>
              </a:solidFill>
              <a:latin typeface="Calibri"/>
              <a:ea typeface="Calibri"/>
              <a:cs typeface="Calibri"/>
              <a:sym typeface="Calibri"/>
            </a:endParaRPr>
          </a:p>
        </p:txBody>
      </p:sp>
      <p:sp>
        <p:nvSpPr>
          <p:cNvPr id="563" name="Google Shape;563;p29"/>
          <p:cNvSpPr txBox="1"/>
          <p:nvPr/>
        </p:nvSpPr>
        <p:spPr>
          <a:xfrm>
            <a:off x="713232" y="4069080"/>
            <a:ext cx="5166300" cy="160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a:solidFill>
                  <a:srgbClr val="262626"/>
                </a:solidFill>
                <a:latin typeface="Calibri"/>
                <a:ea typeface="Calibri"/>
                <a:cs typeface="Calibri"/>
                <a:sym typeface="Calibri"/>
              </a:rPr>
              <a:t>Catálogo público de Garak 0.17.0 (NVIDIA), no escrito por el equipo: 339 ataques </a:t>
            </a:r>
            <a:r>
              <a:rPr lang="en-US">
                <a:solidFill>
                  <a:srgbClr val="262626"/>
                </a:solidFill>
                <a:latin typeface="Calibri"/>
                <a:ea typeface="Calibri"/>
                <a:cs typeface="Calibri"/>
                <a:sym typeface="Calibri"/>
              </a:rPr>
              <a:t>de 8 pruebas (probes)</a:t>
            </a:r>
            <a:r>
              <a:rPr lang="en-US">
                <a:solidFill>
                  <a:srgbClr val="262626"/>
                </a:solidFill>
                <a:latin typeface="Calibri"/>
                <a:ea typeface="Calibri"/>
                <a:cs typeface="Calibri"/>
                <a:sym typeface="Calibri"/>
              </a:rPr>
              <a:t> (DAN, inyección latente, Base64, ROT13 y otras) contra el modelo soporte.</a:t>
            </a:r>
            <a:endParaRPr>
              <a:solidFill>
                <a:srgbClr val="262626"/>
              </a:solidFill>
              <a:latin typeface="Calibri"/>
              <a:ea typeface="Calibri"/>
              <a:cs typeface="Calibri"/>
              <a:sym typeface="Calibri"/>
            </a:endParaRPr>
          </a:p>
        </p:txBody>
      </p:sp>
      <p:sp>
        <p:nvSpPr>
          <p:cNvPr id="564" name="Google Shape;564;p29"/>
          <p:cNvSpPr/>
          <p:nvPr/>
        </p:nvSpPr>
        <p:spPr>
          <a:xfrm>
            <a:off x="6153912" y="3611880"/>
            <a:ext cx="5486400" cy="2103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565" name="Google Shape;565;p29"/>
          <p:cNvSpPr txBox="1"/>
          <p:nvPr/>
        </p:nvSpPr>
        <p:spPr>
          <a:xfrm>
            <a:off x="6318504" y="3703320"/>
            <a:ext cx="5166300" cy="36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500">
                <a:solidFill>
                  <a:srgbClr val="7B1C2E"/>
                </a:solidFill>
                <a:latin typeface="Calibri"/>
                <a:ea typeface="Calibri"/>
                <a:cs typeface="Calibri"/>
                <a:sym typeface="Calibri"/>
              </a:rPr>
              <a:t>El producto es el proxy</a:t>
            </a:r>
            <a:endParaRPr b="1" sz="1500">
              <a:solidFill>
                <a:srgbClr val="7B1C2E"/>
              </a:solidFill>
              <a:latin typeface="Calibri"/>
              <a:ea typeface="Calibri"/>
              <a:cs typeface="Calibri"/>
              <a:sym typeface="Calibri"/>
            </a:endParaRPr>
          </a:p>
        </p:txBody>
      </p:sp>
      <p:sp>
        <p:nvSpPr>
          <p:cNvPr id="566" name="Google Shape;566;p29"/>
          <p:cNvSpPr txBox="1"/>
          <p:nvPr/>
        </p:nvSpPr>
        <p:spPr>
          <a:xfrm>
            <a:off x="6318504" y="4069080"/>
            <a:ext cx="5166300" cy="160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a:solidFill>
                  <a:srgbClr val="262626"/>
                </a:solidFill>
                <a:latin typeface="Calibri"/>
                <a:ea typeface="Calibri"/>
                <a:cs typeface="Calibri"/>
                <a:sym typeface="Calibri"/>
              </a:rPr>
              <a:t>Los cinco mecanismos funcionan igual con Jev, Prompt Guard o Llama Guard: cambiar de clasificador es configuración, no código. Jev solo ya frena la mayoría; con el proxy completo ningún ataque logró su objetivo.</a:t>
            </a:r>
            <a:endParaRPr>
              <a:solidFill>
                <a:srgbClr val="262626"/>
              </a:solidFill>
              <a:latin typeface="Calibri"/>
              <a:ea typeface="Calibri"/>
              <a:cs typeface="Calibri"/>
              <a:sym typeface="Calibri"/>
            </a:endParaRPr>
          </a:p>
        </p:txBody>
      </p:sp>
      <p:sp>
        <p:nvSpPr>
          <p:cNvPr id="567" name="Google Shape;567;p29"/>
          <p:cNvSpPr txBox="1"/>
          <p:nvPr/>
        </p:nvSpPr>
        <p:spPr>
          <a:xfrm>
            <a:off x="548640" y="5852160"/>
            <a:ext cx="11091600" cy="594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100">
                <a:solidFill>
                  <a:srgbClr val="595959"/>
                </a:solidFill>
                <a:latin typeface="Calibri"/>
                <a:ea typeface="Calibri"/>
                <a:cs typeface="Calibri"/>
                <a:sym typeface="Calibri"/>
              </a:rPr>
              <a:t>Una sola corrida y un modelo base de 1B que ya rechaza parte de los ataques. 0 % medido no es protección total: el límite superior del intervalo es 1,1 %. C6 sin aprobación humana: con ella cada bloqueo se encola en vez de rechazarse. Fuente: analisis/garak_jev/ del repositorio.</a:t>
            </a:r>
            <a:endParaRPr sz="1100">
              <a:solidFill>
                <a:srgbClr val="595959"/>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2" name="Shape 572"/>
        <p:cNvGrpSpPr/>
        <p:nvPr/>
      </p:nvGrpSpPr>
      <p:grpSpPr>
        <a:xfrm>
          <a:off x="0" y="0"/>
          <a:ext cx="0" cy="0"/>
          <a:chOff x="0" y="0"/>
          <a:chExt cx="0" cy="0"/>
        </a:xfrm>
      </p:grpSpPr>
      <p:sp>
        <p:nvSpPr>
          <p:cNvPr id="573" name="Google Shape;573;p30"/>
          <p:cNvSpPr txBox="1"/>
          <p:nvPr>
            <p:ph type="title"/>
          </p:nvPr>
        </p:nvSpPr>
        <p:spPr>
          <a:xfrm>
            <a:off x="1371600" y="457200"/>
            <a:ext cx="8869680" cy="64008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4A1020"/>
              </a:buClr>
              <a:buSzPts val="2800"/>
              <a:buFont typeface="Calibri"/>
              <a:buNone/>
            </a:pPr>
            <a:r>
              <a:rPr b="1" lang="en-US" sz="2800">
                <a:solidFill>
                  <a:srgbClr val="4A1020"/>
                </a:solidFill>
              </a:rPr>
              <a:t>Lo que logra IronVeil, en cifras</a:t>
            </a:r>
            <a:endParaRPr/>
          </a:p>
        </p:txBody>
      </p:sp>
      <p:pic>
        <p:nvPicPr>
          <p:cNvPr descr="ironveil_v6.png" id="574" name="Google Shape;574;p30"/>
          <p:cNvPicPr preferRelativeResize="0"/>
          <p:nvPr/>
        </p:nvPicPr>
        <p:blipFill rotWithShape="1">
          <a:blip r:embed="rId3">
            <a:alphaModFix/>
          </a:blip>
          <a:srcRect b="0" l="0" r="0" t="0"/>
          <a:stretch/>
        </p:blipFill>
        <p:spPr>
          <a:xfrm>
            <a:off x="502920" y="274320"/>
            <a:ext cx="822960" cy="822960"/>
          </a:xfrm>
          <a:prstGeom prst="rect">
            <a:avLst/>
          </a:prstGeom>
          <a:noFill/>
          <a:ln>
            <a:noFill/>
          </a:ln>
        </p:spPr>
      </p:pic>
      <p:sp>
        <p:nvSpPr>
          <p:cNvPr id="575" name="Google Shape;575;p30"/>
          <p:cNvSpPr txBox="1"/>
          <p:nvPr/>
        </p:nvSpPr>
        <p:spPr>
          <a:xfrm>
            <a:off x="1371600" y="246888"/>
            <a:ext cx="8229600" cy="27432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1100" u="none" cap="none" strike="noStrike">
                <a:solidFill>
                  <a:srgbClr val="7B1C2E"/>
                </a:solidFill>
                <a:latin typeface="Calibri"/>
                <a:ea typeface="Calibri"/>
                <a:cs typeface="Calibri"/>
                <a:sym typeface="Calibri"/>
              </a:rPr>
              <a:t>08 · IMPACTO</a:t>
            </a:r>
            <a:endParaRPr/>
          </a:p>
        </p:txBody>
      </p:sp>
      <p:cxnSp>
        <p:nvCxnSpPr>
          <p:cNvPr id="576" name="Google Shape;576;p30"/>
          <p:cNvCxnSpPr/>
          <p:nvPr/>
        </p:nvCxnSpPr>
        <p:spPr>
          <a:xfrm>
            <a:off x="548640" y="1188720"/>
            <a:ext cx="11091672" cy="0"/>
          </a:xfrm>
          <a:prstGeom prst="straightConnector1">
            <a:avLst/>
          </a:prstGeom>
          <a:noFill/>
          <a:ln cap="flat" cmpd="sng" w="25400">
            <a:solidFill>
              <a:srgbClr val="7B1C2E"/>
            </a:solidFill>
            <a:prstDash val="solid"/>
            <a:miter lim="8000"/>
            <a:headEnd len="sm" w="sm" type="none"/>
            <a:tailEnd len="sm" w="sm" type="none"/>
          </a:ln>
        </p:spPr>
      </p:cxnSp>
      <p:sp>
        <p:nvSpPr>
          <p:cNvPr id="577" name="Google Shape;577;p30"/>
          <p:cNvSpPr/>
          <p:nvPr/>
        </p:nvSpPr>
        <p:spPr>
          <a:xfrm>
            <a:off x="0" y="6510528"/>
            <a:ext cx="12191695" cy="347472"/>
          </a:xfrm>
          <a:prstGeom prst="rect">
            <a:avLst/>
          </a:prstGeom>
          <a:solidFill>
            <a:srgbClr val="7B1C2E"/>
          </a:solidFill>
          <a:ln>
            <a:noFill/>
          </a:ln>
        </p:spPr>
        <p:txBody>
          <a:bodyPr anchorCtr="0" anchor="ctr" bIns="36575" lIns="91425" spcFirstLastPara="1" rIns="91425" wrap="square" tIns="36575">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ronveil_v6_inv.png" id="578" name="Google Shape;578;p30"/>
          <p:cNvPicPr preferRelativeResize="0"/>
          <p:nvPr/>
        </p:nvPicPr>
        <p:blipFill rotWithShape="1">
          <a:blip r:embed="rId4">
            <a:alphaModFix/>
          </a:blip>
          <a:srcRect b="0" l="0" r="0" t="0"/>
          <a:stretch/>
        </p:blipFill>
        <p:spPr>
          <a:xfrm>
            <a:off x="457200" y="6537960"/>
            <a:ext cx="292608" cy="292608"/>
          </a:xfrm>
          <a:prstGeom prst="rect">
            <a:avLst/>
          </a:prstGeom>
          <a:noFill/>
          <a:ln>
            <a:noFill/>
          </a:ln>
        </p:spPr>
      </p:pic>
      <p:sp>
        <p:nvSpPr>
          <p:cNvPr id="579" name="Google Shape;579;p30"/>
          <p:cNvSpPr txBox="1"/>
          <p:nvPr/>
        </p:nvSpPr>
        <p:spPr>
          <a:xfrm>
            <a:off x="822960" y="6528816"/>
            <a:ext cx="5486400" cy="310896"/>
          </a:xfrm>
          <a:prstGeom prst="rect">
            <a:avLst/>
          </a:prstGeom>
          <a:noFill/>
          <a:ln>
            <a:noFill/>
          </a:ln>
        </p:spPr>
        <p:txBody>
          <a:bodyPr anchorCtr="0" anchor="ctr" bIns="27425" lIns="45700" spcFirstLastPara="1" rIns="45700" wrap="square" tIns="27425">
            <a:noAutofit/>
          </a:bodyPr>
          <a:lstStyle/>
          <a:p>
            <a:pPr indent="0" lvl="0" marL="0" marR="0" rtl="0" algn="l">
              <a:spcBef>
                <a:spcPts val="0"/>
              </a:spcBef>
              <a:spcAft>
                <a:spcPts val="0"/>
              </a:spcAft>
              <a:buNone/>
            </a:pPr>
            <a:r>
              <a:rPr b="1" lang="en-US" sz="1050">
                <a:solidFill>
                  <a:srgbClr val="F2F2F2"/>
                </a:solidFill>
                <a:latin typeface="Calibri"/>
                <a:ea typeface="Calibri"/>
                <a:cs typeface="Calibri"/>
                <a:sym typeface="Calibri"/>
              </a:rPr>
              <a:t>IronVeil · Framework de defensa para LLMs autoalojados</a:t>
            </a:r>
            <a:endParaRPr/>
          </a:p>
        </p:txBody>
      </p:sp>
      <p:sp>
        <p:nvSpPr>
          <p:cNvPr id="580" name="Google Shape;580;p30"/>
          <p:cNvSpPr txBox="1"/>
          <p:nvPr/>
        </p:nvSpPr>
        <p:spPr>
          <a:xfrm>
            <a:off x="6217920" y="6528816"/>
            <a:ext cx="5303520" cy="310896"/>
          </a:xfrm>
          <a:prstGeom prst="rect">
            <a:avLst/>
          </a:prstGeom>
          <a:noFill/>
          <a:ln>
            <a:noFill/>
          </a:ln>
        </p:spPr>
        <p:txBody>
          <a:bodyPr anchorCtr="0" anchor="ctr" bIns="27425" lIns="45700" spcFirstLastPara="1" rIns="45700" wrap="square" tIns="27425">
            <a:spAutoFit/>
          </a:bodyPr>
          <a:lstStyle/>
          <a:p>
            <a:pPr indent="0" lvl="0" marL="0" marR="0" rtl="0" algn="r">
              <a:spcBef>
                <a:spcPts val="0"/>
              </a:spcBef>
              <a:spcAft>
                <a:spcPts val="0"/>
              </a:spcAft>
              <a:buNone/>
            </a:pPr>
            <a:r>
              <a:rPr b="0" i="0" lang="en-US" sz="1050" u="none" cap="none" strike="noStrike">
                <a:solidFill>
                  <a:srgbClr val="D9D9D9"/>
                </a:solidFill>
                <a:latin typeface="Calibri"/>
                <a:ea typeface="Calibri"/>
                <a:cs typeface="Calibri"/>
                <a:sym typeface="Calibri"/>
              </a:rPr>
              <a:t>Escuela Colombiana de Ingeniería Julio Garavito · 2026</a:t>
            </a:r>
            <a:endParaRPr/>
          </a:p>
        </p:txBody>
      </p:sp>
      <p:sp>
        <p:nvSpPr>
          <p:cNvPr id="581" name="Google Shape;581;p30"/>
          <p:cNvSpPr txBox="1"/>
          <p:nvPr/>
        </p:nvSpPr>
        <p:spPr>
          <a:xfrm>
            <a:off x="11475720" y="6528816"/>
            <a:ext cx="548640" cy="310896"/>
          </a:xfrm>
          <a:prstGeom prst="rect">
            <a:avLst/>
          </a:prstGeom>
          <a:noFill/>
          <a:ln>
            <a:noFill/>
          </a:ln>
        </p:spPr>
        <p:txBody>
          <a:bodyPr anchorCtr="0" anchor="ctr" bIns="27425" lIns="45700" spcFirstLastPara="1" rIns="45700" wrap="square" tIns="27425">
            <a:noAutofit/>
          </a:bodyPr>
          <a:lstStyle/>
          <a:p>
            <a:pPr indent="0" lvl="0" marL="0" marR="0" rtl="0" algn="r">
              <a:spcBef>
                <a:spcPts val="0"/>
              </a:spcBef>
              <a:spcAft>
                <a:spcPts val="0"/>
              </a:spcAft>
              <a:buNone/>
            </a:pPr>
            <a:r>
              <a:rPr b="1" lang="en-US" sz="1100">
                <a:solidFill>
                  <a:srgbClr val="FFFFFF"/>
                </a:solidFill>
                <a:latin typeface="Calibri"/>
                <a:ea typeface="Calibri"/>
                <a:cs typeface="Calibri"/>
                <a:sym typeface="Calibri"/>
              </a:rPr>
              <a:t>16</a:t>
            </a:r>
            <a:endParaRPr b="1" sz="1100">
              <a:solidFill>
                <a:srgbClr val="FFFFFF"/>
              </a:solidFill>
              <a:latin typeface="Calibri"/>
              <a:ea typeface="Calibri"/>
              <a:cs typeface="Calibri"/>
              <a:sym typeface="Calibri"/>
            </a:endParaRPr>
          </a:p>
        </p:txBody>
      </p:sp>
      <p:sp>
        <p:nvSpPr>
          <p:cNvPr id="582" name="Google Shape;582;p30"/>
          <p:cNvSpPr/>
          <p:nvPr/>
        </p:nvSpPr>
        <p:spPr>
          <a:xfrm>
            <a:off x="548640" y="1371600"/>
            <a:ext cx="2697480" cy="2377440"/>
          </a:xfrm>
          <a:prstGeom prst="roundRect">
            <a:avLst>
              <a:gd fmla="val 6000" name="adj"/>
            </a:avLst>
          </a:prstGeom>
          <a:solidFill>
            <a:srgbClr val="F2F2F2"/>
          </a:solidFill>
          <a:ln>
            <a:noFill/>
          </a:ln>
        </p:spPr>
        <p:txBody>
          <a:bodyPr anchorCtr="0" anchor="ctr" bIns="36575" lIns="91425" spcFirstLastPara="1" rIns="91425" wrap="square" tIns="36575">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83" name="Google Shape;583;p30"/>
          <p:cNvSpPr/>
          <p:nvPr/>
        </p:nvSpPr>
        <p:spPr>
          <a:xfrm>
            <a:off x="548640" y="1371600"/>
            <a:ext cx="2697480" cy="91440"/>
          </a:xfrm>
          <a:prstGeom prst="rect">
            <a:avLst/>
          </a:prstGeom>
          <a:solidFill>
            <a:srgbClr val="7B1C2E"/>
          </a:solidFill>
          <a:ln>
            <a:noFill/>
          </a:ln>
        </p:spPr>
        <p:txBody>
          <a:bodyPr anchorCtr="0" anchor="ctr" bIns="36575" lIns="91425" spcFirstLastPara="1" rIns="91425" wrap="square" tIns="36575">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84" name="Google Shape;584;p30"/>
          <p:cNvSpPr txBox="1"/>
          <p:nvPr/>
        </p:nvSpPr>
        <p:spPr>
          <a:xfrm>
            <a:off x="640080" y="1554480"/>
            <a:ext cx="2514600" cy="822960"/>
          </a:xfrm>
          <a:prstGeom prst="rect">
            <a:avLst/>
          </a:prstGeom>
          <a:noFill/>
          <a:ln>
            <a:noFill/>
          </a:ln>
        </p:spPr>
        <p:txBody>
          <a:bodyPr anchorCtr="0" anchor="ctr" bIns="27425" lIns="45700" spcFirstLastPara="1" rIns="45700" wrap="square" tIns="27425">
            <a:spAutoFit/>
          </a:bodyPr>
          <a:lstStyle/>
          <a:p>
            <a:pPr indent="0" lvl="0" marL="0" marR="0" rtl="0" algn="ctr">
              <a:spcBef>
                <a:spcPts val="0"/>
              </a:spcBef>
              <a:spcAft>
                <a:spcPts val="0"/>
              </a:spcAft>
              <a:buNone/>
            </a:pPr>
            <a:r>
              <a:rPr b="1" i="0" lang="en-US" sz="2500" u="none" cap="none" strike="noStrike">
                <a:solidFill>
                  <a:srgbClr val="7B1C2E"/>
                </a:solidFill>
                <a:latin typeface="Calibri"/>
                <a:ea typeface="Calibri"/>
                <a:cs typeface="Calibri"/>
                <a:sym typeface="Calibri"/>
              </a:rPr>
              <a:t>31,2 → 15,0 %</a:t>
            </a:r>
            <a:endParaRPr/>
          </a:p>
        </p:txBody>
      </p:sp>
      <p:sp>
        <p:nvSpPr>
          <p:cNvPr id="585" name="Google Shape;585;p30"/>
          <p:cNvSpPr txBox="1"/>
          <p:nvPr/>
        </p:nvSpPr>
        <p:spPr>
          <a:xfrm>
            <a:off x="640080" y="2423160"/>
            <a:ext cx="2514600" cy="640080"/>
          </a:xfrm>
          <a:prstGeom prst="rect">
            <a:avLst/>
          </a:prstGeom>
          <a:noFill/>
          <a:ln>
            <a:noFill/>
          </a:ln>
        </p:spPr>
        <p:txBody>
          <a:bodyPr anchorCtr="0" anchor="t" bIns="27425" lIns="45700" spcFirstLastPara="1" rIns="45700" wrap="square" tIns="27425">
            <a:spAutoFit/>
          </a:bodyPr>
          <a:lstStyle/>
          <a:p>
            <a:pPr indent="0" lvl="0" marL="0" marR="0" rtl="0" algn="ctr">
              <a:spcBef>
                <a:spcPts val="0"/>
              </a:spcBef>
              <a:spcAft>
                <a:spcPts val="0"/>
              </a:spcAft>
              <a:buNone/>
            </a:pPr>
            <a:r>
              <a:rPr b="1" i="0" lang="en-US" sz="1450" u="none" cap="none" strike="noStrike">
                <a:solidFill>
                  <a:srgbClr val="262626"/>
                </a:solidFill>
                <a:latin typeface="Calibri"/>
                <a:ea typeface="Calibri"/>
                <a:cs typeface="Calibri"/>
                <a:sym typeface="Calibri"/>
              </a:rPr>
              <a:t>ASR promedio V1–V4</a:t>
            </a:r>
            <a:endParaRPr/>
          </a:p>
        </p:txBody>
      </p:sp>
      <p:sp>
        <p:nvSpPr>
          <p:cNvPr id="586" name="Google Shape;586;p30"/>
          <p:cNvSpPr txBox="1"/>
          <p:nvPr/>
        </p:nvSpPr>
        <p:spPr>
          <a:xfrm>
            <a:off x="640080" y="3108960"/>
            <a:ext cx="2514600" cy="548640"/>
          </a:xfrm>
          <a:prstGeom prst="rect">
            <a:avLst/>
          </a:prstGeom>
          <a:noFill/>
          <a:ln>
            <a:noFill/>
          </a:ln>
        </p:spPr>
        <p:txBody>
          <a:bodyPr anchorCtr="0" anchor="t" bIns="27425" lIns="45700" spcFirstLastPara="1" rIns="45700" wrap="square" tIns="27425">
            <a:spAutoFit/>
          </a:bodyPr>
          <a:lstStyle/>
          <a:p>
            <a:pPr indent="0" lvl="0" marL="0" marR="0" rtl="0" algn="ctr">
              <a:spcBef>
                <a:spcPts val="0"/>
              </a:spcBef>
              <a:spcAft>
                <a:spcPts val="0"/>
              </a:spcAft>
              <a:buNone/>
            </a:pPr>
            <a:r>
              <a:rPr b="0" i="1" lang="en-US" sz="1150" u="none" cap="none" strike="noStrike">
                <a:solidFill>
                  <a:srgbClr val="595959"/>
                </a:solidFill>
                <a:latin typeface="Calibri"/>
                <a:ea typeface="Calibri"/>
                <a:cs typeface="Calibri"/>
                <a:sym typeface="Calibri"/>
              </a:rPr>
              <a:t>C0 contra C1 y C6</a:t>
            </a:r>
            <a:endParaRPr/>
          </a:p>
        </p:txBody>
      </p:sp>
      <p:sp>
        <p:nvSpPr>
          <p:cNvPr id="587" name="Google Shape;587;p30"/>
          <p:cNvSpPr/>
          <p:nvPr/>
        </p:nvSpPr>
        <p:spPr>
          <a:xfrm>
            <a:off x="3346704" y="1371600"/>
            <a:ext cx="2697480" cy="2377440"/>
          </a:xfrm>
          <a:prstGeom prst="roundRect">
            <a:avLst>
              <a:gd fmla="val 6000" name="adj"/>
            </a:avLst>
          </a:prstGeom>
          <a:solidFill>
            <a:srgbClr val="F2F2F2"/>
          </a:solidFill>
          <a:ln>
            <a:noFill/>
          </a:ln>
        </p:spPr>
        <p:txBody>
          <a:bodyPr anchorCtr="0" anchor="ctr" bIns="36575" lIns="91425" spcFirstLastPara="1" rIns="91425" wrap="square" tIns="36575">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88" name="Google Shape;588;p30"/>
          <p:cNvSpPr/>
          <p:nvPr/>
        </p:nvSpPr>
        <p:spPr>
          <a:xfrm>
            <a:off x="3346704" y="1371600"/>
            <a:ext cx="2697480" cy="91440"/>
          </a:xfrm>
          <a:prstGeom prst="rect">
            <a:avLst/>
          </a:prstGeom>
          <a:solidFill>
            <a:srgbClr val="7B1C2E"/>
          </a:solidFill>
          <a:ln>
            <a:noFill/>
          </a:ln>
        </p:spPr>
        <p:txBody>
          <a:bodyPr anchorCtr="0" anchor="ctr" bIns="36575" lIns="91425" spcFirstLastPara="1" rIns="91425" wrap="square" tIns="36575">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89" name="Google Shape;589;p30"/>
          <p:cNvSpPr txBox="1"/>
          <p:nvPr/>
        </p:nvSpPr>
        <p:spPr>
          <a:xfrm>
            <a:off x="3438144" y="1554480"/>
            <a:ext cx="2514600" cy="822960"/>
          </a:xfrm>
          <a:prstGeom prst="rect">
            <a:avLst/>
          </a:prstGeom>
          <a:noFill/>
          <a:ln>
            <a:noFill/>
          </a:ln>
        </p:spPr>
        <p:txBody>
          <a:bodyPr anchorCtr="0" anchor="ctr" bIns="27425" lIns="45700" spcFirstLastPara="1" rIns="45700" wrap="square" tIns="27425">
            <a:spAutoFit/>
          </a:bodyPr>
          <a:lstStyle/>
          <a:p>
            <a:pPr indent="0" lvl="0" marL="0" marR="0" rtl="0" algn="ctr">
              <a:spcBef>
                <a:spcPts val="0"/>
              </a:spcBef>
              <a:spcAft>
                <a:spcPts val="0"/>
              </a:spcAft>
              <a:buNone/>
            </a:pPr>
            <a:r>
              <a:rPr b="1" i="0" lang="en-US" sz="2500" u="none" cap="none" strike="noStrike">
                <a:solidFill>
                  <a:srgbClr val="7B1C2E"/>
                </a:solidFill>
                <a:latin typeface="Calibri"/>
                <a:ea typeface="Calibri"/>
                <a:cs typeface="Calibri"/>
                <a:sym typeface="Calibri"/>
              </a:rPr>
              <a:t>12/39 → 0/39</a:t>
            </a:r>
            <a:endParaRPr/>
          </a:p>
        </p:txBody>
      </p:sp>
      <p:sp>
        <p:nvSpPr>
          <p:cNvPr id="590" name="Google Shape;590;p30"/>
          <p:cNvSpPr txBox="1"/>
          <p:nvPr/>
        </p:nvSpPr>
        <p:spPr>
          <a:xfrm>
            <a:off x="3438144" y="2423160"/>
            <a:ext cx="2514600" cy="640080"/>
          </a:xfrm>
          <a:prstGeom prst="rect">
            <a:avLst/>
          </a:prstGeom>
          <a:noFill/>
          <a:ln>
            <a:noFill/>
          </a:ln>
        </p:spPr>
        <p:txBody>
          <a:bodyPr anchorCtr="0" anchor="t" bIns="27425" lIns="45700" spcFirstLastPara="1" rIns="45700" wrap="square" tIns="27425">
            <a:spAutoFit/>
          </a:bodyPr>
          <a:lstStyle/>
          <a:p>
            <a:pPr indent="0" lvl="0" marL="0" marR="0" rtl="0" algn="ctr">
              <a:spcBef>
                <a:spcPts val="0"/>
              </a:spcBef>
              <a:spcAft>
                <a:spcPts val="0"/>
              </a:spcAft>
              <a:buNone/>
            </a:pPr>
            <a:r>
              <a:rPr b="1" i="0" lang="en-US" sz="1450" u="none" cap="none" strike="noStrike">
                <a:solidFill>
                  <a:srgbClr val="262626"/>
                </a:solidFill>
                <a:latin typeface="Calibri"/>
                <a:ea typeface="Calibri"/>
                <a:cs typeface="Calibri"/>
                <a:sym typeface="Calibri"/>
              </a:rPr>
              <a:t>Ataque V4 completo</a:t>
            </a:r>
            <a:endParaRPr/>
          </a:p>
        </p:txBody>
      </p:sp>
      <p:sp>
        <p:nvSpPr>
          <p:cNvPr id="591" name="Google Shape;591;p30"/>
          <p:cNvSpPr txBox="1"/>
          <p:nvPr/>
        </p:nvSpPr>
        <p:spPr>
          <a:xfrm>
            <a:off x="3438144" y="3108960"/>
            <a:ext cx="2514600" cy="548640"/>
          </a:xfrm>
          <a:prstGeom prst="rect">
            <a:avLst/>
          </a:prstGeom>
          <a:noFill/>
          <a:ln>
            <a:noFill/>
          </a:ln>
        </p:spPr>
        <p:txBody>
          <a:bodyPr anchorCtr="0" anchor="t" bIns="27425" lIns="45700" spcFirstLastPara="1" rIns="45700" wrap="square" tIns="27425">
            <a:spAutoFit/>
          </a:bodyPr>
          <a:lstStyle/>
          <a:p>
            <a:pPr indent="0" lvl="0" marL="0" marR="0" rtl="0" algn="ctr">
              <a:spcBef>
                <a:spcPts val="0"/>
              </a:spcBef>
              <a:spcAft>
                <a:spcPts val="0"/>
              </a:spcAft>
              <a:buNone/>
            </a:pPr>
            <a:r>
              <a:rPr b="0" i="1" lang="en-US" sz="1150" u="none" cap="none" strike="noStrike">
                <a:solidFill>
                  <a:srgbClr val="595959"/>
                </a:solidFill>
                <a:latin typeface="Calibri"/>
                <a:ea typeface="Calibri"/>
                <a:cs typeface="Calibri"/>
                <a:sym typeface="Calibri"/>
              </a:rPr>
              <a:t>Mínimo privilegio, p = 0,0002</a:t>
            </a:r>
            <a:endParaRPr/>
          </a:p>
        </p:txBody>
      </p:sp>
      <p:sp>
        <p:nvSpPr>
          <p:cNvPr id="592" name="Google Shape;592;p30"/>
          <p:cNvSpPr/>
          <p:nvPr/>
        </p:nvSpPr>
        <p:spPr>
          <a:xfrm>
            <a:off x="6144768" y="1371600"/>
            <a:ext cx="2697480" cy="2377440"/>
          </a:xfrm>
          <a:prstGeom prst="roundRect">
            <a:avLst>
              <a:gd fmla="val 6000" name="adj"/>
            </a:avLst>
          </a:prstGeom>
          <a:solidFill>
            <a:srgbClr val="F2F2F2"/>
          </a:solidFill>
          <a:ln>
            <a:noFill/>
          </a:ln>
        </p:spPr>
        <p:txBody>
          <a:bodyPr anchorCtr="0" anchor="ctr" bIns="36575" lIns="91425" spcFirstLastPara="1" rIns="91425" wrap="square" tIns="36575">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93" name="Google Shape;593;p30"/>
          <p:cNvSpPr/>
          <p:nvPr/>
        </p:nvSpPr>
        <p:spPr>
          <a:xfrm>
            <a:off x="6144768" y="1371600"/>
            <a:ext cx="2697480" cy="91440"/>
          </a:xfrm>
          <a:prstGeom prst="rect">
            <a:avLst/>
          </a:prstGeom>
          <a:solidFill>
            <a:srgbClr val="7B1C2E"/>
          </a:solidFill>
          <a:ln>
            <a:noFill/>
          </a:ln>
        </p:spPr>
        <p:txBody>
          <a:bodyPr anchorCtr="0" anchor="ctr" bIns="36575" lIns="91425" spcFirstLastPara="1" rIns="91425" wrap="square" tIns="36575">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94" name="Google Shape;594;p30"/>
          <p:cNvSpPr txBox="1"/>
          <p:nvPr/>
        </p:nvSpPr>
        <p:spPr>
          <a:xfrm>
            <a:off x="6236207" y="1554480"/>
            <a:ext cx="2514600" cy="822960"/>
          </a:xfrm>
          <a:prstGeom prst="rect">
            <a:avLst/>
          </a:prstGeom>
          <a:noFill/>
          <a:ln>
            <a:noFill/>
          </a:ln>
        </p:spPr>
        <p:txBody>
          <a:bodyPr anchorCtr="0" anchor="ctr" bIns="27425" lIns="45700" spcFirstLastPara="1" rIns="45700" wrap="square" tIns="27425">
            <a:spAutoFit/>
          </a:bodyPr>
          <a:lstStyle/>
          <a:p>
            <a:pPr indent="0" lvl="0" marL="0" marR="0" rtl="0" algn="ctr">
              <a:spcBef>
                <a:spcPts val="0"/>
              </a:spcBef>
              <a:spcAft>
                <a:spcPts val="0"/>
              </a:spcAft>
              <a:buNone/>
            </a:pPr>
            <a:r>
              <a:rPr b="1" i="0" lang="en-US" sz="2500" u="none" cap="none" strike="noStrike">
                <a:solidFill>
                  <a:srgbClr val="7B1C2E"/>
                </a:solidFill>
                <a:latin typeface="Calibri"/>
                <a:ea typeface="Calibri"/>
                <a:cs typeface="Calibri"/>
                <a:sym typeface="Calibri"/>
              </a:rPr>
              <a:t>74,7 → 0,2 %</a:t>
            </a:r>
            <a:endParaRPr/>
          </a:p>
        </p:txBody>
      </p:sp>
      <p:sp>
        <p:nvSpPr>
          <p:cNvPr id="595" name="Google Shape;595;p30"/>
          <p:cNvSpPr txBox="1"/>
          <p:nvPr/>
        </p:nvSpPr>
        <p:spPr>
          <a:xfrm>
            <a:off x="6236207" y="2423160"/>
            <a:ext cx="2514600" cy="640080"/>
          </a:xfrm>
          <a:prstGeom prst="rect">
            <a:avLst/>
          </a:prstGeom>
          <a:noFill/>
          <a:ln>
            <a:noFill/>
          </a:ln>
        </p:spPr>
        <p:txBody>
          <a:bodyPr anchorCtr="0" anchor="t" bIns="27425" lIns="45700" spcFirstLastPara="1" rIns="45700" wrap="square" tIns="27425">
            <a:spAutoFit/>
          </a:bodyPr>
          <a:lstStyle/>
          <a:p>
            <a:pPr indent="0" lvl="0" marL="0" marR="0" rtl="0" algn="ctr">
              <a:spcBef>
                <a:spcPts val="0"/>
              </a:spcBef>
              <a:spcAft>
                <a:spcPts val="0"/>
              </a:spcAft>
              <a:buNone/>
            </a:pPr>
            <a:r>
              <a:rPr b="1" i="0" lang="en-US" sz="1450" u="none" cap="none" strike="noStrike">
                <a:solidFill>
                  <a:srgbClr val="262626"/>
                </a:solidFill>
                <a:latin typeface="Calibri"/>
                <a:ea typeface="Calibri"/>
                <a:cs typeface="Calibri"/>
                <a:sym typeface="Calibri"/>
              </a:rPr>
              <a:t>ASR del agotamiento (V5)</a:t>
            </a:r>
            <a:endParaRPr/>
          </a:p>
        </p:txBody>
      </p:sp>
      <p:sp>
        <p:nvSpPr>
          <p:cNvPr id="596" name="Google Shape;596;p30"/>
          <p:cNvSpPr txBox="1"/>
          <p:nvPr/>
        </p:nvSpPr>
        <p:spPr>
          <a:xfrm>
            <a:off x="6236207" y="3108960"/>
            <a:ext cx="2514600" cy="548640"/>
          </a:xfrm>
          <a:prstGeom prst="rect">
            <a:avLst/>
          </a:prstGeom>
          <a:noFill/>
          <a:ln>
            <a:noFill/>
          </a:ln>
        </p:spPr>
        <p:txBody>
          <a:bodyPr anchorCtr="0" anchor="t" bIns="27425" lIns="45700" spcFirstLastPara="1" rIns="45700" wrap="square" tIns="27425">
            <a:spAutoFit/>
          </a:bodyPr>
          <a:lstStyle/>
          <a:p>
            <a:pPr indent="0" lvl="0" marL="0" marR="0" rtl="0" algn="ctr">
              <a:spcBef>
                <a:spcPts val="0"/>
              </a:spcBef>
              <a:spcAft>
                <a:spcPts val="0"/>
              </a:spcAft>
              <a:buNone/>
            </a:pPr>
            <a:r>
              <a:rPr b="0" i="1" lang="en-US" sz="1150" u="none" cap="none" strike="noStrike">
                <a:solidFill>
                  <a:srgbClr val="595959"/>
                </a:solidFill>
                <a:latin typeface="Calibri"/>
                <a:ea typeface="Calibri"/>
                <a:cs typeface="Calibri"/>
                <a:sym typeface="Calibri"/>
              </a:rPr>
              <a:t>Límite de peticiones (datos previos)</a:t>
            </a:r>
            <a:endParaRPr/>
          </a:p>
        </p:txBody>
      </p:sp>
      <p:sp>
        <p:nvSpPr>
          <p:cNvPr id="597" name="Google Shape;597;p30"/>
          <p:cNvSpPr/>
          <p:nvPr/>
        </p:nvSpPr>
        <p:spPr>
          <a:xfrm>
            <a:off x="8942832" y="1371600"/>
            <a:ext cx="2697480" cy="2377440"/>
          </a:xfrm>
          <a:prstGeom prst="roundRect">
            <a:avLst>
              <a:gd fmla="val 6000" name="adj"/>
            </a:avLst>
          </a:prstGeom>
          <a:solidFill>
            <a:srgbClr val="F2F2F2"/>
          </a:solidFill>
          <a:ln>
            <a:noFill/>
          </a:ln>
        </p:spPr>
        <p:txBody>
          <a:bodyPr anchorCtr="0" anchor="ctr" bIns="36575" lIns="91425" spcFirstLastPara="1" rIns="91425" wrap="square" tIns="36575">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98" name="Google Shape;598;p30"/>
          <p:cNvSpPr/>
          <p:nvPr/>
        </p:nvSpPr>
        <p:spPr>
          <a:xfrm>
            <a:off x="8942832" y="1371600"/>
            <a:ext cx="2697480" cy="91440"/>
          </a:xfrm>
          <a:prstGeom prst="rect">
            <a:avLst/>
          </a:prstGeom>
          <a:solidFill>
            <a:srgbClr val="7B1C2E"/>
          </a:solidFill>
          <a:ln>
            <a:noFill/>
          </a:ln>
        </p:spPr>
        <p:txBody>
          <a:bodyPr anchorCtr="0" anchor="ctr" bIns="36575" lIns="91425" spcFirstLastPara="1" rIns="91425" wrap="square" tIns="36575">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99" name="Google Shape;599;p30"/>
          <p:cNvSpPr txBox="1"/>
          <p:nvPr/>
        </p:nvSpPr>
        <p:spPr>
          <a:xfrm>
            <a:off x="9034272" y="1554480"/>
            <a:ext cx="2514600" cy="822960"/>
          </a:xfrm>
          <a:prstGeom prst="rect">
            <a:avLst/>
          </a:prstGeom>
          <a:noFill/>
          <a:ln>
            <a:noFill/>
          </a:ln>
        </p:spPr>
        <p:txBody>
          <a:bodyPr anchorCtr="0" anchor="ctr" bIns="27425" lIns="45700" spcFirstLastPara="1" rIns="45700" wrap="square" tIns="27425">
            <a:spAutoFit/>
          </a:bodyPr>
          <a:lstStyle/>
          <a:p>
            <a:pPr indent="0" lvl="0" marL="0" marR="0" rtl="0" algn="ctr">
              <a:spcBef>
                <a:spcPts val="0"/>
              </a:spcBef>
              <a:spcAft>
                <a:spcPts val="0"/>
              </a:spcAft>
              <a:buNone/>
            </a:pPr>
            <a:r>
              <a:rPr b="1" i="0" lang="en-US" sz="2500" u="none" cap="none" strike="noStrike">
                <a:solidFill>
                  <a:srgbClr val="7B1C2E"/>
                </a:solidFill>
                <a:latin typeface="Calibri"/>
                <a:ea typeface="Calibri"/>
                <a:cs typeface="Calibri"/>
                <a:sym typeface="Calibri"/>
              </a:rPr>
              <a:t>&lt; 1 ms</a:t>
            </a:r>
            <a:endParaRPr/>
          </a:p>
        </p:txBody>
      </p:sp>
      <p:sp>
        <p:nvSpPr>
          <p:cNvPr id="600" name="Google Shape;600;p30"/>
          <p:cNvSpPr txBox="1"/>
          <p:nvPr/>
        </p:nvSpPr>
        <p:spPr>
          <a:xfrm>
            <a:off x="9034272" y="2423160"/>
            <a:ext cx="2514600" cy="640080"/>
          </a:xfrm>
          <a:prstGeom prst="rect">
            <a:avLst/>
          </a:prstGeom>
          <a:noFill/>
          <a:ln>
            <a:noFill/>
          </a:ln>
        </p:spPr>
        <p:txBody>
          <a:bodyPr anchorCtr="0" anchor="t" bIns="27425" lIns="45700" spcFirstLastPara="1" rIns="45700" wrap="square" tIns="27425">
            <a:spAutoFit/>
          </a:bodyPr>
          <a:lstStyle/>
          <a:p>
            <a:pPr indent="0" lvl="0" marL="0" marR="0" rtl="0" algn="ctr">
              <a:spcBef>
                <a:spcPts val="0"/>
              </a:spcBef>
              <a:spcAft>
                <a:spcPts val="0"/>
              </a:spcAft>
              <a:buNone/>
            </a:pPr>
            <a:r>
              <a:rPr b="1" i="0" lang="en-US" sz="1450" u="none" cap="none" strike="noStrike">
                <a:solidFill>
                  <a:srgbClr val="262626"/>
                </a:solidFill>
                <a:latin typeface="Calibri"/>
                <a:ea typeface="Calibri"/>
                <a:cs typeface="Calibri"/>
                <a:sym typeface="Calibri"/>
              </a:rPr>
              <a:t>Sobrecosto de las piezas deterministas</a:t>
            </a:r>
            <a:endParaRPr/>
          </a:p>
        </p:txBody>
      </p:sp>
      <p:sp>
        <p:nvSpPr>
          <p:cNvPr id="601" name="Google Shape;601;p30"/>
          <p:cNvSpPr txBox="1"/>
          <p:nvPr/>
        </p:nvSpPr>
        <p:spPr>
          <a:xfrm>
            <a:off x="9034272" y="3108960"/>
            <a:ext cx="2514600" cy="548640"/>
          </a:xfrm>
          <a:prstGeom prst="rect">
            <a:avLst/>
          </a:prstGeom>
          <a:noFill/>
          <a:ln>
            <a:noFill/>
          </a:ln>
        </p:spPr>
        <p:txBody>
          <a:bodyPr anchorCtr="0" anchor="t" bIns="27425" lIns="45700" spcFirstLastPara="1" rIns="45700" wrap="square" tIns="27425">
            <a:spAutoFit/>
          </a:bodyPr>
          <a:lstStyle/>
          <a:p>
            <a:pPr indent="0" lvl="0" marL="0" marR="0" rtl="0" algn="ctr">
              <a:spcBef>
                <a:spcPts val="0"/>
              </a:spcBef>
              <a:spcAft>
                <a:spcPts val="0"/>
              </a:spcAft>
              <a:buNone/>
            </a:pPr>
            <a:r>
              <a:rPr b="0" i="1" lang="en-US" sz="1150" u="none" cap="none" strike="noStrike">
                <a:solidFill>
                  <a:srgbClr val="595959"/>
                </a:solidFill>
                <a:latin typeface="Calibri"/>
                <a:ea typeface="Calibri"/>
                <a:cs typeface="Calibri"/>
                <a:sym typeface="Calibri"/>
              </a:rPr>
              <a:t>C1, C2, C4 y C5</a:t>
            </a:r>
            <a:endParaRPr/>
          </a:p>
        </p:txBody>
      </p:sp>
      <p:sp>
        <p:nvSpPr>
          <p:cNvPr id="602" name="Google Shape;602;p30"/>
          <p:cNvSpPr txBox="1"/>
          <p:nvPr/>
        </p:nvSpPr>
        <p:spPr>
          <a:xfrm>
            <a:off x="548640" y="3931920"/>
            <a:ext cx="10972800" cy="32004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1300" u="none" cap="none" strike="noStrike">
                <a:solidFill>
                  <a:srgbClr val="7B1C2E"/>
                </a:solidFill>
                <a:latin typeface="Calibri"/>
                <a:ea typeface="Calibri"/>
                <a:cs typeface="Calibri"/>
                <a:sym typeface="Calibri"/>
              </a:rPr>
              <a:t>COMBINACIÓN RECOMENDADA</a:t>
            </a:r>
            <a:endParaRPr/>
          </a:p>
        </p:txBody>
      </p:sp>
      <p:sp>
        <p:nvSpPr>
          <p:cNvPr id="603" name="Google Shape;603;p30"/>
          <p:cNvSpPr/>
          <p:nvPr/>
        </p:nvSpPr>
        <p:spPr>
          <a:xfrm>
            <a:off x="548640" y="4297680"/>
            <a:ext cx="2286000" cy="914400"/>
          </a:xfrm>
          <a:prstGeom prst="roundRect">
            <a:avLst>
              <a:gd fmla="val 6000" name="adj"/>
            </a:avLst>
          </a:prstGeom>
          <a:solidFill>
            <a:srgbClr val="F2F2F2"/>
          </a:solidFill>
          <a:ln cap="flat" cmpd="sng" w="12700">
            <a:solidFill>
              <a:srgbClr val="F2F2F2"/>
            </a:solidFill>
            <a:prstDash val="solid"/>
            <a:miter lim="8000"/>
            <a:headEnd len="sm" w="sm" type="none"/>
            <a:tailEnd len="sm" w="sm" type="none"/>
          </a:ln>
        </p:spPr>
        <p:txBody>
          <a:bodyPr anchorCtr="0" anchor="ctr" bIns="36575" lIns="91425" spcFirstLastPara="1" rIns="91425" wrap="square" tIns="36575">
            <a:noAutofit/>
          </a:bodyPr>
          <a:lstStyle/>
          <a:p>
            <a:pPr indent="0" lvl="0" marL="0" marR="0" rtl="0" algn="ctr">
              <a:spcBef>
                <a:spcPts val="0"/>
              </a:spcBef>
              <a:spcAft>
                <a:spcPts val="0"/>
              </a:spcAft>
              <a:buNone/>
            </a:pPr>
            <a:r>
              <a:rPr b="1" i="0" lang="en-US" sz="1500" u="none" cap="none" strike="noStrike">
                <a:solidFill>
                  <a:srgbClr val="4A1020"/>
                </a:solidFill>
                <a:latin typeface="Calibri"/>
                <a:ea typeface="Calibri"/>
                <a:cs typeface="Calibri"/>
                <a:sym typeface="Calibri"/>
              </a:rPr>
              <a:t>1  Filtrado</a:t>
            </a:r>
            <a:endParaRPr/>
          </a:p>
          <a:p>
            <a:pPr indent="0" lvl="0" marL="0" marR="0" rtl="0" algn="ctr">
              <a:spcBef>
                <a:spcPts val="0"/>
              </a:spcBef>
              <a:spcAft>
                <a:spcPts val="0"/>
              </a:spcAft>
              <a:buNone/>
            </a:pPr>
            <a:r>
              <a:rPr b="0" i="0" lang="en-US" sz="1150" u="none" cap="none" strike="noStrike">
                <a:solidFill>
                  <a:srgbClr val="4A1020"/>
                </a:solidFill>
                <a:latin typeface="Calibri"/>
                <a:ea typeface="Calibri"/>
                <a:cs typeface="Calibri"/>
                <a:sym typeface="Calibri"/>
              </a:rPr>
              <a:t>0,40 ms de sobrecosto</a:t>
            </a:r>
            <a:endParaRPr/>
          </a:p>
        </p:txBody>
      </p:sp>
      <p:sp>
        <p:nvSpPr>
          <p:cNvPr id="604" name="Google Shape;604;p30"/>
          <p:cNvSpPr txBox="1"/>
          <p:nvPr/>
        </p:nvSpPr>
        <p:spPr>
          <a:xfrm>
            <a:off x="2816352" y="4480560"/>
            <a:ext cx="182880" cy="548640"/>
          </a:xfrm>
          <a:prstGeom prst="rect">
            <a:avLst/>
          </a:prstGeom>
          <a:noFill/>
          <a:ln>
            <a:noFill/>
          </a:ln>
        </p:spPr>
        <p:txBody>
          <a:bodyPr anchorCtr="0" anchor="t" bIns="27425" lIns="45700" spcFirstLastPara="1" rIns="45700" wrap="square" tIns="27425">
            <a:spAutoFit/>
          </a:bodyPr>
          <a:lstStyle/>
          <a:p>
            <a:pPr indent="0" lvl="0" marL="0" marR="0" rtl="0" algn="ctr">
              <a:spcBef>
                <a:spcPts val="0"/>
              </a:spcBef>
              <a:spcAft>
                <a:spcPts val="0"/>
              </a:spcAft>
              <a:buNone/>
            </a:pPr>
            <a:r>
              <a:rPr b="1" i="0" lang="en-US" sz="2000" u="none" cap="none" strike="noStrike">
                <a:solidFill>
                  <a:srgbClr val="7B1C2E"/>
                </a:solidFill>
                <a:latin typeface="Calibri"/>
                <a:ea typeface="Calibri"/>
                <a:cs typeface="Calibri"/>
                <a:sym typeface="Calibri"/>
              </a:rPr>
              <a:t>+</a:t>
            </a:r>
            <a:endParaRPr/>
          </a:p>
        </p:txBody>
      </p:sp>
      <p:sp>
        <p:nvSpPr>
          <p:cNvPr id="605" name="Google Shape;605;p30"/>
          <p:cNvSpPr/>
          <p:nvPr/>
        </p:nvSpPr>
        <p:spPr>
          <a:xfrm>
            <a:off x="2971800" y="4297680"/>
            <a:ext cx="2286000" cy="914400"/>
          </a:xfrm>
          <a:prstGeom prst="roundRect">
            <a:avLst>
              <a:gd fmla="val 6000" name="adj"/>
            </a:avLst>
          </a:prstGeom>
          <a:solidFill>
            <a:srgbClr val="F2F2F2"/>
          </a:solidFill>
          <a:ln cap="flat" cmpd="sng" w="12700">
            <a:solidFill>
              <a:srgbClr val="F2F2F2"/>
            </a:solidFill>
            <a:prstDash val="solid"/>
            <a:miter lim="8000"/>
            <a:headEnd len="sm" w="sm" type="none"/>
            <a:tailEnd len="sm" w="sm" type="none"/>
          </a:ln>
        </p:spPr>
        <p:txBody>
          <a:bodyPr anchorCtr="0" anchor="ctr" bIns="36575" lIns="91425" spcFirstLastPara="1" rIns="91425" wrap="square" tIns="36575">
            <a:noAutofit/>
          </a:bodyPr>
          <a:lstStyle/>
          <a:p>
            <a:pPr indent="0" lvl="0" marL="0" marR="0" rtl="0" algn="ctr">
              <a:spcBef>
                <a:spcPts val="0"/>
              </a:spcBef>
              <a:spcAft>
                <a:spcPts val="0"/>
              </a:spcAft>
              <a:buNone/>
            </a:pPr>
            <a:r>
              <a:rPr b="1" i="0" lang="en-US" sz="1500" u="none" cap="none" strike="noStrike">
                <a:solidFill>
                  <a:srgbClr val="4A1020"/>
                </a:solidFill>
                <a:latin typeface="Calibri"/>
                <a:ea typeface="Calibri"/>
                <a:cs typeface="Calibri"/>
                <a:sym typeface="Calibri"/>
              </a:rPr>
              <a:t>2  Delimitación</a:t>
            </a:r>
            <a:endParaRPr/>
          </a:p>
          <a:p>
            <a:pPr indent="0" lvl="0" marL="0" marR="0" rtl="0" algn="ctr">
              <a:spcBef>
                <a:spcPts val="0"/>
              </a:spcBef>
              <a:spcAft>
                <a:spcPts val="0"/>
              </a:spcAft>
              <a:buNone/>
            </a:pPr>
            <a:r>
              <a:rPr b="0" i="0" lang="en-US" sz="1150" u="none" cap="none" strike="noStrike">
                <a:solidFill>
                  <a:srgbClr val="4A1020"/>
                </a:solidFill>
                <a:latin typeface="Calibri"/>
                <a:ea typeface="Calibri"/>
                <a:cs typeface="Calibri"/>
                <a:sym typeface="Calibri"/>
              </a:rPr>
              <a:t>0,29 ms de sobrecosto</a:t>
            </a:r>
            <a:endParaRPr/>
          </a:p>
        </p:txBody>
      </p:sp>
      <p:sp>
        <p:nvSpPr>
          <p:cNvPr id="606" name="Google Shape;606;p30"/>
          <p:cNvSpPr txBox="1"/>
          <p:nvPr/>
        </p:nvSpPr>
        <p:spPr>
          <a:xfrm>
            <a:off x="5239512" y="4480560"/>
            <a:ext cx="182880" cy="548640"/>
          </a:xfrm>
          <a:prstGeom prst="rect">
            <a:avLst/>
          </a:prstGeom>
          <a:noFill/>
          <a:ln>
            <a:noFill/>
          </a:ln>
        </p:spPr>
        <p:txBody>
          <a:bodyPr anchorCtr="0" anchor="t" bIns="27425" lIns="45700" spcFirstLastPara="1" rIns="45700" wrap="square" tIns="27425">
            <a:spAutoFit/>
          </a:bodyPr>
          <a:lstStyle/>
          <a:p>
            <a:pPr indent="0" lvl="0" marL="0" marR="0" rtl="0" algn="ctr">
              <a:spcBef>
                <a:spcPts val="0"/>
              </a:spcBef>
              <a:spcAft>
                <a:spcPts val="0"/>
              </a:spcAft>
              <a:buNone/>
            </a:pPr>
            <a:r>
              <a:rPr b="1" i="0" lang="en-US" sz="2000" u="none" cap="none" strike="noStrike">
                <a:solidFill>
                  <a:srgbClr val="7B1C2E"/>
                </a:solidFill>
                <a:latin typeface="Calibri"/>
                <a:ea typeface="Calibri"/>
                <a:cs typeface="Calibri"/>
                <a:sym typeface="Calibri"/>
              </a:rPr>
              <a:t>+</a:t>
            </a:r>
            <a:endParaRPr/>
          </a:p>
        </p:txBody>
      </p:sp>
      <p:sp>
        <p:nvSpPr>
          <p:cNvPr id="607" name="Google Shape;607;p30"/>
          <p:cNvSpPr/>
          <p:nvPr/>
        </p:nvSpPr>
        <p:spPr>
          <a:xfrm>
            <a:off x="5394959" y="4297680"/>
            <a:ext cx="2286000" cy="914400"/>
          </a:xfrm>
          <a:prstGeom prst="roundRect">
            <a:avLst>
              <a:gd fmla="val 6000" name="adj"/>
            </a:avLst>
          </a:prstGeom>
          <a:solidFill>
            <a:srgbClr val="F2F2F2"/>
          </a:solidFill>
          <a:ln cap="flat" cmpd="sng" w="12700">
            <a:solidFill>
              <a:srgbClr val="F2F2F2"/>
            </a:solidFill>
            <a:prstDash val="solid"/>
            <a:miter lim="8000"/>
            <a:headEnd len="sm" w="sm" type="none"/>
            <a:tailEnd len="sm" w="sm" type="none"/>
          </a:ln>
        </p:spPr>
        <p:txBody>
          <a:bodyPr anchorCtr="0" anchor="ctr" bIns="36575" lIns="91425" spcFirstLastPara="1" rIns="91425" wrap="square" tIns="36575">
            <a:noAutofit/>
          </a:bodyPr>
          <a:lstStyle/>
          <a:p>
            <a:pPr indent="0" lvl="0" marL="0" marR="0" rtl="0" algn="ctr">
              <a:spcBef>
                <a:spcPts val="0"/>
              </a:spcBef>
              <a:spcAft>
                <a:spcPts val="0"/>
              </a:spcAft>
              <a:buNone/>
            </a:pPr>
            <a:r>
              <a:rPr b="1" i="0" lang="en-US" sz="1500" u="none" cap="none" strike="noStrike">
                <a:solidFill>
                  <a:srgbClr val="4A1020"/>
                </a:solidFill>
                <a:latin typeface="Calibri"/>
                <a:ea typeface="Calibri"/>
                <a:cs typeface="Calibri"/>
                <a:sym typeface="Calibri"/>
              </a:rPr>
              <a:t>4  Mínimo privilegio</a:t>
            </a:r>
            <a:endParaRPr/>
          </a:p>
          <a:p>
            <a:pPr indent="0" lvl="0" marL="0" marR="0" rtl="0" algn="ctr">
              <a:spcBef>
                <a:spcPts val="0"/>
              </a:spcBef>
              <a:spcAft>
                <a:spcPts val="0"/>
              </a:spcAft>
              <a:buNone/>
            </a:pPr>
            <a:r>
              <a:rPr b="0" i="0" lang="en-US" sz="1150" u="none" cap="none" strike="noStrike">
                <a:solidFill>
                  <a:srgbClr val="4A1020"/>
                </a:solidFill>
                <a:latin typeface="Calibri"/>
                <a:ea typeface="Calibri"/>
                <a:cs typeface="Calibri"/>
                <a:sym typeface="Calibri"/>
              </a:rPr>
              <a:t>0,46 ms de sobrecosto</a:t>
            </a:r>
            <a:endParaRPr/>
          </a:p>
        </p:txBody>
      </p:sp>
      <p:sp>
        <p:nvSpPr>
          <p:cNvPr id="608" name="Google Shape;608;p30"/>
          <p:cNvSpPr/>
          <p:nvPr/>
        </p:nvSpPr>
        <p:spPr>
          <a:xfrm>
            <a:off x="7863840" y="4297680"/>
            <a:ext cx="3776472" cy="914400"/>
          </a:xfrm>
          <a:prstGeom prst="roundRect">
            <a:avLst>
              <a:gd fmla="val 6000" name="adj"/>
            </a:avLst>
          </a:prstGeom>
          <a:solidFill>
            <a:srgbClr val="F2F2F2"/>
          </a:solidFill>
          <a:ln cap="flat" cmpd="sng" w="12700">
            <a:solidFill>
              <a:srgbClr val="D0D0D0"/>
            </a:solidFill>
            <a:prstDash val="solid"/>
            <a:miter lim="8000"/>
            <a:headEnd len="sm" w="sm" type="none"/>
            <a:tailEnd len="sm" w="sm" type="none"/>
          </a:ln>
        </p:spPr>
        <p:txBody>
          <a:bodyPr anchorCtr="0" anchor="ctr" bIns="36575" lIns="91425" spcFirstLastPara="1" rIns="91425" wrap="square" tIns="36575">
            <a:noAutofit/>
          </a:bodyPr>
          <a:lstStyle/>
          <a:p>
            <a:pPr indent="0" lvl="0" marL="0" marR="0" rtl="0" algn="ctr">
              <a:spcBef>
                <a:spcPts val="0"/>
              </a:spcBef>
              <a:spcAft>
                <a:spcPts val="0"/>
              </a:spcAft>
              <a:buNone/>
            </a:pPr>
            <a:r>
              <a:rPr b="1" i="0" lang="en-US" sz="1800" u="none" cap="none" strike="noStrike">
                <a:solidFill>
                  <a:srgbClr val="4A1020"/>
                </a:solidFill>
                <a:latin typeface="Calibri"/>
                <a:ea typeface="Calibri"/>
                <a:cs typeface="Calibri"/>
                <a:sym typeface="Calibri"/>
              </a:rPr>
              <a:t>≈ 50 h · &lt; 1 ms</a:t>
            </a:r>
            <a:endParaRPr/>
          </a:p>
          <a:p>
            <a:pPr indent="0" lvl="0" marL="0" marR="0" rtl="0" algn="ctr">
              <a:spcBef>
                <a:spcPts val="0"/>
              </a:spcBef>
              <a:spcAft>
                <a:spcPts val="0"/>
              </a:spcAft>
              <a:buNone/>
            </a:pPr>
            <a:r>
              <a:rPr b="0" i="0" lang="en-US" sz="1050" u="none" cap="none" strike="noStrike">
                <a:solidFill>
                  <a:srgbClr val="4A1020"/>
                </a:solidFill>
                <a:latin typeface="Calibri"/>
                <a:ea typeface="Calibri"/>
                <a:cs typeface="Calibri"/>
                <a:sym typeface="Calibri"/>
              </a:rPr>
              <a:t>estimado; aún no medido como configuración</a:t>
            </a:r>
            <a:endParaRPr/>
          </a:p>
        </p:txBody>
      </p:sp>
      <p:sp>
        <p:nvSpPr>
          <p:cNvPr id="609" name="Google Shape;609;p30"/>
          <p:cNvSpPr/>
          <p:nvPr/>
        </p:nvSpPr>
        <p:spPr>
          <a:xfrm>
            <a:off x="548640" y="5394960"/>
            <a:ext cx="11091672" cy="960120"/>
          </a:xfrm>
          <a:prstGeom prst="rect">
            <a:avLst/>
          </a:prstGeom>
          <a:solidFill>
            <a:srgbClr val="F2F2F2"/>
          </a:solidFill>
          <a:ln>
            <a:noFill/>
          </a:ln>
        </p:spPr>
        <p:txBody>
          <a:bodyPr anchorCtr="0" anchor="ctr" bIns="36575" lIns="91425" spcFirstLastPara="1" rIns="91425" wrap="square" tIns="36575">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10" name="Google Shape;610;p30"/>
          <p:cNvSpPr/>
          <p:nvPr/>
        </p:nvSpPr>
        <p:spPr>
          <a:xfrm>
            <a:off x="548640" y="5394960"/>
            <a:ext cx="91440" cy="960120"/>
          </a:xfrm>
          <a:prstGeom prst="rect">
            <a:avLst/>
          </a:prstGeom>
          <a:solidFill>
            <a:srgbClr val="7B1C2E"/>
          </a:solidFill>
          <a:ln>
            <a:noFill/>
          </a:ln>
        </p:spPr>
        <p:txBody>
          <a:bodyPr anchorCtr="0" anchor="ctr" bIns="36575" lIns="91425" spcFirstLastPara="1" rIns="91425" wrap="square" tIns="36575">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11" name="Google Shape;611;p30"/>
          <p:cNvSpPr txBox="1"/>
          <p:nvPr/>
        </p:nvSpPr>
        <p:spPr>
          <a:xfrm>
            <a:off x="749790" y="5619510"/>
            <a:ext cx="10771500" cy="501900"/>
          </a:xfrm>
          <a:prstGeom prst="rect">
            <a:avLst/>
          </a:prstGeom>
          <a:noFill/>
          <a:ln>
            <a:noFill/>
          </a:ln>
        </p:spPr>
        <p:txBody>
          <a:bodyPr anchorCtr="0" anchor="ctr" bIns="27425" lIns="45700" spcFirstLastPara="1" rIns="45700" wrap="square" tIns="27425">
            <a:noAutofit/>
          </a:bodyPr>
          <a:lstStyle/>
          <a:p>
            <a:pPr indent="0" lvl="0" marL="0" marR="0" rtl="0" algn="l">
              <a:spcBef>
                <a:spcPts val="1000"/>
              </a:spcBef>
              <a:spcAft>
                <a:spcPts val="1000"/>
              </a:spcAft>
              <a:buNone/>
            </a:pPr>
            <a:r>
              <a:rPr b="1" i="0" lang="en-US" sz="1450" u="none" cap="none" strike="noStrike">
                <a:solidFill>
                  <a:srgbClr val="262626"/>
                </a:solidFill>
                <a:latin typeface="Calibri"/>
                <a:ea typeface="Calibri"/>
                <a:cs typeface="Calibri"/>
                <a:sym typeface="Calibri"/>
              </a:rPr>
              <a:t> </a:t>
            </a:r>
            <a:r>
              <a:rPr b="1" lang="en-US" sz="1450">
                <a:solidFill>
                  <a:srgbClr val="262626"/>
                </a:solidFill>
                <a:latin typeface="Calibri"/>
                <a:ea typeface="Calibri"/>
                <a:cs typeface="Calibri"/>
                <a:sym typeface="Calibri"/>
              </a:rPr>
              <a:t>Hallazgos</a:t>
            </a:r>
            <a:r>
              <a:rPr b="1" i="0" lang="en-US" sz="1450" u="none" cap="none" strike="noStrike">
                <a:solidFill>
                  <a:srgbClr val="262626"/>
                </a:solidFill>
                <a:latin typeface="Calibri"/>
                <a:ea typeface="Calibri"/>
                <a:cs typeface="Calibri"/>
                <a:sym typeface="Calibri"/>
              </a:rPr>
              <a:t>: </a:t>
            </a:r>
            <a:r>
              <a:rPr b="0" i="0" lang="en-US" sz="1450" u="none" cap="none" strike="noStrike">
                <a:solidFill>
                  <a:srgbClr val="262626"/>
                </a:solidFill>
                <a:latin typeface="Calibri"/>
                <a:ea typeface="Calibri"/>
                <a:cs typeface="Calibri"/>
                <a:sym typeface="Calibri"/>
              </a:rPr>
              <a:t>ninguna configuración llega a 0 % y la literatura no lo espera. Lo valioso es saber qué capa aporta cuánto y a qué costo, para decidir con datos.</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6" name="Shape 616"/>
        <p:cNvGrpSpPr/>
        <p:nvPr/>
      </p:nvGrpSpPr>
      <p:grpSpPr>
        <a:xfrm>
          <a:off x="0" y="0"/>
          <a:ext cx="0" cy="0"/>
          <a:chOff x="0" y="0"/>
          <a:chExt cx="0" cy="0"/>
        </a:xfrm>
      </p:grpSpPr>
      <p:sp>
        <p:nvSpPr>
          <p:cNvPr id="617" name="Google Shape;617;p31"/>
          <p:cNvSpPr txBox="1"/>
          <p:nvPr>
            <p:ph type="title"/>
          </p:nvPr>
        </p:nvSpPr>
        <p:spPr>
          <a:xfrm>
            <a:off x="1371600" y="457200"/>
            <a:ext cx="8869680" cy="64008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4A1020"/>
              </a:buClr>
              <a:buSzPts val="2800"/>
              <a:buFont typeface="Calibri"/>
              <a:buNone/>
            </a:pPr>
            <a:r>
              <a:rPr b="1" lang="en-US" sz="2800">
                <a:solidFill>
                  <a:srgbClr val="4A1020"/>
                </a:solidFill>
              </a:rPr>
              <a:t>Limitaciones y próximos pasos</a:t>
            </a:r>
            <a:endParaRPr/>
          </a:p>
        </p:txBody>
      </p:sp>
      <p:pic>
        <p:nvPicPr>
          <p:cNvPr descr="ironveil_v6.png" id="618" name="Google Shape;618;p31"/>
          <p:cNvPicPr preferRelativeResize="0"/>
          <p:nvPr/>
        </p:nvPicPr>
        <p:blipFill rotWithShape="1">
          <a:blip r:embed="rId3">
            <a:alphaModFix/>
          </a:blip>
          <a:srcRect b="0" l="0" r="0" t="0"/>
          <a:stretch/>
        </p:blipFill>
        <p:spPr>
          <a:xfrm>
            <a:off x="502920" y="274320"/>
            <a:ext cx="822960" cy="822960"/>
          </a:xfrm>
          <a:prstGeom prst="rect">
            <a:avLst/>
          </a:prstGeom>
          <a:noFill/>
          <a:ln>
            <a:noFill/>
          </a:ln>
        </p:spPr>
      </p:pic>
      <p:sp>
        <p:nvSpPr>
          <p:cNvPr id="619" name="Google Shape;619;p31"/>
          <p:cNvSpPr txBox="1"/>
          <p:nvPr/>
        </p:nvSpPr>
        <p:spPr>
          <a:xfrm>
            <a:off x="1371600" y="246888"/>
            <a:ext cx="8229600" cy="27432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1100" u="none" cap="none" strike="noStrike">
                <a:solidFill>
                  <a:srgbClr val="7B1C2E"/>
                </a:solidFill>
                <a:latin typeface="Calibri"/>
                <a:ea typeface="Calibri"/>
                <a:cs typeface="Calibri"/>
                <a:sym typeface="Calibri"/>
              </a:rPr>
              <a:t>09 · CIERRE</a:t>
            </a:r>
            <a:endParaRPr/>
          </a:p>
        </p:txBody>
      </p:sp>
      <p:cxnSp>
        <p:nvCxnSpPr>
          <p:cNvPr id="620" name="Google Shape;620;p31"/>
          <p:cNvCxnSpPr/>
          <p:nvPr/>
        </p:nvCxnSpPr>
        <p:spPr>
          <a:xfrm>
            <a:off x="548640" y="1188720"/>
            <a:ext cx="11091672" cy="0"/>
          </a:xfrm>
          <a:prstGeom prst="straightConnector1">
            <a:avLst/>
          </a:prstGeom>
          <a:noFill/>
          <a:ln cap="flat" cmpd="sng" w="25400">
            <a:solidFill>
              <a:srgbClr val="7B1C2E"/>
            </a:solidFill>
            <a:prstDash val="solid"/>
            <a:miter lim="8000"/>
            <a:headEnd len="sm" w="sm" type="none"/>
            <a:tailEnd len="sm" w="sm" type="none"/>
          </a:ln>
        </p:spPr>
      </p:cxnSp>
      <p:sp>
        <p:nvSpPr>
          <p:cNvPr id="621" name="Google Shape;621;p31"/>
          <p:cNvSpPr/>
          <p:nvPr/>
        </p:nvSpPr>
        <p:spPr>
          <a:xfrm>
            <a:off x="0" y="6510528"/>
            <a:ext cx="12191695" cy="347472"/>
          </a:xfrm>
          <a:prstGeom prst="rect">
            <a:avLst/>
          </a:prstGeom>
          <a:solidFill>
            <a:srgbClr val="7B1C2E"/>
          </a:solidFill>
          <a:ln>
            <a:noFill/>
          </a:ln>
        </p:spPr>
        <p:txBody>
          <a:bodyPr anchorCtr="0" anchor="ctr" bIns="36575" lIns="91425" spcFirstLastPara="1" rIns="91425" wrap="square" tIns="36575">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ronveil_v6_inv.png" id="622" name="Google Shape;622;p31"/>
          <p:cNvPicPr preferRelativeResize="0"/>
          <p:nvPr/>
        </p:nvPicPr>
        <p:blipFill rotWithShape="1">
          <a:blip r:embed="rId4">
            <a:alphaModFix/>
          </a:blip>
          <a:srcRect b="0" l="0" r="0" t="0"/>
          <a:stretch/>
        </p:blipFill>
        <p:spPr>
          <a:xfrm>
            <a:off x="457200" y="6537960"/>
            <a:ext cx="292608" cy="292608"/>
          </a:xfrm>
          <a:prstGeom prst="rect">
            <a:avLst/>
          </a:prstGeom>
          <a:noFill/>
          <a:ln>
            <a:noFill/>
          </a:ln>
        </p:spPr>
      </p:pic>
      <p:sp>
        <p:nvSpPr>
          <p:cNvPr id="623" name="Google Shape;623;p31"/>
          <p:cNvSpPr txBox="1"/>
          <p:nvPr/>
        </p:nvSpPr>
        <p:spPr>
          <a:xfrm>
            <a:off x="822960" y="6528816"/>
            <a:ext cx="5486400" cy="310896"/>
          </a:xfrm>
          <a:prstGeom prst="rect">
            <a:avLst/>
          </a:prstGeom>
          <a:noFill/>
          <a:ln>
            <a:noFill/>
          </a:ln>
        </p:spPr>
        <p:txBody>
          <a:bodyPr anchorCtr="0" anchor="ctr" bIns="27425" lIns="45700" spcFirstLastPara="1" rIns="45700" wrap="square" tIns="27425">
            <a:noAutofit/>
          </a:bodyPr>
          <a:lstStyle/>
          <a:p>
            <a:pPr indent="0" lvl="0" marL="0" marR="0" rtl="0" algn="l">
              <a:spcBef>
                <a:spcPts val="0"/>
              </a:spcBef>
              <a:spcAft>
                <a:spcPts val="0"/>
              </a:spcAft>
              <a:buNone/>
            </a:pPr>
            <a:r>
              <a:rPr b="1" lang="en-US" sz="1050">
                <a:solidFill>
                  <a:srgbClr val="F2F2F2"/>
                </a:solidFill>
                <a:latin typeface="Calibri"/>
                <a:ea typeface="Calibri"/>
                <a:cs typeface="Calibri"/>
                <a:sym typeface="Calibri"/>
              </a:rPr>
              <a:t>IronVeil · Framework de defensa para LLMs autoalojados</a:t>
            </a:r>
            <a:endParaRPr/>
          </a:p>
        </p:txBody>
      </p:sp>
      <p:sp>
        <p:nvSpPr>
          <p:cNvPr id="624" name="Google Shape;624;p31"/>
          <p:cNvSpPr txBox="1"/>
          <p:nvPr/>
        </p:nvSpPr>
        <p:spPr>
          <a:xfrm>
            <a:off x="6217920" y="6528816"/>
            <a:ext cx="5303520" cy="310896"/>
          </a:xfrm>
          <a:prstGeom prst="rect">
            <a:avLst/>
          </a:prstGeom>
          <a:noFill/>
          <a:ln>
            <a:noFill/>
          </a:ln>
        </p:spPr>
        <p:txBody>
          <a:bodyPr anchorCtr="0" anchor="ctr" bIns="27425" lIns="45700" spcFirstLastPara="1" rIns="45700" wrap="square" tIns="27425">
            <a:spAutoFit/>
          </a:bodyPr>
          <a:lstStyle/>
          <a:p>
            <a:pPr indent="0" lvl="0" marL="0" marR="0" rtl="0" algn="r">
              <a:spcBef>
                <a:spcPts val="0"/>
              </a:spcBef>
              <a:spcAft>
                <a:spcPts val="0"/>
              </a:spcAft>
              <a:buNone/>
            </a:pPr>
            <a:r>
              <a:rPr b="0" i="0" lang="en-US" sz="1050" u="none" cap="none" strike="noStrike">
                <a:solidFill>
                  <a:srgbClr val="D9D9D9"/>
                </a:solidFill>
                <a:latin typeface="Calibri"/>
                <a:ea typeface="Calibri"/>
                <a:cs typeface="Calibri"/>
                <a:sym typeface="Calibri"/>
              </a:rPr>
              <a:t>Escuela Colombiana de Ingeniería Julio Garavito · 2026</a:t>
            </a:r>
            <a:endParaRPr/>
          </a:p>
        </p:txBody>
      </p:sp>
      <p:sp>
        <p:nvSpPr>
          <p:cNvPr id="625" name="Google Shape;625;p31"/>
          <p:cNvSpPr txBox="1"/>
          <p:nvPr/>
        </p:nvSpPr>
        <p:spPr>
          <a:xfrm>
            <a:off x="11475720" y="6528816"/>
            <a:ext cx="548640" cy="310896"/>
          </a:xfrm>
          <a:prstGeom prst="rect">
            <a:avLst/>
          </a:prstGeom>
          <a:noFill/>
          <a:ln>
            <a:noFill/>
          </a:ln>
        </p:spPr>
        <p:txBody>
          <a:bodyPr anchorCtr="0" anchor="ctr" bIns="27425" lIns="45700" spcFirstLastPara="1" rIns="45700" wrap="square" tIns="27425">
            <a:noAutofit/>
          </a:bodyPr>
          <a:lstStyle/>
          <a:p>
            <a:pPr indent="0" lvl="0" marL="0" marR="0" rtl="0" algn="r">
              <a:spcBef>
                <a:spcPts val="0"/>
              </a:spcBef>
              <a:spcAft>
                <a:spcPts val="0"/>
              </a:spcAft>
              <a:buNone/>
            </a:pPr>
            <a:r>
              <a:rPr b="1" lang="en-US" sz="1100">
                <a:solidFill>
                  <a:srgbClr val="FFFFFF"/>
                </a:solidFill>
                <a:latin typeface="Calibri"/>
                <a:ea typeface="Calibri"/>
                <a:cs typeface="Calibri"/>
                <a:sym typeface="Calibri"/>
              </a:rPr>
              <a:t>17</a:t>
            </a:r>
            <a:endParaRPr b="1" sz="1100">
              <a:solidFill>
                <a:srgbClr val="FFFFFF"/>
              </a:solidFill>
              <a:latin typeface="Calibri"/>
              <a:ea typeface="Calibri"/>
              <a:cs typeface="Calibri"/>
              <a:sym typeface="Calibri"/>
            </a:endParaRPr>
          </a:p>
        </p:txBody>
      </p:sp>
      <p:sp>
        <p:nvSpPr>
          <p:cNvPr id="626" name="Google Shape;626;p31"/>
          <p:cNvSpPr txBox="1"/>
          <p:nvPr/>
        </p:nvSpPr>
        <p:spPr>
          <a:xfrm>
            <a:off x="548640" y="1298448"/>
            <a:ext cx="5486400" cy="36576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1300" u="none" cap="none" strike="noStrike">
                <a:solidFill>
                  <a:srgbClr val="7B1C2E"/>
                </a:solidFill>
                <a:latin typeface="Calibri"/>
                <a:ea typeface="Calibri"/>
                <a:cs typeface="Calibri"/>
                <a:sym typeface="Calibri"/>
              </a:rPr>
              <a:t>LIMITACIONES DECLARADAS</a:t>
            </a:r>
            <a:endParaRPr/>
          </a:p>
        </p:txBody>
      </p:sp>
      <p:sp>
        <p:nvSpPr>
          <p:cNvPr id="627" name="Google Shape;627;p31"/>
          <p:cNvSpPr/>
          <p:nvPr/>
        </p:nvSpPr>
        <p:spPr>
          <a:xfrm>
            <a:off x="548640" y="1691640"/>
            <a:ext cx="5394960" cy="1078992"/>
          </a:xfrm>
          <a:prstGeom prst="roundRect">
            <a:avLst>
              <a:gd fmla="val 6000" name="adj"/>
            </a:avLst>
          </a:prstGeom>
          <a:solidFill>
            <a:srgbClr val="F2F2F2"/>
          </a:solidFill>
          <a:ln cap="flat" cmpd="sng" w="12700">
            <a:solidFill>
              <a:srgbClr val="D0D0D0"/>
            </a:solidFill>
            <a:prstDash val="solid"/>
            <a:miter lim="8000"/>
            <a:headEnd len="sm" w="sm" type="none"/>
            <a:tailEnd len="sm" w="sm" type="none"/>
          </a:ln>
        </p:spPr>
        <p:txBody>
          <a:bodyPr anchorCtr="0" anchor="ctr" bIns="36575" lIns="91425" spcFirstLastPara="1" rIns="91425" wrap="square" tIns="36575">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28" name="Google Shape;628;p31"/>
          <p:cNvSpPr/>
          <p:nvPr/>
        </p:nvSpPr>
        <p:spPr>
          <a:xfrm>
            <a:off x="548640" y="1691640"/>
            <a:ext cx="91440" cy="1078992"/>
          </a:xfrm>
          <a:prstGeom prst="rect">
            <a:avLst/>
          </a:prstGeom>
          <a:solidFill>
            <a:srgbClr val="4A1020"/>
          </a:solidFill>
          <a:ln>
            <a:noFill/>
          </a:ln>
        </p:spPr>
        <p:txBody>
          <a:bodyPr anchorCtr="0" anchor="ctr" bIns="36575" lIns="91425" spcFirstLastPara="1" rIns="91425" wrap="square" tIns="36575">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29" name="Google Shape;629;p31"/>
          <p:cNvSpPr txBox="1"/>
          <p:nvPr/>
        </p:nvSpPr>
        <p:spPr>
          <a:xfrm>
            <a:off x="822960" y="1737360"/>
            <a:ext cx="5029200" cy="987552"/>
          </a:xfrm>
          <a:prstGeom prst="rect">
            <a:avLst/>
          </a:prstGeom>
          <a:noFill/>
          <a:ln>
            <a:noFill/>
          </a:ln>
        </p:spPr>
        <p:txBody>
          <a:bodyPr anchorCtr="0" anchor="ctr" bIns="27425" lIns="45700" spcFirstLastPara="1" rIns="45700" wrap="square" tIns="27425">
            <a:spAutoFit/>
          </a:bodyPr>
          <a:lstStyle/>
          <a:p>
            <a:pPr indent="0" lvl="0" marL="0" marR="0" rtl="0" algn="l">
              <a:spcBef>
                <a:spcPts val="0"/>
              </a:spcBef>
              <a:spcAft>
                <a:spcPts val="0"/>
              </a:spcAft>
              <a:buNone/>
            </a:pPr>
            <a:r>
              <a:rPr b="0" i="0" lang="en-US" sz="1500" u="none" cap="none" strike="noStrike">
                <a:solidFill>
                  <a:srgbClr val="262626"/>
                </a:solidFill>
                <a:latin typeface="Calibri"/>
                <a:ea typeface="Calibri"/>
                <a:cs typeface="Calibri"/>
                <a:sym typeface="Calibri"/>
              </a:rPr>
              <a:t>Muestras pequeñas: muchas celdas son no concluyentes, no «sin efecto».</a:t>
            </a:r>
            <a:endParaRPr/>
          </a:p>
        </p:txBody>
      </p:sp>
      <p:sp>
        <p:nvSpPr>
          <p:cNvPr id="630" name="Google Shape;630;p31"/>
          <p:cNvSpPr/>
          <p:nvPr/>
        </p:nvSpPr>
        <p:spPr>
          <a:xfrm>
            <a:off x="548640" y="2880360"/>
            <a:ext cx="5394960" cy="1078992"/>
          </a:xfrm>
          <a:prstGeom prst="roundRect">
            <a:avLst>
              <a:gd fmla="val 6000" name="adj"/>
            </a:avLst>
          </a:prstGeom>
          <a:solidFill>
            <a:srgbClr val="F2F2F2"/>
          </a:solidFill>
          <a:ln cap="flat" cmpd="sng" w="12700">
            <a:solidFill>
              <a:srgbClr val="D0D0D0"/>
            </a:solidFill>
            <a:prstDash val="solid"/>
            <a:miter lim="8000"/>
            <a:headEnd len="sm" w="sm" type="none"/>
            <a:tailEnd len="sm" w="sm" type="none"/>
          </a:ln>
        </p:spPr>
        <p:txBody>
          <a:bodyPr anchorCtr="0" anchor="ctr" bIns="36575" lIns="91425" spcFirstLastPara="1" rIns="91425" wrap="square" tIns="36575">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31" name="Google Shape;631;p31"/>
          <p:cNvSpPr/>
          <p:nvPr/>
        </p:nvSpPr>
        <p:spPr>
          <a:xfrm>
            <a:off x="548640" y="2880360"/>
            <a:ext cx="91440" cy="1078992"/>
          </a:xfrm>
          <a:prstGeom prst="rect">
            <a:avLst/>
          </a:prstGeom>
          <a:solidFill>
            <a:srgbClr val="4A1020"/>
          </a:solidFill>
          <a:ln>
            <a:noFill/>
          </a:ln>
        </p:spPr>
        <p:txBody>
          <a:bodyPr anchorCtr="0" anchor="ctr" bIns="36575" lIns="91425" spcFirstLastPara="1" rIns="91425" wrap="square" tIns="36575">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32" name="Google Shape;632;p31"/>
          <p:cNvSpPr txBox="1"/>
          <p:nvPr/>
        </p:nvSpPr>
        <p:spPr>
          <a:xfrm>
            <a:off x="822960" y="2926080"/>
            <a:ext cx="5029200" cy="987552"/>
          </a:xfrm>
          <a:prstGeom prst="rect">
            <a:avLst/>
          </a:prstGeom>
          <a:noFill/>
          <a:ln>
            <a:noFill/>
          </a:ln>
        </p:spPr>
        <p:txBody>
          <a:bodyPr anchorCtr="0" anchor="ctr" bIns="27425" lIns="45700" spcFirstLastPara="1" rIns="45700" wrap="square" tIns="27425">
            <a:spAutoFit/>
          </a:bodyPr>
          <a:lstStyle/>
          <a:p>
            <a:pPr indent="0" lvl="0" marL="0" marR="0" rtl="0" algn="l">
              <a:spcBef>
                <a:spcPts val="0"/>
              </a:spcBef>
              <a:spcAft>
                <a:spcPts val="0"/>
              </a:spcAft>
              <a:buNone/>
            </a:pPr>
            <a:r>
              <a:rPr b="0" i="0" lang="en-US" sz="1500" u="none" cap="none" strike="noStrike">
                <a:solidFill>
                  <a:srgbClr val="262626"/>
                </a:solidFill>
                <a:latin typeface="Calibri"/>
                <a:ea typeface="Calibri"/>
                <a:cs typeface="Calibri"/>
                <a:sym typeface="Calibri"/>
              </a:rPr>
              <a:t>El LLM no es determinista; las corridas no se reproducen bit a bit.</a:t>
            </a:r>
            <a:endParaRPr/>
          </a:p>
        </p:txBody>
      </p:sp>
      <p:sp>
        <p:nvSpPr>
          <p:cNvPr id="633" name="Google Shape;633;p31"/>
          <p:cNvSpPr/>
          <p:nvPr/>
        </p:nvSpPr>
        <p:spPr>
          <a:xfrm>
            <a:off x="548640" y="4069080"/>
            <a:ext cx="5394960" cy="1078992"/>
          </a:xfrm>
          <a:prstGeom prst="roundRect">
            <a:avLst>
              <a:gd fmla="val 6000" name="adj"/>
            </a:avLst>
          </a:prstGeom>
          <a:solidFill>
            <a:srgbClr val="F2F2F2"/>
          </a:solidFill>
          <a:ln cap="flat" cmpd="sng" w="12700">
            <a:solidFill>
              <a:srgbClr val="D0D0D0"/>
            </a:solidFill>
            <a:prstDash val="solid"/>
            <a:miter lim="8000"/>
            <a:headEnd len="sm" w="sm" type="none"/>
            <a:tailEnd len="sm" w="sm" type="none"/>
          </a:ln>
        </p:spPr>
        <p:txBody>
          <a:bodyPr anchorCtr="0" anchor="ctr" bIns="36575" lIns="91425" spcFirstLastPara="1" rIns="91425" wrap="square" tIns="36575">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34" name="Google Shape;634;p31"/>
          <p:cNvSpPr/>
          <p:nvPr/>
        </p:nvSpPr>
        <p:spPr>
          <a:xfrm>
            <a:off x="548640" y="4069080"/>
            <a:ext cx="91440" cy="1078992"/>
          </a:xfrm>
          <a:prstGeom prst="rect">
            <a:avLst/>
          </a:prstGeom>
          <a:solidFill>
            <a:srgbClr val="4A1020"/>
          </a:solidFill>
          <a:ln>
            <a:noFill/>
          </a:ln>
        </p:spPr>
        <p:txBody>
          <a:bodyPr anchorCtr="0" anchor="ctr" bIns="36575" lIns="91425" spcFirstLastPara="1" rIns="91425" wrap="square" tIns="36575">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35" name="Google Shape;635;p31"/>
          <p:cNvSpPr txBox="1"/>
          <p:nvPr/>
        </p:nvSpPr>
        <p:spPr>
          <a:xfrm>
            <a:off x="822960" y="4114800"/>
            <a:ext cx="5029200" cy="987552"/>
          </a:xfrm>
          <a:prstGeom prst="rect">
            <a:avLst/>
          </a:prstGeom>
          <a:noFill/>
          <a:ln>
            <a:noFill/>
          </a:ln>
        </p:spPr>
        <p:txBody>
          <a:bodyPr anchorCtr="0" anchor="ctr" bIns="27425" lIns="45700" spcFirstLastPara="1" rIns="45700" wrap="square" tIns="27425">
            <a:spAutoFit/>
          </a:bodyPr>
          <a:lstStyle/>
          <a:p>
            <a:pPr indent="0" lvl="0" marL="0" marR="0" rtl="0" algn="l">
              <a:spcBef>
                <a:spcPts val="0"/>
              </a:spcBef>
              <a:spcAft>
                <a:spcPts val="0"/>
              </a:spcAft>
              <a:buNone/>
            </a:pPr>
            <a:r>
              <a:rPr b="0" i="0" lang="en-US" sz="1500" u="none" cap="none" strike="noStrike">
                <a:solidFill>
                  <a:srgbClr val="262626"/>
                </a:solidFill>
                <a:latin typeface="Calibri"/>
                <a:ea typeface="Calibri"/>
                <a:cs typeface="Calibri"/>
                <a:sym typeface="Calibri"/>
              </a:rPr>
              <a:t>Modelo base de 1B muy alineado: el ASR sin defensas (C0) sería mayor con uno más capaz.</a:t>
            </a:r>
            <a:endParaRPr/>
          </a:p>
        </p:txBody>
      </p:sp>
      <p:sp>
        <p:nvSpPr>
          <p:cNvPr id="636" name="Google Shape;636;p31"/>
          <p:cNvSpPr/>
          <p:nvPr/>
        </p:nvSpPr>
        <p:spPr>
          <a:xfrm>
            <a:off x="548640" y="5257800"/>
            <a:ext cx="5394960" cy="1078992"/>
          </a:xfrm>
          <a:prstGeom prst="roundRect">
            <a:avLst>
              <a:gd fmla="val 6000" name="adj"/>
            </a:avLst>
          </a:prstGeom>
          <a:solidFill>
            <a:srgbClr val="F2F2F2"/>
          </a:solidFill>
          <a:ln cap="flat" cmpd="sng" w="12700">
            <a:solidFill>
              <a:srgbClr val="D0D0D0"/>
            </a:solidFill>
            <a:prstDash val="solid"/>
            <a:miter lim="8000"/>
            <a:headEnd len="sm" w="sm" type="none"/>
            <a:tailEnd len="sm" w="sm" type="none"/>
          </a:ln>
        </p:spPr>
        <p:txBody>
          <a:bodyPr anchorCtr="0" anchor="ctr" bIns="36575" lIns="91425" spcFirstLastPara="1" rIns="91425" wrap="square" tIns="36575">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37" name="Google Shape;637;p31"/>
          <p:cNvSpPr/>
          <p:nvPr/>
        </p:nvSpPr>
        <p:spPr>
          <a:xfrm>
            <a:off x="548640" y="5257800"/>
            <a:ext cx="91440" cy="1078992"/>
          </a:xfrm>
          <a:prstGeom prst="rect">
            <a:avLst/>
          </a:prstGeom>
          <a:solidFill>
            <a:srgbClr val="4A1020"/>
          </a:solidFill>
          <a:ln>
            <a:noFill/>
          </a:ln>
        </p:spPr>
        <p:txBody>
          <a:bodyPr anchorCtr="0" anchor="ctr" bIns="36575" lIns="91425" spcFirstLastPara="1" rIns="91425" wrap="square" tIns="36575">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38" name="Google Shape;638;p31"/>
          <p:cNvSpPr txBox="1"/>
          <p:nvPr/>
        </p:nvSpPr>
        <p:spPr>
          <a:xfrm>
            <a:off x="822960" y="5303520"/>
            <a:ext cx="5029200" cy="987552"/>
          </a:xfrm>
          <a:prstGeom prst="rect">
            <a:avLst/>
          </a:prstGeom>
          <a:noFill/>
          <a:ln>
            <a:noFill/>
          </a:ln>
        </p:spPr>
        <p:txBody>
          <a:bodyPr anchorCtr="0" anchor="ctr" bIns="27425" lIns="45700" spcFirstLastPara="1" rIns="45700" wrap="square" tIns="27425">
            <a:spAutoFit/>
          </a:bodyPr>
          <a:lstStyle/>
          <a:p>
            <a:pPr indent="0" lvl="0" marL="0" marR="0" rtl="0" algn="l">
              <a:spcBef>
                <a:spcPts val="0"/>
              </a:spcBef>
              <a:spcAft>
                <a:spcPts val="0"/>
              </a:spcAft>
              <a:buNone/>
            </a:pPr>
            <a:r>
              <a:rPr b="0" i="0" lang="en-US" sz="1500" u="none" cap="none" strike="noStrike">
                <a:solidFill>
                  <a:srgbClr val="262626"/>
                </a:solidFill>
                <a:latin typeface="Calibri"/>
                <a:ea typeface="Calibri"/>
                <a:cs typeface="Calibri"/>
                <a:sym typeface="Calibri"/>
              </a:rPr>
              <a:t>Ataques del propio experimento y de un catálogo público; sin ataques adaptativos contra las defensas nuevas.</a:t>
            </a:r>
            <a:endParaRPr/>
          </a:p>
        </p:txBody>
      </p:sp>
      <p:sp>
        <p:nvSpPr>
          <p:cNvPr id="639" name="Google Shape;639;p31"/>
          <p:cNvSpPr txBox="1"/>
          <p:nvPr/>
        </p:nvSpPr>
        <p:spPr>
          <a:xfrm>
            <a:off x="6309360" y="1298448"/>
            <a:ext cx="5303520" cy="36576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1300" u="none" cap="none" strike="noStrike">
                <a:solidFill>
                  <a:srgbClr val="7B1C2E"/>
                </a:solidFill>
                <a:latin typeface="Calibri"/>
                <a:ea typeface="Calibri"/>
                <a:cs typeface="Calibri"/>
                <a:sym typeface="Calibri"/>
              </a:rPr>
              <a:t>PRÓXIMOS PASOS</a:t>
            </a:r>
            <a:endParaRPr/>
          </a:p>
        </p:txBody>
      </p:sp>
      <p:sp>
        <p:nvSpPr>
          <p:cNvPr id="640" name="Google Shape;640;p31"/>
          <p:cNvSpPr/>
          <p:nvPr/>
        </p:nvSpPr>
        <p:spPr>
          <a:xfrm>
            <a:off x="6309360" y="1691640"/>
            <a:ext cx="5330952" cy="1078992"/>
          </a:xfrm>
          <a:prstGeom prst="roundRect">
            <a:avLst>
              <a:gd fmla="val 6000" name="adj"/>
            </a:avLst>
          </a:prstGeom>
          <a:solidFill>
            <a:srgbClr val="F2F2F2"/>
          </a:solidFill>
          <a:ln>
            <a:noFill/>
          </a:ln>
        </p:spPr>
        <p:txBody>
          <a:bodyPr anchorCtr="0" anchor="ctr" bIns="36575" lIns="91425" spcFirstLastPara="1" rIns="91425" wrap="square" tIns="36575">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41" name="Google Shape;641;p31"/>
          <p:cNvSpPr/>
          <p:nvPr/>
        </p:nvSpPr>
        <p:spPr>
          <a:xfrm>
            <a:off x="6446520" y="1965960"/>
            <a:ext cx="530352" cy="530352"/>
          </a:xfrm>
          <a:prstGeom prst="ellipse">
            <a:avLst/>
          </a:prstGeom>
          <a:solidFill>
            <a:srgbClr val="7B1C2E"/>
          </a:solidFill>
          <a:ln>
            <a:noFill/>
          </a:ln>
        </p:spPr>
        <p:txBody>
          <a:bodyPr anchorCtr="0" anchor="ctr" bIns="36575" lIns="91425" spcFirstLastPara="1" rIns="91425" wrap="square" tIns="36575">
            <a:noAutofit/>
          </a:bodyPr>
          <a:lstStyle/>
          <a:p>
            <a:pPr indent="0" lvl="0" marL="0" marR="0" rtl="0" algn="ctr">
              <a:spcBef>
                <a:spcPts val="0"/>
              </a:spcBef>
              <a:spcAft>
                <a:spcPts val="0"/>
              </a:spcAft>
              <a:buNone/>
            </a:pPr>
            <a:r>
              <a:rPr b="1" i="0" lang="en-US" sz="1600" u="none" cap="none" strike="noStrike">
                <a:solidFill>
                  <a:srgbClr val="FFFFFF"/>
                </a:solidFill>
                <a:latin typeface="Calibri"/>
                <a:ea typeface="Calibri"/>
                <a:cs typeface="Calibri"/>
                <a:sym typeface="Calibri"/>
              </a:rPr>
              <a:t>1</a:t>
            </a:r>
            <a:endParaRPr/>
          </a:p>
        </p:txBody>
      </p:sp>
      <p:sp>
        <p:nvSpPr>
          <p:cNvPr id="642" name="Google Shape;642;p31"/>
          <p:cNvSpPr txBox="1"/>
          <p:nvPr/>
        </p:nvSpPr>
        <p:spPr>
          <a:xfrm>
            <a:off x="7132320" y="1783080"/>
            <a:ext cx="4434840" cy="36576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1500" u="none" cap="none" strike="noStrike">
                <a:solidFill>
                  <a:srgbClr val="4A1020"/>
                </a:solidFill>
                <a:latin typeface="Calibri"/>
                <a:ea typeface="Calibri"/>
                <a:cs typeface="Calibri"/>
                <a:sym typeface="Calibri"/>
              </a:rPr>
              <a:t>Re-correr V5</a:t>
            </a:r>
            <a:endParaRPr/>
          </a:p>
        </p:txBody>
      </p:sp>
      <p:sp>
        <p:nvSpPr>
          <p:cNvPr id="643" name="Google Shape;643;p31"/>
          <p:cNvSpPr txBox="1"/>
          <p:nvPr/>
        </p:nvSpPr>
        <p:spPr>
          <a:xfrm>
            <a:off x="7132320" y="2167128"/>
            <a:ext cx="4434840" cy="566928"/>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0" i="0" lang="en-US" sz="1300" u="none" cap="none" strike="noStrike">
                <a:solidFill>
                  <a:srgbClr val="262626"/>
                </a:solidFill>
                <a:latin typeface="Calibri"/>
                <a:ea typeface="Calibri"/>
                <a:cs typeface="Calibri"/>
                <a:sym typeface="Calibri"/>
              </a:rPr>
              <a:t>Con el código y el clasificador actuales, en las 7 configuraciones.</a:t>
            </a:r>
            <a:endParaRPr/>
          </a:p>
        </p:txBody>
      </p:sp>
      <p:sp>
        <p:nvSpPr>
          <p:cNvPr id="644" name="Google Shape;644;p31"/>
          <p:cNvSpPr/>
          <p:nvPr/>
        </p:nvSpPr>
        <p:spPr>
          <a:xfrm>
            <a:off x="6309360" y="2880360"/>
            <a:ext cx="5330952" cy="1078992"/>
          </a:xfrm>
          <a:prstGeom prst="roundRect">
            <a:avLst>
              <a:gd fmla="val 6000" name="adj"/>
            </a:avLst>
          </a:prstGeom>
          <a:solidFill>
            <a:srgbClr val="F2F2F2"/>
          </a:solidFill>
          <a:ln>
            <a:noFill/>
          </a:ln>
        </p:spPr>
        <p:txBody>
          <a:bodyPr anchorCtr="0" anchor="ctr" bIns="36575" lIns="91425" spcFirstLastPara="1" rIns="91425" wrap="square" tIns="36575">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45" name="Google Shape;645;p31"/>
          <p:cNvSpPr/>
          <p:nvPr/>
        </p:nvSpPr>
        <p:spPr>
          <a:xfrm>
            <a:off x="6446520" y="3154680"/>
            <a:ext cx="530352" cy="530352"/>
          </a:xfrm>
          <a:prstGeom prst="ellipse">
            <a:avLst/>
          </a:prstGeom>
          <a:solidFill>
            <a:srgbClr val="7B1C2E"/>
          </a:solidFill>
          <a:ln>
            <a:noFill/>
          </a:ln>
        </p:spPr>
        <p:txBody>
          <a:bodyPr anchorCtr="0" anchor="ctr" bIns="36575" lIns="91425" spcFirstLastPara="1" rIns="91425" wrap="square" tIns="36575">
            <a:noAutofit/>
          </a:bodyPr>
          <a:lstStyle/>
          <a:p>
            <a:pPr indent="0" lvl="0" marL="0" marR="0" rtl="0" algn="ctr">
              <a:spcBef>
                <a:spcPts val="0"/>
              </a:spcBef>
              <a:spcAft>
                <a:spcPts val="0"/>
              </a:spcAft>
              <a:buNone/>
            </a:pPr>
            <a:r>
              <a:rPr b="1" i="0" lang="en-US" sz="1600" u="none" cap="none" strike="noStrike">
                <a:solidFill>
                  <a:srgbClr val="FFFFFF"/>
                </a:solidFill>
                <a:latin typeface="Calibri"/>
                <a:ea typeface="Calibri"/>
                <a:cs typeface="Calibri"/>
                <a:sym typeface="Calibri"/>
              </a:rPr>
              <a:t>2</a:t>
            </a:r>
            <a:endParaRPr/>
          </a:p>
        </p:txBody>
      </p:sp>
      <p:sp>
        <p:nvSpPr>
          <p:cNvPr id="646" name="Google Shape;646;p31"/>
          <p:cNvSpPr txBox="1"/>
          <p:nvPr/>
        </p:nvSpPr>
        <p:spPr>
          <a:xfrm>
            <a:off x="7132320" y="2971800"/>
            <a:ext cx="4434840" cy="36576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1500" u="none" cap="none" strike="noStrike">
                <a:solidFill>
                  <a:srgbClr val="4A1020"/>
                </a:solidFill>
                <a:latin typeface="Calibri"/>
                <a:ea typeface="Calibri"/>
                <a:cs typeface="Calibri"/>
                <a:sym typeface="Calibri"/>
              </a:rPr>
              <a:t>Medir la combinación recomendada</a:t>
            </a:r>
            <a:endParaRPr/>
          </a:p>
        </p:txBody>
      </p:sp>
      <p:sp>
        <p:nvSpPr>
          <p:cNvPr id="647" name="Google Shape;647;p31"/>
          <p:cNvSpPr txBox="1"/>
          <p:nvPr/>
        </p:nvSpPr>
        <p:spPr>
          <a:xfrm>
            <a:off x="7132320" y="3355848"/>
            <a:ext cx="4434840" cy="566928"/>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0" i="0" lang="en-US" sz="1300" u="none" cap="none" strike="noStrike">
                <a:solidFill>
                  <a:srgbClr val="262626"/>
                </a:solidFill>
                <a:latin typeface="Calibri"/>
                <a:ea typeface="Calibri"/>
                <a:cs typeface="Calibri"/>
                <a:sym typeface="Calibri"/>
              </a:rPr>
              <a:t>Filtrado + delimitación + mínimo privilegio como configuración propia.</a:t>
            </a:r>
            <a:endParaRPr/>
          </a:p>
        </p:txBody>
      </p:sp>
      <p:sp>
        <p:nvSpPr>
          <p:cNvPr id="648" name="Google Shape;648;p31"/>
          <p:cNvSpPr/>
          <p:nvPr/>
        </p:nvSpPr>
        <p:spPr>
          <a:xfrm>
            <a:off x="6309360" y="4069080"/>
            <a:ext cx="5330952" cy="1078992"/>
          </a:xfrm>
          <a:prstGeom prst="roundRect">
            <a:avLst>
              <a:gd fmla="val 6000" name="adj"/>
            </a:avLst>
          </a:prstGeom>
          <a:solidFill>
            <a:srgbClr val="F2F2F2"/>
          </a:solidFill>
          <a:ln>
            <a:noFill/>
          </a:ln>
        </p:spPr>
        <p:txBody>
          <a:bodyPr anchorCtr="0" anchor="ctr" bIns="36575" lIns="91425" spcFirstLastPara="1" rIns="91425" wrap="square" tIns="36575">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49" name="Google Shape;649;p31"/>
          <p:cNvSpPr/>
          <p:nvPr/>
        </p:nvSpPr>
        <p:spPr>
          <a:xfrm>
            <a:off x="6446520" y="4343400"/>
            <a:ext cx="530352" cy="530352"/>
          </a:xfrm>
          <a:prstGeom prst="ellipse">
            <a:avLst/>
          </a:prstGeom>
          <a:solidFill>
            <a:srgbClr val="7B1C2E"/>
          </a:solidFill>
          <a:ln>
            <a:noFill/>
          </a:ln>
        </p:spPr>
        <p:txBody>
          <a:bodyPr anchorCtr="0" anchor="ctr" bIns="36575" lIns="91425" spcFirstLastPara="1" rIns="91425" wrap="square" tIns="36575">
            <a:noAutofit/>
          </a:bodyPr>
          <a:lstStyle/>
          <a:p>
            <a:pPr indent="0" lvl="0" marL="0" marR="0" rtl="0" algn="ctr">
              <a:spcBef>
                <a:spcPts val="0"/>
              </a:spcBef>
              <a:spcAft>
                <a:spcPts val="0"/>
              </a:spcAft>
              <a:buNone/>
            </a:pPr>
            <a:r>
              <a:rPr b="1" i="0" lang="en-US" sz="1600" u="none" cap="none" strike="noStrike">
                <a:solidFill>
                  <a:srgbClr val="FFFFFF"/>
                </a:solidFill>
                <a:latin typeface="Calibri"/>
                <a:ea typeface="Calibri"/>
                <a:cs typeface="Calibri"/>
                <a:sym typeface="Calibri"/>
              </a:rPr>
              <a:t>3</a:t>
            </a:r>
            <a:endParaRPr/>
          </a:p>
        </p:txBody>
      </p:sp>
      <p:sp>
        <p:nvSpPr>
          <p:cNvPr id="650" name="Google Shape;650;p31"/>
          <p:cNvSpPr txBox="1"/>
          <p:nvPr/>
        </p:nvSpPr>
        <p:spPr>
          <a:xfrm>
            <a:off x="7132320" y="4160520"/>
            <a:ext cx="4434840" cy="36576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1500" u="none" cap="none" strike="noStrike">
                <a:solidFill>
                  <a:srgbClr val="4A1020"/>
                </a:solidFill>
                <a:latin typeface="Calibri"/>
                <a:ea typeface="Calibri"/>
                <a:cs typeface="Calibri"/>
                <a:sym typeface="Calibri"/>
              </a:rPr>
              <a:t>Probar un modelo menos alineado</a:t>
            </a:r>
            <a:endParaRPr/>
          </a:p>
        </p:txBody>
      </p:sp>
      <p:sp>
        <p:nvSpPr>
          <p:cNvPr id="651" name="Google Shape;651;p31"/>
          <p:cNvSpPr txBox="1"/>
          <p:nvPr/>
        </p:nvSpPr>
        <p:spPr>
          <a:xfrm>
            <a:off x="7132320" y="4544568"/>
            <a:ext cx="4434840" cy="566928"/>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0" i="0" lang="en-US" sz="1300" u="none" cap="none" strike="noStrike">
                <a:solidFill>
                  <a:srgbClr val="262626"/>
                </a:solidFill>
                <a:latin typeface="Calibri"/>
                <a:ea typeface="Calibri"/>
                <a:cs typeface="Calibri"/>
                <a:sym typeface="Calibri"/>
              </a:rPr>
              <a:t>Saber si el clasificador aporta cuando el modelo base no se defiende solo.</a:t>
            </a:r>
            <a:endParaRPr/>
          </a:p>
        </p:txBody>
      </p:sp>
      <p:sp>
        <p:nvSpPr>
          <p:cNvPr id="652" name="Google Shape;652;p31"/>
          <p:cNvSpPr/>
          <p:nvPr/>
        </p:nvSpPr>
        <p:spPr>
          <a:xfrm>
            <a:off x="6309360" y="5257800"/>
            <a:ext cx="5330952" cy="1078992"/>
          </a:xfrm>
          <a:prstGeom prst="roundRect">
            <a:avLst>
              <a:gd fmla="val 6000" name="adj"/>
            </a:avLst>
          </a:prstGeom>
          <a:solidFill>
            <a:srgbClr val="F2F2F2"/>
          </a:solidFill>
          <a:ln>
            <a:noFill/>
          </a:ln>
        </p:spPr>
        <p:txBody>
          <a:bodyPr anchorCtr="0" anchor="ctr" bIns="36575" lIns="91425" spcFirstLastPara="1" rIns="91425" wrap="square" tIns="36575">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53" name="Google Shape;653;p31"/>
          <p:cNvSpPr/>
          <p:nvPr/>
        </p:nvSpPr>
        <p:spPr>
          <a:xfrm>
            <a:off x="6446520" y="5532120"/>
            <a:ext cx="530352" cy="530352"/>
          </a:xfrm>
          <a:prstGeom prst="ellipse">
            <a:avLst/>
          </a:prstGeom>
          <a:solidFill>
            <a:srgbClr val="7B1C2E"/>
          </a:solidFill>
          <a:ln>
            <a:noFill/>
          </a:ln>
        </p:spPr>
        <p:txBody>
          <a:bodyPr anchorCtr="0" anchor="ctr" bIns="36575" lIns="91425" spcFirstLastPara="1" rIns="91425" wrap="square" tIns="36575">
            <a:noAutofit/>
          </a:bodyPr>
          <a:lstStyle/>
          <a:p>
            <a:pPr indent="0" lvl="0" marL="0" marR="0" rtl="0" algn="ctr">
              <a:spcBef>
                <a:spcPts val="0"/>
              </a:spcBef>
              <a:spcAft>
                <a:spcPts val="0"/>
              </a:spcAft>
              <a:buNone/>
            </a:pPr>
            <a:r>
              <a:rPr b="1" i="0" lang="en-US" sz="1600" u="none" cap="none" strike="noStrike">
                <a:solidFill>
                  <a:srgbClr val="FFFFFF"/>
                </a:solidFill>
                <a:latin typeface="Calibri"/>
                <a:ea typeface="Calibri"/>
                <a:cs typeface="Calibri"/>
                <a:sym typeface="Calibri"/>
              </a:rPr>
              <a:t>4</a:t>
            </a:r>
            <a:endParaRPr/>
          </a:p>
        </p:txBody>
      </p:sp>
      <p:sp>
        <p:nvSpPr>
          <p:cNvPr id="654" name="Google Shape;654;p31"/>
          <p:cNvSpPr txBox="1"/>
          <p:nvPr/>
        </p:nvSpPr>
        <p:spPr>
          <a:xfrm>
            <a:off x="7132320" y="5349240"/>
            <a:ext cx="4434840" cy="36576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1500" u="none" cap="none" strike="noStrike">
                <a:solidFill>
                  <a:srgbClr val="4A1020"/>
                </a:solidFill>
                <a:latin typeface="Calibri"/>
                <a:ea typeface="Calibri"/>
                <a:cs typeface="Calibri"/>
                <a:sym typeface="Calibri"/>
              </a:rPr>
              <a:t>Confirmar fp16 contra fp32</a:t>
            </a:r>
            <a:endParaRPr/>
          </a:p>
        </p:txBody>
      </p:sp>
      <p:sp>
        <p:nvSpPr>
          <p:cNvPr id="655" name="Google Shape;655;p31"/>
          <p:cNvSpPr txBox="1"/>
          <p:nvPr/>
        </p:nvSpPr>
        <p:spPr>
          <a:xfrm>
            <a:off x="7132320" y="5733288"/>
            <a:ext cx="4434840" cy="566928"/>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0" i="0" lang="en-US" sz="1300" u="none" cap="none" strike="noStrike">
                <a:solidFill>
                  <a:srgbClr val="262626"/>
                </a:solidFill>
                <a:latin typeface="Calibri"/>
                <a:ea typeface="Calibri"/>
                <a:cs typeface="Calibri"/>
                <a:sym typeface="Calibri"/>
              </a:rPr>
              <a:t>En una sola sesión, para atribuir la mejora del p95.</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0" name="Shape 660"/>
        <p:cNvGrpSpPr/>
        <p:nvPr/>
      </p:nvGrpSpPr>
      <p:grpSpPr>
        <a:xfrm>
          <a:off x="0" y="0"/>
          <a:ext cx="0" cy="0"/>
          <a:chOff x="0" y="0"/>
          <a:chExt cx="0" cy="0"/>
        </a:xfrm>
      </p:grpSpPr>
      <p:sp>
        <p:nvSpPr>
          <p:cNvPr id="661" name="Google Shape;661;p32"/>
          <p:cNvSpPr txBox="1"/>
          <p:nvPr>
            <p:ph type="title"/>
          </p:nvPr>
        </p:nvSpPr>
        <p:spPr>
          <a:xfrm>
            <a:off x="1371600" y="457200"/>
            <a:ext cx="8869800" cy="6402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4A1020"/>
              </a:buClr>
              <a:buSzPts val="2800"/>
              <a:buFont typeface="Calibri"/>
              <a:buNone/>
            </a:pPr>
            <a:r>
              <a:rPr lang="en-US" sz="2800">
                <a:solidFill>
                  <a:srgbClr val="4A1020"/>
                </a:solidFill>
              </a:rPr>
              <a:t>Referencias</a:t>
            </a:r>
            <a:endParaRPr/>
          </a:p>
        </p:txBody>
      </p:sp>
      <p:pic>
        <p:nvPicPr>
          <p:cNvPr descr="ironveil_v6.png" id="662" name="Google Shape;662;p32"/>
          <p:cNvPicPr preferRelativeResize="0"/>
          <p:nvPr/>
        </p:nvPicPr>
        <p:blipFill rotWithShape="1">
          <a:blip r:embed="rId3">
            <a:alphaModFix/>
          </a:blip>
          <a:srcRect b="0" l="0" r="0" t="0"/>
          <a:stretch/>
        </p:blipFill>
        <p:spPr>
          <a:xfrm>
            <a:off x="502920" y="274320"/>
            <a:ext cx="822961" cy="822961"/>
          </a:xfrm>
          <a:prstGeom prst="rect">
            <a:avLst/>
          </a:prstGeom>
          <a:noFill/>
          <a:ln>
            <a:noFill/>
          </a:ln>
        </p:spPr>
      </p:pic>
      <p:sp>
        <p:nvSpPr>
          <p:cNvPr id="663" name="Google Shape;663;p32"/>
          <p:cNvSpPr txBox="1"/>
          <p:nvPr/>
        </p:nvSpPr>
        <p:spPr>
          <a:xfrm>
            <a:off x="1371600" y="246888"/>
            <a:ext cx="8229600" cy="274200"/>
          </a:xfrm>
          <a:prstGeom prst="rect">
            <a:avLst/>
          </a:prstGeom>
          <a:noFill/>
          <a:ln>
            <a:noFill/>
          </a:ln>
        </p:spPr>
        <p:txBody>
          <a:bodyPr anchorCtr="0" anchor="t" bIns="27425" lIns="45700" spcFirstLastPara="1" rIns="45700" wrap="square" tIns="27425">
            <a:noAutofit/>
          </a:bodyPr>
          <a:lstStyle/>
          <a:p>
            <a:pPr indent="0" lvl="0" marL="0" marR="0" rtl="0" algn="l">
              <a:spcBef>
                <a:spcPts val="0"/>
              </a:spcBef>
              <a:spcAft>
                <a:spcPts val="0"/>
              </a:spcAft>
              <a:buNone/>
            </a:pPr>
            <a:r>
              <a:rPr b="1" lang="en-US" sz="1100">
                <a:solidFill>
                  <a:srgbClr val="7B1C2E"/>
                </a:solidFill>
                <a:latin typeface="Calibri"/>
                <a:ea typeface="Calibri"/>
                <a:cs typeface="Calibri"/>
                <a:sym typeface="Calibri"/>
              </a:rPr>
              <a:t>10 · REFERENCIAS</a:t>
            </a:r>
            <a:endParaRPr/>
          </a:p>
        </p:txBody>
      </p:sp>
      <p:cxnSp>
        <p:nvCxnSpPr>
          <p:cNvPr id="664" name="Google Shape;664;p32"/>
          <p:cNvCxnSpPr/>
          <p:nvPr/>
        </p:nvCxnSpPr>
        <p:spPr>
          <a:xfrm>
            <a:off x="548640" y="1188720"/>
            <a:ext cx="11091600" cy="0"/>
          </a:xfrm>
          <a:prstGeom prst="straightConnector1">
            <a:avLst/>
          </a:prstGeom>
          <a:noFill/>
          <a:ln cap="flat" cmpd="sng" w="25400">
            <a:solidFill>
              <a:srgbClr val="7B1C2E"/>
            </a:solidFill>
            <a:prstDash val="solid"/>
            <a:miter lim="8000"/>
            <a:headEnd len="sm" w="sm" type="none"/>
            <a:tailEnd len="sm" w="sm" type="none"/>
          </a:ln>
        </p:spPr>
      </p:cxnSp>
      <p:sp>
        <p:nvSpPr>
          <p:cNvPr id="665" name="Google Shape;665;p32"/>
          <p:cNvSpPr/>
          <p:nvPr/>
        </p:nvSpPr>
        <p:spPr>
          <a:xfrm>
            <a:off x="0" y="6510528"/>
            <a:ext cx="12191700" cy="347400"/>
          </a:xfrm>
          <a:prstGeom prst="rect">
            <a:avLst/>
          </a:prstGeom>
          <a:solidFill>
            <a:srgbClr val="7B1C2E"/>
          </a:solidFill>
          <a:ln>
            <a:noFill/>
          </a:ln>
        </p:spPr>
        <p:txBody>
          <a:bodyPr anchorCtr="0" anchor="ctr" bIns="36575" lIns="91425" spcFirstLastPara="1" rIns="91425" wrap="square" tIns="36575">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ronveil_v6_inv.png" id="666" name="Google Shape;666;p32"/>
          <p:cNvPicPr preferRelativeResize="0"/>
          <p:nvPr/>
        </p:nvPicPr>
        <p:blipFill rotWithShape="1">
          <a:blip r:embed="rId4">
            <a:alphaModFix/>
          </a:blip>
          <a:srcRect b="0" l="0" r="0" t="0"/>
          <a:stretch/>
        </p:blipFill>
        <p:spPr>
          <a:xfrm>
            <a:off x="457200" y="6537960"/>
            <a:ext cx="292608" cy="292608"/>
          </a:xfrm>
          <a:prstGeom prst="rect">
            <a:avLst/>
          </a:prstGeom>
          <a:noFill/>
          <a:ln>
            <a:noFill/>
          </a:ln>
        </p:spPr>
      </p:pic>
      <p:sp>
        <p:nvSpPr>
          <p:cNvPr id="667" name="Google Shape;667;p32"/>
          <p:cNvSpPr txBox="1"/>
          <p:nvPr/>
        </p:nvSpPr>
        <p:spPr>
          <a:xfrm>
            <a:off x="822960" y="6528816"/>
            <a:ext cx="5486400" cy="310800"/>
          </a:xfrm>
          <a:prstGeom prst="rect">
            <a:avLst/>
          </a:prstGeom>
          <a:noFill/>
          <a:ln>
            <a:noFill/>
          </a:ln>
        </p:spPr>
        <p:txBody>
          <a:bodyPr anchorCtr="0" anchor="ctr" bIns="27425" lIns="45700" spcFirstLastPara="1" rIns="45700" wrap="square" tIns="27425">
            <a:noAutofit/>
          </a:bodyPr>
          <a:lstStyle/>
          <a:p>
            <a:pPr indent="0" lvl="0" marL="0" marR="0" rtl="0" algn="l">
              <a:spcBef>
                <a:spcPts val="0"/>
              </a:spcBef>
              <a:spcAft>
                <a:spcPts val="0"/>
              </a:spcAft>
              <a:buNone/>
            </a:pPr>
            <a:r>
              <a:rPr b="1" lang="en-US" sz="1050">
                <a:solidFill>
                  <a:srgbClr val="F2F2F2"/>
                </a:solidFill>
                <a:latin typeface="Calibri"/>
                <a:ea typeface="Calibri"/>
                <a:cs typeface="Calibri"/>
                <a:sym typeface="Calibri"/>
              </a:rPr>
              <a:t>IronVeil · Framework de defensa para LLMs autoalojados</a:t>
            </a:r>
            <a:endParaRPr/>
          </a:p>
        </p:txBody>
      </p:sp>
      <p:sp>
        <p:nvSpPr>
          <p:cNvPr id="668" name="Google Shape;668;p32"/>
          <p:cNvSpPr txBox="1"/>
          <p:nvPr/>
        </p:nvSpPr>
        <p:spPr>
          <a:xfrm>
            <a:off x="6217920" y="6528816"/>
            <a:ext cx="5303400" cy="310800"/>
          </a:xfrm>
          <a:prstGeom prst="rect">
            <a:avLst/>
          </a:prstGeom>
          <a:noFill/>
          <a:ln>
            <a:noFill/>
          </a:ln>
        </p:spPr>
        <p:txBody>
          <a:bodyPr anchorCtr="0" anchor="ctr" bIns="27425" lIns="45700" spcFirstLastPara="1" rIns="45700" wrap="square" tIns="27425">
            <a:noAutofit/>
          </a:bodyPr>
          <a:lstStyle/>
          <a:p>
            <a:pPr indent="0" lvl="0" marL="0" marR="0" rtl="0" algn="r">
              <a:spcBef>
                <a:spcPts val="0"/>
              </a:spcBef>
              <a:spcAft>
                <a:spcPts val="0"/>
              </a:spcAft>
              <a:buNone/>
            </a:pPr>
            <a:r>
              <a:rPr b="0" i="0" lang="en-US" sz="1050" u="none" cap="none" strike="noStrike">
                <a:solidFill>
                  <a:srgbClr val="D9D9D9"/>
                </a:solidFill>
                <a:latin typeface="Calibri"/>
                <a:ea typeface="Calibri"/>
                <a:cs typeface="Calibri"/>
                <a:sym typeface="Calibri"/>
              </a:rPr>
              <a:t>Escuela Colombiana de Ingeniería Julio Garavito · 2026</a:t>
            </a:r>
            <a:endParaRPr/>
          </a:p>
        </p:txBody>
      </p:sp>
      <p:sp>
        <p:nvSpPr>
          <p:cNvPr id="669" name="Google Shape;669;p32"/>
          <p:cNvSpPr txBox="1"/>
          <p:nvPr/>
        </p:nvSpPr>
        <p:spPr>
          <a:xfrm>
            <a:off x="11475720" y="6528816"/>
            <a:ext cx="548700" cy="310800"/>
          </a:xfrm>
          <a:prstGeom prst="rect">
            <a:avLst/>
          </a:prstGeom>
          <a:noFill/>
          <a:ln>
            <a:noFill/>
          </a:ln>
        </p:spPr>
        <p:txBody>
          <a:bodyPr anchorCtr="0" anchor="ctr" bIns="27425" lIns="45700" spcFirstLastPara="1" rIns="45700" wrap="square" tIns="27425">
            <a:noAutofit/>
          </a:bodyPr>
          <a:lstStyle/>
          <a:p>
            <a:pPr indent="0" lvl="0" marL="0" marR="0" rtl="0" algn="r">
              <a:spcBef>
                <a:spcPts val="0"/>
              </a:spcBef>
              <a:spcAft>
                <a:spcPts val="0"/>
              </a:spcAft>
              <a:buNone/>
            </a:pPr>
            <a:r>
              <a:rPr b="1" lang="en-US" sz="1100">
                <a:solidFill>
                  <a:srgbClr val="FFFFFF"/>
                </a:solidFill>
                <a:latin typeface="Calibri"/>
                <a:ea typeface="Calibri"/>
                <a:cs typeface="Calibri"/>
                <a:sym typeface="Calibri"/>
              </a:rPr>
              <a:t>18</a:t>
            </a:r>
            <a:endParaRPr b="1" sz="1100">
              <a:solidFill>
                <a:srgbClr val="FFFFFF"/>
              </a:solidFill>
              <a:latin typeface="Calibri"/>
              <a:ea typeface="Calibri"/>
              <a:cs typeface="Calibri"/>
              <a:sym typeface="Calibri"/>
            </a:endParaRPr>
          </a:p>
        </p:txBody>
      </p:sp>
      <p:graphicFrame>
        <p:nvGraphicFramePr>
          <p:cNvPr id="670" name="Google Shape;670;p32"/>
          <p:cNvGraphicFramePr/>
          <p:nvPr/>
        </p:nvGraphicFramePr>
        <p:xfrm>
          <a:off x="548640" y="1325880"/>
          <a:ext cx="3000000" cy="3000000"/>
        </p:xfrm>
        <a:graphic>
          <a:graphicData uri="http://schemas.openxmlformats.org/drawingml/2006/table">
            <a:tbl>
              <a:tblPr>
                <a:noFill/>
                <a:tableStyleId>{6BB7EA19-134A-4353-B84C-D1BC6A298CFA}</a:tableStyleId>
              </a:tblPr>
              <a:tblGrid>
                <a:gridCol w="4400000"/>
                <a:gridCol w="6694700"/>
              </a:tblGrid>
              <a:tr h="380000">
                <a:tc>
                  <a:txBody>
                    <a:bodyPr/>
                    <a:lstStyle/>
                    <a:p>
                      <a:pPr indent="0" lvl="0" marL="0" rtl="0" algn="l">
                        <a:spcBef>
                          <a:spcPts val="0"/>
                        </a:spcBef>
                        <a:spcAft>
                          <a:spcPts val="0"/>
                        </a:spcAft>
                        <a:buNone/>
                      </a:pPr>
                      <a:r>
                        <a:rPr b="1" lang="en-US" sz="1100">
                          <a:solidFill>
                            <a:srgbClr val="FFFFFF"/>
                          </a:solidFill>
                        </a:rPr>
                        <a:t>Cita en la presentación</a:t>
                      </a:r>
                      <a:endParaRPr b="1" sz="1100">
                        <a:solidFill>
                          <a:srgbClr val="FFFFFF"/>
                        </a:solidFill>
                      </a:endParaRPr>
                    </a:p>
                  </a:txBody>
                  <a:tcPr marT="91425" marB="91425" marR="91425" marL="91425">
                    <a:solidFill>
                      <a:srgbClr val="4A1020"/>
                    </a:solidFill>
                  </a:tcPr>
                </a:tc>
                <a:tc>
                  <a:txBody>
                    <a:bodyPr/>
                    <a:lstStyle/>
                    <a:p>
                      <a:pPr indent="0" lvl="0" marL="0" rtl="0" algn="l">
                        <a:spcBef>
                          <a:spcPts val="0"/>
                        </a:spcBef>
                        <a:spcAft>
                          <a:spcPts val="0"/>
                        </a:spcAft>
                        <a:buNone/>
                      </a:pPr>
                      <a:r>
                        <a:rPr b="1" lang="en-US" sz="1100">
                          <a:solidFill>
                            <a:srgbClr val="FFFFFF"/>
                          </a:solidFill>
                        </a:rPr>
                        <a:t>Fuente (completar el enlace antes de presentar)</a:t>
                      </a:r>
                      <a:endParaRPr b="1" sz="1100">
                        <a:solidFill>
                          <a:srgbClr val="FFFFFF"/>
                        </a:solidFill>
                      </a:endParaRPr>
                    </a:p>
                  </a:txBody>
                  <a:tcPr marT="91425" marB="91425" marR="91425" marL="91425">
                    <a:solidFill>
                      <a:srgbClr val="4A1020"/>
                    </a:solidFill>
                  </a:tcPr>
                </a:tc>
              </a:tr>
              <a:tr h="380000">
                <a:tc>
                  <a:txBody>
                    <a:bodyPr/>
                    <a:lstStyle/>
                    <a:p>
                      <a:pPr indent="0" lvl="0" marL="0" rtl="0" algn="l">
                        <a:spcBef>
                          <a:spcPts val="0"/>
                        </a:spcBef>
                        <a:spcAft>
                          <a:spcPts val="0"/>
                        </a:spcAft>
                        <a:buNone/>
                      </a:pPr>
                      <a:r>
                        <a:rPr b="1" lang="en-US" sz="1100">
                          <a:solidFill>
                            <a:srgbClr val="7B1C2E"/>
                          </a:solidFill>
                        </a:rPr>
                        <a:t>Servidores Ollama expuestos (≈ 175 000, 130 países)</a:t>
                      </a:r>
                      <a:endParaRPr b="1" sz="1100">
                        <a:solidFill>
                          <a:srgbClr val="7B1C2E"/>
                        </a:solidFill>
                      </a:endParaRPr>
                    </a:p>
                  </a:txBody>
                  <a:tcPr marT="91425" marB="91425" marR="91425" marL="91425"/>
                </a:tc>
                <a:tc>
                  <a:txBody>
                    <a:bodyPr/>
                    <a:lstStyle/>
                    <a:p>
                      <a:pPr indent="0" lvl="0" marL="0" rtl="0" algn="l">
                        <a:spcBef>
                          <a:spcPts val="0"/>
                        </a:spcBef>
                        <a:spcAft>
                          <a:spcPts val="0"/>
                        </a:spcAft>
                        <a:buNone/>
                      </a:pPr>
                      <a:r>
                        <a:rPr lang="en-US" sz="1100">
                          <a:solidFill>
                            <a:srgbClr val="262626"/>
                          </a:solidFill>
                        </a:rPr>
                        <a:t>SentinelLabs y Censys, 2026. Pendiente: título y enlace.</a:t>
                      </a:r>
                      <a:endParaRPr sz="1100">
                        <a:solidFill>
                          <a:srgbClr val="262626"/>
                        </a:solidFill>
                      </a:endParaRPr>
                    </a:p>
                  </a:txBody>
                  <a:tcPr marT="91425" marB="91425" marR="91425" marL="91425"/>
                </a:tc>
              </a:tr>
              <a:tr h="380000">
                <a:tc>
                  <a:txBody>
                    <a:bodyPr/>
                    <a:lstStyle/>
                    <a:p>
                      <a:pPr indent="0" lvl="0" marL="0" rtl="0" algn="l">
                        <a:spcBef>
                          <a:spcPts val="0"/>
                        </a:spcBef>
                        <a:spcAft>
                          <a:spcPts val="0"/>
                        </a:spcAft>
                        <a:buNone/>
                      </a:pPr>
                      <a:r>
                        <a:rPr b="1" lang="en-US" sz="1100">
                          <a:solidFill>
                            <a:srgbClr val="7B1C2E"/>
                          </a:solidFill>
                        </a:rPr>
                        <a:t>Bleeding Llama, CVE-2026-7482 (≈ 300 000; CVSS 9,1)</a:t>
                      </a:r>
                      <a:endParaRPr b="1" sz="1100">
                        <a:solidFill>
                          <a:srgbClr val="7B1C2E"/>
                        </a:solidFill>
                      </a:endParaRPr>
                    </a:p>
                  </a:txBody>
                  <a:tcPr marT="91425" marB="91425" marR="91425" marL="91425"/>
                </a:tc>
                <a:tc>
                  <a:txBody>
                    <a:bodyPr/>
                    <a:lstStyle/>
                    <a:p>
                      <a:pPr indent="0" lvl="0" marL="0" rtl="0" algn="l">
                        <a:spcBef>
                          <a:spcPts val="0"/>
                        </a:spcBef>
                        <a:spcAft>
                          <a:spcPts val="0"/>
                        </a:spcAft>
                        <a:buNone/>
                      </a:pPr>
                      <a:r>
                        <a:rPr lang="en-US" sz="1100">
                          <a:solidFill>
                            <a:srgbClr val="262626"/>
                          </a:solidFill>
                        </a:rPr>
                        <a:t>Cyera, 2026. Pendiente: título y enlace; confirmar el CVSS.</a:t>
                      </a:r>
                      <a:endParaRPr sz="1100">
                        <a:solidFill>
                          <a:srgbClr val="262626"/>
                        </a:solidFill>
                      </a:endParaRPr>
                    </a:p>
                  </a:txBody>
                  <a:tcPr marT="91425" marB="91425" marR="91425" marL="91425"/>
                </a:tc>
              </a:tr>
              <a:tr h="380000">
                <a:tc>
                  <a:txBody>
                    <a:bodyPr/>
                    <a:lstStyle/>
                    <a:p>
                      <a:pPr indent="0" lvl="0" marL="0" rtl="0" algn="l">
                        <a:spcBef>
                          <a:spcPts val="0"/>
                        </a:spcBef>
                        <a:spcAft>
                          <a:spcPts val="0"/>
                        </a:spcAft>
                        <a:buNone/>
                      </a:pPr>
                      <a:r>
                        <a:rPr b="1" lang="en-US" sz="1100">
                          <a:solidFill>
                            <a:srgbClr val="7B1C2E"/>
                          </a:solidFill>
                        </a:rPr>
                        <a:t>Revisión de 128 estudios (preprocesamiento detecta 60 a 80 %)</a:t>
                      </a:r>
                      <a:endParaRPr b="1" sz="1100">
                        <a:solidFill>
                          <a:srgbClr val="7B1C2E"/>
                        </a:solidFill>
                      </a:endParaRPr>
                    </a:p>
                  </a:txBody>
                  <a:tcPr marT="91425" marB="91425" marR="91425" marL="91425"/>
                </a:tc>
                <a:tc>
                  <a:txBody>
                    <a:bodyPr/>
                    <a:lstStyle/>
                    <a:p>
                      <a:pPr indent="0" lvl="0" marL="0" rtl="0" algn="l">
                        <a:spcBef>
                          <a:spcPts val="0"/>
                        </a:spcBef>
                        <a:spcAft>
                          <a:spcPts val="0"/>
                        </a:spcAft>
                        <a:buNone/>
                      </a:pPr>
                      <a:r>
                        <a:rPr lang="en-US" sz="1100">
                          <a:solidFill>
                            <a:srgbClr val="262626"/>
                          </a:solidFill>
                        </a:rPr>
                        <a:t>Geng et al., 2026. Pendiente: título y enlace.</a:t>
                      </a:r>
                      <a:endParaRPr sz="1100">
                        <a:solidFill>
                          <a:srgbClr val="262626"/>
                        </a:solidFill>
                      </a:endParaRPr>
                    </a:p>
                  </a:txBody>
                  <a:tcPr marT="91425" marB="91425" marR="91425" marL="91425"/>
                </a:tc>
              </a:tr>
              <a:tr h="380000">
                <a:tc>
                  <a:txBody>
                    <a:bodyPr/>
                    <a:lstStyle/>
                    <a:p>
                      <a:pPr indent="0" lvl="0" marL="0" rtl="0" algn="l">
                        <a:spcBef>
                          <a:spcPts val="0"/>
                        </a:spcBef>
                        <a:spcAft>
                          <a:spcPts val="0"/>
                        </a:spcAft>
                        <a:buNone/>
                      </a:pPr>
                      <a:r>
                        <a:rPr b="1" lang="en-US" sz="1100">
                          <a:solidFill>
                            <a:srgbClr val="7B1C2E"/>
                          </a:solidFill>
                        </a:rPr>
                        <a:t>Delimitación (spotlighting)</a:t>
                      </a:r>
                      <a:endParaRPr b="1" sz="1100">
                        <a:solidFill>
                          <a:srgbClr val="7B1C2E"/>
                        </a:solidFill>
                      </a:endParaRPr>
                    </a:p>
                  </a:txBody>
                  <a:tcPr marT="91425" marB="91425" marR="91425" marL="91425"/>
                </a:tc>
                <a:tc>
                  <a:txBody>
                    <a:bodyPr/>
                    <a:lstStyle/>
                    <a:p>
                      <a:pPr indent="0" lvl="0" marL="0" rtl="0" algn="l">
                        <a:spcBef>
                          <a:spcPts val="0"/>
                        </a:spcBef>
                        <a:spcAft>
                          <a:spcPts val="0"/>
                        </a:spcAft>
                        <a:buNone/>
                      </a:pPr>
                      <a:r>
                        <a:rPr lang="en-US" sz="1100">
                          <a:solidFill>
                            <a:srgbClr val="262626"/>
                          </a:solidFill>
                        </a:rPr>
                        <a:t>Hines et al., 2024, «Defending Against Indirect Prompt Injection Attacks With Spotlighting». Verificar enlace.</a:t>
                      </a:r>
                      <a:endParaRPr sz="1100">
                        <a:solidFill>
                          <a:srgbClr val="262626"/>
                        </a:solidFill>
                      </a:endParaRPr>
                    </a:p>
                  </a:txBody>
                  <a:tcPr marT="91425" marB="91425" marR="91425" marL="91425"/>
                </a:tc>
              </a:tr>
              <a:tr h="380000">
                <a:tc>
                  <a:txBody>
                    <a:bodyPr/>
                    <a:lstStyle/>
                    <a:p>
                      <a:pPr indent="0" lvl="0" marL="0" rtl="0" algn="l">
                        <a:spcBef>
                          <a:spcPts val="0"/>
                        </a:spcBef>
                        <a:spcAft>
                          <a:spcPts val="0"/>
                        </a:spcAft>
                        <a:buNone/>
                      </a:pPr>
                      <a:r>
                        <a:rPr b="1" lang="en-US" sz="1100">
                          <a:solidFill>
                            <a:srgbClr val="7B1C2E"/>
                          </a:solidFill>
                        </a:rPr>
                        <a:t>«Bloquear el 100 % es imposible»; aprobación humana</a:t>
                      </a:r>
                      <a:endParaRPr b="1" sz="1100">
                        <a:solidFill>
                          <a:srgbClr val="7B1C2E"/>
                        </a:solidFill>
                      </a:endParaRPr>
                    </a:p>
                  </a:txBody>
                  <a:tcPr marT="91425" marB="91425" marR="91425" marL="91425"/>
                </a:tc>
                <a:tc>
                  <a:txBody>
                    <a:bodyPr/>
                    <a:lstStyle/>
                    <a:p>
                      <a:pPr indent="0" lvl="0" marL="0" rtl="0" algn="l">
                        <a:spcBef>
                          <a:spcPts val="0"/>
                        </a:spcBef>
                        <a:spcAft>
                          <a:spcPts val="0"/>
                        </a:spcAft>
                        <a:buNone/>
                      </a:pPr>
                      <a:r>
                        <a:rPr lang="en-US" sz="1100">
                          <a:solidFill>
                            <a:srgbClr val="262626"/>
                          </a:solidFill>
                        </a:rPr>
                        <a:t>Unit 42 (Palo Alto Networks). Pendiente: título y enlace.</a:t>
                      </a:r>
                      <a:endParaRPr sz="1100">
                        <a:solidFill>
                          <a:srgbClr val="262626"/>
                        </a:solidFill>
                      </a:endParaRPr>
                    </a:p>
                  </a:txBody>
                  <a:tcPr marT="91425" marB="91425" marR="91425" marL="91425"/>
                </a:tc>
              </a:tr>
              <a:tr h="380000">
                <a:tc>
                  <a:txBody>
                    <a:bodyPr/>
                    <a:lstStyle/>
                    <a:p>
                      <a:pPr indent="0" lvl="0" marL="0" rtl="0" algn="l">
                        <a:spcBef>
                          <a:spcPts val="0"/>
                        </a:spcBef>
                        <a:spcAft>
                          <a:spcPts val="0"/>
                        </a:spcAft>
                        <a:buNone/>
                      </a:pPr>
                      <a:r>
                        <a:rPr b="1" lang="en-US" sz="1100">
                          <a:solidFill>
                            <a:srgbClr val="7B1C2E"/>
                          </a:solidFill>
                        </a:rPr>
                        <a:t>Garak 0.17.0 (339 ataques)</a:t>
                      </a:r>
                      <a:endParaRPr b="1" sz="1100">
                        <a:solidFill>
                          <a:srgbClr val="7B1C2E"/>
                        </a:solidFill>
                      </a:endParaRPr>
                    </a:p>
                  </a:txBody>
                  <a:tcPr marT="91425" marB="91425" marR="91425" marL="91425"/>
                </a:tc>
                <a:tc>
                  <a:txBody>
                    <a:bodyPr/>
                    <a:lstStyle/>
                    <a:p>
                      <a:pPr indent="0" lvl="0" marL="0" rtl="0" algn="l">
                        <a:spcBef>
                          <a:spcPts val="0"/>
                        </a:spcBef>
                        <a:spcAft>
                          <a:spcPts val="0"/>
                        </a:spcAft>
                        <a:buNone/>
                      </a:pPr>
                      <a:r>
                        <a:rPr lang="en-US" sz="1100">
                          <a:solidFill>
                            <a:srgbClr val="262626"/>
                          </a:solidFill>
                        </a:rPr>
                        <a:t>Derczynski et al., 2024, «garak: A Framework for Security Probing Large Language Models». Verificar enlace y versión.</a:t>
                      </a:r>
                      <a:endParaRPr sz="1100">
                        <a:solidFill>
                          <a:srgbClr val="262626"/>
                        </a:solidFill>
                      </a:endParaRPr>
                    </a:p>
                  </a:txBody>
                  <a:tcPr marT="91425" marB="91425" marR="91425" marL="91425"/>
                </a:tc>
              </a:tr>
              <a:tr h="380000">
                <a:tc>
                  <a:txBody>
                    <a:bodyPr/>
                    <a:lstStyle/>
                    <a:p>
                      <a:pPr indent="0" lvl="0" marL="0" rtl="0" algn="l">
                        <a:spcBef>
                          <a:spcPts val="0"/>
                        </a:spcBef>
                        <a:spcAft>
                          <a:spcPts val="0"/>
                        </a:spcAft>
                        <a:buNone/>
                      </a:pPr>
                      <a:r>
                        <a:rPr b="1" lang="en-US" sz="1100">
                          <a:solidFill>
                            <a:srgbClr val="7B1C2E"/>
                          </a:solidFill>
                        </a:rPr>
                        <a:t>Llama Prompt Guard 2 (86M) y Llama Guard 3 (1B)</a:t>
                      </a:r>
                      <a:endParaRPr b="1" sz="1100">
                        <a:solidFill>
                          <a:srgbClr val="7B1C2E"/>
                        </a:solidFill>
                      </a:endParaRPr>
                    </a:p>
                  </a:txBody>
                  <a:tcPr marT="91425" marB="91425" marR="91425" marL="91425"/>
                </a:tc>
                <a:tc>
                  <a:txBody>
                    <a:bodyPr/>
                    <a:lstStyle/>
                    <a:p>
                      <a:pPr indent="0" lvl="0" marL="0" rtl="0" algn="l">
                        <a:spcBef>
                          <a:spcPts val="0"/>
                        </a:spcBef>
                        <a:spcAft>
                          <a:spcPts val="0"/>
                        </a:spcAft>
                        <a:buNone/>
                      </a:pPr>
                      <a:r>
                        <a:rPr lang="en-US" sz="1100">
                          <a:solidFill>
                            <a:srgbClr val="262626"/>
                          </a:solidFill>
                        </a:rPr>
                        <a:t>Fichas de modelo de Meta en Hugging Face.</a:t>
                      </a:r>
                      <a:endParaRPr sz="1100">
                        <a:solidFill>
                          <a:srgbClr val="262626"/>
                        </a:solidFill>
                      </a:endParaRPr>
                    </a:p>
                  </a:txBody>
                  <a:tcPr marT="91425" marB="91425" marR="91425" marL="91425"/>
                </a:tc>
              </a:tr>
              <a:tr h="380000">
                <a:tc>
                  <a:txBody>
                    <a:bodyPr/>
                    <a:lstStyle/>
                    <a:p>
                      <a:pPr indent="0" lvl="0" marL="0" rtl="0" algn="l">
                        <a:spcBef>
                          <a:spcPts val="0"/>
                        </a:spcBef>
                        <a:spcAft>
                          <a:spcPts val="0"/>
                        </a:spcAft>
                        <a:buNone/>
                      </a:pPr>
                      <a:r>
                        <a:rPr b="1" lang="en-US" sz="1100">
                          <a:solidFill>
                            <a:srgbClr val="7B1C2E"/>
                          </a:solidFill>
                        </a:rPr>
                        <a:t>Jev (clasificador; USD 0,042 por millón de tokens)</a:t>
                      </a:r>
                      <a:endParaRPr b="1" sz="1100">
                        <a:solidFill>
                          <a:srgbClr val="7B1C2E"/>
                        </a:solidFill>
                      </a:endParaRPr>
                    </a:p>
                  </a:txBody>
                  <a:tcPr marT="91425" marB="91425" marR="91425" marL="91425"/>
                </a:tc>
                <a:tc>
                  <a:txBody>
                    <a:bodyPr/>
                    <a:lstStyle/>
                    <a:p>
                      <a:pPr indent="0" lvl="0" marL="0" rtl="0" algn="l">
                        <a:spcBef>
                          <a:spcPts val="0"/>
                        </a:spcBef>
                        <a:spcAft>
                          <a:spcPts val="0"/>
                        </a:spcAft>
                        <a:buNone/>
                      </a:pPr>
                      <a:r>
                        <a:rPr lang="en-US" sz="1100">
                          <a:solidFill>
                            <a:srgbClr val="262626"/>
                          </a:solidFill>
                        </a:rPr>
                        <a:t>Documentación y tarifa publicadas por el fabricante (TypeSafe).</a:t>
                      </a:r>
                      <a:endParaRPr sz="1100">
                        <a:solidFill>
                          <a:srgbClr val="262626"/>
                        </a:solidFill>
                      </a:endParaRPr>
                    </a:p>
                  </a:txBody>
                  <a:tcPr marT="91425" marB="91425" marR="91425" marL="91425"/>
                </a:tc>
              </a:tr>
              <a:tr h="380000">
                <a:tc>
                  <a:txBody>
                    <a:bodyPr/>
                    <a:lstStyle/>
                    <a:p>
                      <a:pPr indent="0" lvl="0" marL="0" rtl="0" algn="l">
                        <a:spcBef>
                          <a:spcPts val="0"/>
                        </a:spcBef>
                        <a:spcAft>
                          <a:spcPts val="0"/>
                        </a:spcAft>
                        <a:buNone/>
                      </a:pPr>
                      <a:r>
                        <a:rPr b="1" lang="en-US" sz="1100">
                          <a:solidFill>
                            <a:srgbClr val="7B1C2E"/>
                          </a:solidFill>
                        </a:rPr>
                        <a:t>Estadística (Fisher exacto, intervalos de Wilson)</a:t>
                      </a:r>
                      <a:endParaRPr b="1" sz="1100">
                        <a:solidFill>
                          <a:srgbClr val="7B1C2E"/>
                        </a:solidFill>
                      </a:endParaRPr>
                    </a:p>
                  </a:txBody>
                  <a:tcPr marT="91425" marB="91425" marR="91425" marL="91425"/>
                </a:tc>
                <a:tc>
                  <a:txBody>
                    <a:bodyPr/>
                    <a:lstStyle/>
                    <a:p>
                      <a:pPr indent="0" lvl="0" marL="0" rtl="0" algn="l">
                        <a:spcBef>
                          <a:spcPts val="0"/>
                        </a:spcBef>
                        <a:spcAft>
                          <a:spcPts val="0"/>
                        </a:spcAft>
                        <a:buNone/>
                      </a:pPr>
                      <a:r>
                        <a:rPr lang="en-US" sz="1100">
                          <a:solidFill>
                            <a:srgbClr val="262626"/>
                          </a:solidFill>
                        </a:rPr>
                        <a:t>Métodos estándar; cálculos en analisis/ del repositorio.</a:t>
                      </a:r>
                      <a:endParaRPr sz="1100">
                        <a:solidFill>
                          <a:srgbClr val="262626"/>
                        </a:solidFill>
                      </a:endParaRPr>
                    </a:p>
                  </a:txBody>
                  <a:tcPr marT="91425" marB="91425" marR="91425" marL="91425"/>
                </a:tc>
              </a:tr>
              <a:tr h="380000">
                <a:tc>
                  <a:txBody>
                    <a:bodyPr/>
                    <a:lstStyle/>
                    <a:p>
                      <a:pPr indent="0" lvl="0" marL="0" rtl="0" algn="l">
                        <a:spcBef>
                          <a:spcPts val="0"/>
                        </a:spcBef>
                        <a:spcAft>
                          <a:spcPts val="0"/>
                        </a:spcAft>
                        <a:buNone/>
                      </a:pPr>
                      <a:r>
                        <a:rPr b="1" lang="en-US" sz="1100">
                          <a:solidFill>
                            <a:srgbClr val="7B1C2E"/>
                          </a:solidFill>
                        </a:rPr>
                        <a:t>Marco de riesgo (LLM01, LLM02, LLM07, LLM10)</a:t>
                      </a:r>
                      <a:endParaRPr b="1" sz="1100">
                        <a:solidFill>
                          <a:srgbClr val="7B1C2E"/>
                        </a:solidFill>
                      </a:endParaRPr>
                    </a:p>
                  </a:txBody>
                  <a:tcPr marT="91425" marB="91425" marR="91425" marL="91425"/>
                </a:tc>
                <a:tc>
                  <a:txBody>
                    <a:bodyPr/>
                    <a:lstStyle/>
                    <a:p>
                      <a:pPr indent="0" lvl="0" marL="0" rtl="0" algn="l">
                        <a:spcBef>
                          <a:spcPts val="0"/>
                        </a:spcBef>
                        <a:spcAft>
                          <a:spcPts val="0"/>
                        </a:spcAft>
                        <a:buNone/>
                      </a:pPr>
                      <a:r>
                        <a:rPr lang="en-US" sz="1100">
                          <a:solidFill>
                            <a:srgbClr val="262626"/>
                          </a:solidFill>
                        </a:rPr>
                        <a:t>OWASP GenAI Security Project, 2025, «OWASP Top 10 for LLM Applications 2025». genai.owasp.org/resource/owasp-top-10-for-llm-applications-2025</a:t>
                      </a:r>
                      <a:endParaRPr sz="1100">
                        <a:solidFill>
                          <a:srgbClr val="262626"/>
                        </a:solidFill>
                      </a:endParaRPr>
                    </a:p>
                  </a:txBody>
                  <a:tcPr marT="91425" marB="91425" marR="91425" marL="91425"/>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5" name="Shape 675"/>
        <p:cNvGrpSpPr/>
        <p:nvPr/>
      </p:nvGrpSpPr>
      <p:grpSpPr>
        <a:xfrm>
          <a:off x="0" y="0"/>
          <a:ext cx="0" cy="0"/>
          <a:chOff x="0" y="0"/>
          <a:chExt cx="0" cy="0"/>
        </a:xfrm>
      </p:grpSpPr>
      <p:sp>
        <p:nvSpPr>
          <p:cNvPr id="676" name="Google Shape;676;p33"/>
          <p:cNvSpPr/>
          <p:nvPr/>
        </p:nvSpPr>
        <p:spPr>
          <a:xfrm>
            <a:off x="6583680" y="1051560"/>
            <a:ext cx="5212200" cy="4160400"/>
          </a:xfrm>
          <a:prstGeom prst="roundRect">
            <a:avLst>
              <a:gd fmla="val 6000" name="adj"/>
            </a:avLst>
          </a:prstGeom>
          <a:solidFill>
            <a:srgbClr val="FFFFFF"/>
          </a:solidFill>
          <a:ln cap="flat" cmpd="sng" w="12700">
            <a:solidFill>
              <a:srgbClr val="D0D0D0"/>
            </a:solidFill>
            <a:prstDash val="solid"/>
            <a:miter lim="8000"/>
            <a:headEnd len="sm" w="sm" type="none"/>
            <a:tailEnd len="sm" w="sm" type="none"/>
          </a:ln>
        </p:spPr>
        <p:txBody>
          <a:bodyPr anchorCtr="0" anchor="ctr" bIns="36575" lIns="91425" spcFirstLastPara="1" rIns="91425" wrap="square" tIns="36575">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ronveil_v6_horizontal.png" id="677" name="Google Shape;677;p33"/>
          <p:cNvPicPr preferRelativeResize="0"/>
          <p:nvPr/>
        </p:nvPicPr>
        <p:blipFill rotWithShape="1">
          <a:blip r:embed="rId3">
            <a:alphaModFix/>
          </a:blip>
          <a:srcRect b="0" l="0" r="0" t="0"/>
          <a:stretch/>
        </p:blipFill>
        <p:spPr>
          <a:xfrm>
            <a:off x="6903720" y="1188720"/>
            <a:ext cx="4480559" cy="1737914"/>
          </a:xfrm>
          <a:prstGeom prst="rect">
            <a:avLst/>
          </a:prstGeom>
          <a:noFill/>
          <a:ln>
            <a:noFill/>
          </a:ln>
        </p:spPr>
      </p:pic>
      <p:sp>
        <p:nvSpPr>
          <p:cNvPr id="678" name="Google Shape;678;p33"/>
          <p:cNvSpPr/>
          <p:nvPr/>
        </p:nvSpPr>
        <p:spPr>
          <a:xfrm>
            <a:off x="6903720" y="3017520"/>
            <a:ext cx="4755000" cy="475500"/>
          </a:xfrm>
          <a:prstGeom prst="rect">
            <a:avLst/>
          </a:prstGeom>
          <a:solidFill>
            <a:srgbClr val="FFFFFF"/>
          </a:solidFill>
          <a:ln cap="flat" cmpd="sng" w="12700">
            <a:solidFill>
              <a:srgbClr val="D0D0D0"/>
            </a:solidFill>
            <a:prstDash val="solid"/>
            <a:miter lim="8000"/>
            <a:headEnd len="sm" w="sm" type="none"/>
            <a:tailEnd len="sm" w="sm" type="none"/>
          </a:ln>
        </p:spPr>
        <p:txBody>
          <a:bodyPr anchorCtr="0" anchor="ctr" bIns="36575" lIns="91425" spcFirstLastPara="1" rIns="91425" wrap="square" tIns="36575">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79" name="Google Shape;679;p33"/>
          <p:cNvSpPr/>
          <p:nvPr/>
        </p:nvSpPr>
        <p:spPr>
          <a:xfrm>
            <a:off x="6903720" y="3017520"/>
            <a:ext cx="73200" cy="475500"/>
          </a:xfrm>
          <a:prstGeom prst="rect">
            <a:avLst/>
          </a:prstGeom>
          <a:solidFill>
            <a:srgbClr val="7B1C2E"/>
          </a:solidFill>
          <a:ln>
            <a:noFill/>
          </a:ln>
        </p:spPr>
        <p:txBody>
          <a:bodyPr anchorCtr="0" anchor="ctr" bIns="36575" lIns="91425" spcFirstLastPara="1" rIns="91425" wrap="square" tIns="36575">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80" name="Google Shape;680;p33"/>
          <p:cNvSpPr txBox="1"/>
          <p:nvPr/>
        </p:nvSpPr>
        <p:spPr>
          <a:xfrm>
            <a:off x="7059168" y="3017520"/>
            <a:ext cx="4572000" cy="25590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1300" u="none" cap="none" strike="noStrike">
                <a:solidFill>
                  <a:srgbClr val="4A1020"/>
                </a:solidFill>
                <a:latin typeface="Calibri"/>
                <a:ea typeface="Calibri"/>
                <a:cs typeface="Calibri"/>
                <a:sym typeface="Calibri"/>
              </a:rPr>
              <a:t>Ana Gabriela Fiquitiva Poveda</a:t>
            </a:r>
            <a:endParaRPr/>
          </a:p>
        </p:txBody>
      </p:sp>
      <p:sp>
        <p:nvSpPr>
          <p:cNvPr id="681" name="Google Shape;681;p33"/>
          <p:cNvSpPr txBox="1"/>
          <p:nvPr/>
        </p:nvSpPr>
        <p:spPr>
          <a:xfrm>
            <a:off x="7059168" y="3255263"/>
            <a:ext cx="4572000" cy="22860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0" i="0" lang="en-US" sz="950" u="none" cap="none" strike="noStrike">
                <a:solidFill>
                  <a:srgbClr val="595959"/>
                </a:solidFill>
                <a:latin typeface="Calibri"/>
                <a:ea typeface="Calibri"/>
                <a:cs typeface="Calibri"/>
                <a:sym typeface="Calibri"/>
              </a:rPr>
              <a:t>Esquema de log, consolidación, tablas, gráficas e informe</a:t>
            </a:r>
            <a:endParaRPr/>
          </a:p>
        </p:txBody>
      </p:sp>
      <p:sp>
        <p:nvSpPr>
          <p:cNvPr id="682" name="Google Shape;682;p33"/>
          <p:cNvSpPr/>
          <p:nvPr/>
        </p:nvSpPr>
        <p:spPr>
          <a:xfrm>
            <a:off x="6903720" y="3547872"/>
            <a:ext cx="4755000" cy="475500"/>
          </a:xfrm>
          <a:prstGeom prst="rect">
            <a:avLst/>
          </a:prstGeom>
          <a:solidFill>
            <a:srgbClr val="FFFFFF"/>
          </a:solidFill>
          <a:ln cap="flat" cmpd="sng" w="12700">
            <a:solidFill>
              <a:srgbClr val="D0D0D0"/>
            </a:solidFill>
            <a:prstDash val="solid"/>
            <a:miter lim="8000"/>
            <a:headEnd len="sm" w="sm" type="none"/>
            <a:tailEnd len="sm" w="sm" type="none"/>
          </a:ln>
        </p:spPr>
        <p:txBody>
          <a:bodyPr anchorCtr="0" anchor="ctr" bIns="36575" lIns="91425" spcFirstLastPara="1" rIns="91425" wrap="square" tIns="36575">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83" name="Google Shape;683;p33"/>
          <p:cNvSpPr/>
          <p:nvPr/>
        </p:nvSpPr>
        <p:spPr>
          <a:xfrm>
            <a:off x="6903720" y="3547872"/>
            <a:ext cx="73200" cy="475500"/>
          </a:xfrm>
          <a:prstGeom prst="rect">
            <a:avLst/>
          </a:prstGeom>
          <a:solidFill>
            <a:srgbClr val="7B1C2E"/>
          </a:solidFill>
          <a:ln>
            <a:noFill/>
          </a:ln>
        </p:spPr>
        <p:txBody>
          <a:bodyPr anchorCtr="0" anchor="ctr" bIns="36575" lIns="91425" spcFirstLastPara="1" rIns="91425" wrap="square" tIns="36575">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84" name="Google Shape;684;p33"/>
          <p:cNvSpPr txBox="1"/>
          <p:nvPr/>
        </p:nvSpPr>
        <p:spPr>
          <a:xfrm>
            <a:off x="7059168" y="3547872"/>
            <a:ext cx="4572000" cy="25590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1300" u="none" cap="none" strike="noStrike">
                <a:solidFill>
                  <a:srgbClr val="4A1020"/>
                </a:solidFill>
                <a:latin typeface="Calibri"/>
                <a:ea typeface="Calibri"/>
                <a:cs typeface="Calibri"/>
                <a:sym typeface="Calibri"/>
              </a:rPr>
              <a:t>Anderson Fabian García Nieto</a:t>
            </a:r>
            <a:endParaRPr/>
          </a:p>
        </p:txBody>
      </p:sp>
      <p:sp>
        <p:nvSpPr>
          <p:cNvPr id="685" name="Google Shape;685;p33"/>
          <p:cNvSpPr txBox="1"/>
          <p:nvPr/>
        </p:nvSpPr>
        <p:spPr>
          <a:xfrm>
            <a:off x="7059168" y="3785615"/>
            <a:ext cx="4572000" cy="22860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0" i="0" lang="en-US" sz="950" u="none" cap="none" strike="noStrike">
                <a:solidFill>
                  <a:srgbClr val="595959"/>
                </a:solidFill>
                <a:latin typeface="Calibri"/>
                <a:ea typeface="Calibri"/>
                <a:cs typeface="Calibri"/>
                <a:sym typeface="Calibri"/>
              </a:rPr>
              <a:t>Infraestructura, filtrado, clasificación, mínimo privilegio, cola y costo</a:t>
            </a:r>
            <a:endParaRPr/>
          </a:p>
        </p:txBody>
      </p:sp>
      <p:sp>
        <p:nvSpPr>
          <p:cNvPr id="686" name="Google Shape;686;p33"/>
          <p:cNvSpPr/>
          <p:nvPr/>
        </p:nvSpPr>
        <p:spPr>
          <a:xfrm>
            <a:off x="6903720" y="4078224"/>
            <a:ext cx="4755000" cy="475500"/>
          </a:xfrm>
          <a:prstGeom prst="rect">
            <a:avLst/>
          </a:prstGeom>
          <a:solidFill>
            <a:srgbClr val="FFFFFF"/>
          </a:solidFill>
          <a:ln cap="flat" cmpd="sng" w="12700">
            <a:solidFill>
              <a:srgbClr val="D0D0D0"/>
            </a:solidFill>
            <a:prstDash val="solid"/>
            <a:miter lim="8000"/>
            <a:headEnd len="sm" w="sm" type="none"/>
            <a:tailEnd len="sm" w="sm" type="none"/>
          </a:ln>
        </p:spPr>
        <p:txBody>
          <a:bodyPr anchorCtr="0" anchor="ctr" bIns="36575" lIns="91425" spcFirstLastPara="1" rIns="91425" wrap="square" tIns="36575">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87" name="Google Shape;687;p33"/>
          <p:cNvSpPr/>
          <p:nvPr/>
        </p:nvSpPr>
        <p:spPr>
          <a:xfrm>
            <a:off x="6903720" y="4078224"/>
            <a:ext cx="73200" cy="475500"/>
          </a:xfrm>
          <a:prstGeom prst="rect">
            <a:avLst/>
          </a:prstGeom>
          <a:solidFill>
            <a:srgbClr val="7B1C2E"/>
          </a:solidFill>
          <a:ln>
            <a:noFill/>
          </a:ln>
        </p:spPr>
        <p:txBody>
          <a:bodyPr anchorCtr="0" anchor="ctr" bIns="36575" lIns="91425" spcFirstLastPara="1" rIns="91425" wrap="square" tIns="36575">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88" name="Google Shape;688;p33"/>
          <p:cNvSpPr txBox="1"/>
          <p:nvPr/>
        </p:nvSpPr>
        <p:spPr>
          <a:xfrm>
            <a:off x="7059168" y="4078224"/>
            <a:ext cx="4572000" cy="25590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1300" u="none" cap="none" strike="noStrike">
                <a:solidFill>
                  <a:srgbClr val="4A1020"/>
                </a:solidFill>
                <a:latin typeface="Calibri"/>
                <a:ea typeface="Calibri"/>
                <a:cs typeface="Calibri"/>
                <a:sym typeface="Calibri"/>
              </a:rPr>
              <a:t>Andrés Felipe Sabogal Wilches</a:t>
            </a:r>
            <a:endParaRPr/>
          </a:p>
        </p:txBody>
      </p:sp>
      <p:sp>
        <p:nvSpPr>
          <p:cNvPr id="689" name="Google Shape;689;p33"/>
          <p:cNvSpPr txBox="1"/>
          <p:nvPr/>
        </p:nvSpPr>
        <p:spPr>
          <a:xfrm>
            <a:off x="7059168" y="4315968"/>
            <a:ext cx="4572000" cy="22860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0" i="0" lang="en-US" sz="950" u="none" cap="none" strike="noStrike">
                <a:solidFill>
                  <a:srgbClr val="595959"/>
                </a:solidFill>
                <a:latin typeface="Calibri"/>
                <a:ea typeface="Calibri"/>
                <a:cs typeface="Calibri"/>
                <a:sym typeface="Calibri"/>
              </a:rPr>
              <a:t>Ejecución de los vectores de ataque y resultados crudos</a:t>
            </a:r>
            <a:endParaRPr/>
          </a:p>
        </p:txBody>
      </p:sp>
      <p:sp>
        <p:nvSpPr>
          <p:cNvPr id="690" name="Google Shape;690;p33"/>
          <p:cNvSpPr/>
          <p:nvPr/>
        </p:nvSpPr>
        <p:spPr>
          <a:xfrm>
            <a:off x="6903720" y="4608575"/>
            <a:ext cx="4755000" cy="475500"/>
          </a:xfrm>
          <a:prstGeom prst="rect">
            <a:avLst/>
          </a:prstGeom>
          <a:solidFill>
            <a:srgbClr val="FFFFFF"/>
          </a:solidFill>
          <a:ln cap="flat" cmpd="sng" w="12700">
            <a:solidFill>
              <a:srgbClr val="D0D0D0"/>
            </a:solidFill>
            <a:prstDash val="solid"/>
            <a:miter lim="8000"/>
            <a:headEnd len="sm" w="sm" type="none"/>
            <a:tailEnd len="sm" w="sm" type="none"/>
          </a:ln>
        </p:spPr>
        <p:txBody>
          <a:bodyPr anchorCtr="0" anchor="ctr" bIns="36575" lIns="91425" spcFirstLastPara="1" rIns="91425" wrap="square" tIns="36575">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91" name="Google Shape;691;p33"/>
          <p:cNvSpPr/>
          <p:nvPr/>
        </p:nvSpPr>
        <p:spPr>
          <a:xfrm>
            <a:off x="6903720" y="4608575"/>
            <a:ext cx="73200" cy="475500"/>
          </a:xfrm>
          <a:prstGeom prst="rect">
            <a:avLst/>
          </a:prstGeom>
          <a:solidFill>
            <a:srgbClr val="7B1C2E"/>
          </a:solidFill>
          <a:ln>
            <a:noFill/>
          </a:ln>
        </p:spPr>
        <p:txBody>
          <a:bodyPr anchorCtr="0" anchor="ctr" bIns="36575" lIns="91425" spcFirstLastPara="1" rIns="91425" wrap="square" tIns="36575">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92" name="Google Shape;692;p33"/>
          <p:cNvSpPr txBox="1"/>
          <p:nvPr/>
        </p:nvSpPr>
        <p:spPr>
          <a:xfrm>
            <a:off x="7059168" y="4608575"/>
            <a:ext cx="4572000" cy="25590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1300" u="none" cap="none" strike="noStrike">
                <a:solidFill>
                  <a:srgbClr val="4A1020"/>
                </a:solidFill>
                <a:latin typeface="Calibri"/>
                <a:ea typeface="Calibri"/>
                <a:cs typeface="Calibri"/>
                <a:sym typeface="Calibri"/>
              </a:rPr>
              <a:t>Carlos Mario Piedrahita Arango</a:t>
            </a:r>
            <a:endParaRPr/>
          </a:p>
        </p:txBody>
      </p:sp>
      <p:sp>
        <p:nvSpPr>
          <p:cNvPr id="693" name="Google Shape;693;p33"/>
          <p:cNvSpPr txBox="1"/>
          <p:nvPr/>
        </p:nvSpPr>
        <p:spPr>
          <a:xfrm>
            <a:off x="7059168" y="4846319"/>
            <a:ext cx="4572000" cy="22860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0" i="0" lang="en-US" sz="950" u="none" cap="none" strike="noStrike">
                <a:solidFill>
                  <a:srgbClr val="595959"/>
                </a:solidFill>
                <a:latin typeface="Calibri"/>
                <a:ea typeface="Calibri"/>
                <a:cs typeface="Calibri"/>
                <a:sym typeface="Calibri"/>
              </a:rPr>
              <a:t>Configuración, delimitación, cableado, aprobación, integración y SIEM</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8" name="Shape 698"/>
        <p:cNvGrpSpPr/>
        <p:nvPr/>
      </p:nvGrpSpPr>
      <p:grpSpPr>
        <a:xfrm>
          <a:off x="0" y="0"/>
          <a:ext cx="0" cy="0"/>
          <a:chOff x="0" y="0"/>
          <a:chExt cx="0" cy="0"/>
        </a:xfrm>
      </p:grpSpPr>
      <p:sp>
        <p:nvSpPr>
          <p:cNvPr id="699" name="Google Shape;699;p34"/>
          <p:cNvSpPr txBox="1"/>
          <p:nvPr>
            <p:ph type="title"/>
          </p:nvPr>
        </p:nvSpPr>
        <p:spPr>
          <a:xfrm>
            <a:off x="1371600" y="457200"/>
            <a:ext cx="8869800" cy="6402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4A1020"/>
              </a:buClr>
              <a:buSzPts val="2800"/>
              <a:buFont typeface="Calibri"/>
              <a:buNone/>
            </a:pPr>
            <a:r>
              <a:rPr lang="en-US" sz="2800">
                <a:solidFill>
                  <a:srgbClr val="4A1020"/>
                </a:solidFill>
              </a:rPr>
              <a:t>Anexo · Arquitectura ampliada</a:t>
            </a:r>
            <a:endParaRPr/>
          </a:p>
        </p:txBody>
      </p:sp>
      <p:pic>
        <p:nvPicPr>
          <p:cNvPr descr="ironveil_v6.png" id="700" name="Google Shape;700;p34"/>
          <p:cNvPicPr preferRelativeResize="0"/>
          <p:nvPr/>
        </p:nvPicPr>
        <p:blipFill rotWithShape="1">
          <a:blip r:embed="rId3">
            <a:alphaModFix/>
          </a:blip>
          <a:srcRect b="0" l="0" r="0" t="0"/>
          <a:stretch/>
        </p:blipFill>
        <p:spPr>
          <a:xfrm>
            <a:off x="502920" y="274320"/>
            <a:ext cx="822961" cy="822961"/>
          </a:xfrm>
          <a:prstGeom prst="rect">
            <a:avLst/>
          </a:prstGeom>
          <a:noFill/>
          <a:ln>
            <a:noFill/>
          </a:ln>
        </p:spPr>
      </p:pic>
      <p:sp>
        <p:nvSpPr>
          <p:cNvPr id="701" name="Google Shape;701;p34"/>
          <p:cNvSpPr txBox="1"/>
          <p:nvPr/>
        </p:nvSpPr>
        <p:spPr>
          <a:xfrm>
            <a:off x="1371600" y="246888"/>
            <a:ext cx="8229600" cy="224700"/>
          </a:xfrm>
          <a:prstGeom prst="rect">
            <a:avLst/>
          </a:prstGeom>
          <a:noFill/>
          <a:ln>
            <a:noFill/>
          </a:ln>
        </p:spPr>
        <p:txBody>
          <a:bodyPr anchorCtr="0" anchor="t" bIns="27425" lIns="45700" spcFirstLastPara="1" rIns="45700" wrap="square" tIns="27425">
            <a:noAutofit/>
          </a:bodyPr>
          <a:lstStyle/>
          <a:p>
            <a:pPr indent="0" lvl="0" marL="0" marR="0" rtl="0" algn="l">
              <a:spcBef>
                <a:spcPts val="0"/>
              </a:spcBef>
              <a:spcAft>
                <a:spcPts val="0"/>
              </a:spcAft>
              <a:buNone/>
            </a:pPr>
            <a:r>
              <a:rPr b="1" lang="en-US" sz="1100">
                <a:solidFill>
                  <a:srgbClr val="7B1C2E"/>
                </a:solidFill>
                <a:latin typeface="Calibri"/>
                <a:ea typeface="Calibri"/>
                <a:cs typeface="Calibri"/>
                <a:sym typeface="Calibri"/>
              </a:rPr>
              <a:t>ANEXO · EXTENSIONES OPCIONALES</a:t>
            </a:r>
            <a:endParaRPr/>
          </a:p>
        </p:txBody>
      </p:sp>
      <p:cxnSp>
        <p:nvCxnSpPr>
          <p:cNvPr id="702" name="Google Shape;702;p34"/>
          <p:cNvCxnSpPr/>
          <p:nvPr/>
        </p:nvCxnSpPr>
        <p:spPr>
          <a:xfrm>
            <a:off x="548640" y="1188720"/>
            <a:ext cx="11091600" cy="0"/>
          </a:xfrm>
          <a:prstGeom prst="straightConnector1">
            <a:avLst/>
          </a:prstGeom>
          <a:noFill/>
          <a:ln cap="flat" cmpd="sng" w="25400">
            <a:solidFill>
              <a:srgbClr val="7B1C2E"/>
            </a:solidFill>
            <a:prstDash val="solid"/>
            <a:miter lim="8000"/>
            <a:headEnd len="sm" w="sm" type="none"/>
            <a:tailEnd len="sm" w="sm" type="none"/>
          </a:ln>
        </p:spPr>
      </p:cxnSp>
      <p:sp>
        <p:nvSpPr>
          <p:cNvPr id="703" name="Google Shape;703;p34"/>
          <p:cNvSpPr/>
          <p:nvPr/>
        </p:nvSpPr>
        <p:spPr>
          <a:xfrm>
            <a:off x="0" y="6510528"/>
            <a:ext cx="12191700" cy="347400"/>
          </a:xfrm>
          <a:prstGeom prst="rect">
            <a:avLst/>
          </a:prstGeom>
          <a:solidFill>
            <a:srgbClr val="7B1C2E"/>
          </a:solidFill>
          <a:ln>
            <a:noFill/>
          </a:ln>
        </p:spPr>
        <p:txBody>
          <a:bodyPr anchorCtr="0" anchor="ctr" bIns="36575" lIns="91425" spcFirstLastPara="1" rIns="91425" wrap="square" tIns="36575">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ronveil_v6_inv.png" id="704" name="Google Shape;704;p34"/>
          <p:cNvPicPr preferRelativeResize="0"/>
          <p:nvPr/>
        </p:nvPicPr>
        <p:blipFill rotWithShape="1">
          <a:blip r:embed="rId4">
            <a:alphaModFix/>
          </a:blip>
          <a:srcRect b="0" l="0" r="0" t="0"/>
          <a:stretch/>
        </p:blipFill>
        <p:spPr>
          <a:xfrm>
            <a:off x="457200" y="6537960"/>
            <a:ext cx="292608" cy="292608"/>
          </a:xfrm>
          <a:prstGeom prst="rect">
            <a:avLst/>
          </a:prstGeom>
          <a:noFill/>
          <a:ln>
            <a:noFill/>
          </a:ln>
        </p:spPr>
      </p:pic>
      <p:sp>
        <p:nvSpPr>
          <p:cNvPr id="705" name="Google Shape;705;p34"/>
          <p:cNvSpPr txBox="1"/>
          <p:nvPr/>
        </p:nvSpPr>
        <p:spPr>
          <a:xfrm>
            <a:off x="822960" y="6528816"/>
            <a:ext cx="5486400" cy="216900"/>
          </a:xfrm>
          <a:prstGeom prst="rect">
            <a:avLst/>
          </a:prstGeom>
          <a:noFill/>
          <a:ln>
            <a:noFill/>
          </a:ln>
        </p:spPr>
        <p:txBody>
          <a:bodyPr anchorCtr="0" anchor="ctr" bIns="27425" lIns="45700" spcFirstLastPara="1" rIns="45700" wrap="square" tIns="27425">
            <a:noAutofit/>
          </a:bodyPr>
          <a:lstStyle/>
          <a:p>
            <a:pPr indent="0" lvl="0" marL="0" marR="0" rtl="0" algn="l">
              <a:spcBef>
                <a:spcPts val="0"/>
              </a:spcBef>
              <a:spcAft>
                <a:spcPts val="0"/>
              </a:spcAft>
              <a:buNone/>
            </a:pPr>
            <a:r>
              <a:rPr b="1" lang="en-US" sz="1050">
                <a:solidFill>
                  <a:srgbClr val="F2F2F2"/>
                </a:solidFill>
                <a:latin typeface="Calibri"/>
                <a:ea typeface="Calibri"/>
                <a:cs typeface="Calibri"/>
                <a:sym typeface="Calibri"/>
              </a:rPr>
              <a:t>IronVeil · Framework de defensa para LLMs autoalojados</a:t>
            </a:r>
            <a:endParaRPr/>
          </a:p>
        </p:txBody>
      </p:sp>
      <p:sp>
        <p:nvSpPr>
          <p:cNvPr id="706" name="Google Shape;706;p34"/>
          <p:cNvSpPr txBox="1"/>
          <p:nvPr/>
        </p:nvSpPr>
        <p:spPr>
          <a:xfrm>
            <a:off x="6217920" y="6528816"/>
            <a:ext cx="5303400" cy="216900"/>
          </a:xfrm>
          <a:prstGeom prst="rect">
            <a:avLst/>
          </a:prstGeom>
          <a:noFill/>
          <a:ln>
            <a:noFill/>
          </a:ln>
        </p:spPr>
        <p:txBody>
          <a:bodyPr anchorCtr="0" anchor="ctr" bIns="27425" lIns="45700" spcFirstLastPara="1" rIns="45700" wrap="square" tIns="27425">
            <a:spAutoFit/>
          </a:bodyPr>
          <a:lstStyle/>
          <a:p>
            <a:pPr indent="0" lvl="0" marL="0" marR="0" rtl="0" algn="r">
              <a:spcBef>
                <a:spcPts val="0"/>
              </a:spcBef>
              <a:spcAft>
                <a:spcPts val="0"/>
              </a:spcAft>
              <a:buNone/>
            </a:pPr>
            <a:r>
              <a:rPr b="0" i="0" lang="en-US" sz="1050" u="none" cap="none" strike="noStrike">
                <a:solidFill>
                  <a:srgbClr val="D9D9D9"/>
                </a:solidFill>
                <a:latin typeface="Calibri"/>
                <a:ea typeface="Calibri"/>
                <a:cs typeface="Calibri"/>
                <a:sym typeface="Calibri"/>
              </a:rPr>
              <a:t>Escuela Colombiana de Ingeniería Julio Garavito · 2026</a:t>
            </a:r>
            <a:endParaRPr/>
          </a:p>
        </p:txBody>
      </p:sp>
      <p:sp>
        <p:nvSpPr>
          <p:cNvPr id="707" name="Google Shape;707;p34"/>
          <p:cNvSpPr txBox="1"/>
          <p:nvPr/>
        </p:nvSpPr>
        <p:spPr>
          <a:xfrm>
            <a:off x="11475720" y="6528816"/>
            <a:ext cx="548700" cy="224700"/>
          </a:xfrm>
          <a:prstGeom prst="rect">
            <a:avLst/>
          </a:prstGeom>
          <a:noFill/>
          <a:ln>
            <a:noFill/>
          </a:ln>
        </p:spPr>
        <p:txBody>
          <a:bodyPr anchorCtr="0" anchor="ctr" bIns="27425" lIns="45700" spcFirstLastPara="1" rIns="45700" wrap="square" tIns="27425">
            <a:noAutofit/>
          </a:bodyPr>
          <a:lstStyle/>
          <a:p>
            <a:pPr indent="0" lvl="0" marL="0" marR="0" rtl="0" algn="r">
              <a:spcBef>
                <a:spcPts val="0"/>
              </a:spcBef>
              <a:spcAft>
                <a:spcPts val="0"/>
              </a:spcAft>
              <a:buNone/>
            </a:pPr>
            <a:r>
              <a:rPr lang="en-US"/>
              <a:t>A</a:t>
            </a:r>
            <a:endParaRPr/>
          </a:p>
        </p:txBody>
      </p:sp>
      <p:pic>
        <p:nvPicPr>
          <p:cNvPr id="708" name="Google Shape;708;p34" title="arquitectura-animada.gif"/>
          <p:cNvPicPr preferRelativeResize="0"/>
          <p:nvPr/>
        </p:nvPicPr>
        <p:blipFill>
          <a:blip r:embed="rId5">
            <a:alphaModFix/>
          </a:blip>
          <a:stretch>
            <a:fillRect/>
          </a:stretch>
        </p:blipFill>
        <p:spPr>
          <a:xfrm>
            <a:off x="1298675" y="1281950"/>
            <a:ext cx="9591550" cy="5137188"/>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6616A0415F2466438F9962867B11602B" ma:contentTypeVersion="8" ma:contentTypeDescription="Crear nuevo documento." ma:contentTypeScope="" ma:versionID="2b6f28a7052d91f378532c4b21b19055">
  <xsd:schema xmlns:xsd="http://www.w3.org/2001/XMLSchema" xmlns:xs="http://www.w3.org/2001/XMLSchema" xmlns:p="http://schemas.microsoft.com/office/2006/metadata/properties" xmlns:ns2="160df1fa-d3ad-4496-8f4f-3dca94bf9f88" targetNamespace="http://schemas.microsoft.com/office/2006/metadata/properties" ma:root="true" ma:fieldsID="4db4df75ff58288254352e3f540c39c8" ns2:_="">
    <xsd:import namespace="160df1fa-d3ad-4496-8f4f-3dca94bf9f88"/>
    <xsd:element name="properties">
      <xsd:complexType>
        <xsd:sequence>
          <xsd:element name="documentManagement">
            <xsd:complexType>
              <xsd:all>
                <xsd:element ref="ns2:ReferenceId" minOccurs="0"/>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60df1fa-d3ad-4496-8f4f-3dca94bf9f88" elementFormDefault="qualified">
    <xsd:import namespace="http://schemas.microsoft.com/office/2006/documentManagement/types"/>
    <xsd:import namespace="http://schemas.microsoft.com/office/infopath/2007/PartnerControls"/>
    <xsd:element name="ReferenceId" ma:index="8" nillable="true" ma:displayName="ReferenceId" ma:indexed="true" ma:internalName="ReferenceId">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ReferenceId xmlns="160df1fa-d3ad-4496-8f4f-3dca94bf9f88" xsi:nil="true"/>
  </documentManagement>
</p:properties>
</file>

<file path=customXml/itemProps1.xml><?xml version="1.0" encoding="utf-8"?>
<ds:datastoreItem xmlns:ds="http://schemas.openxmlformats.org/officeDocument/2006/customXml" ds:itemID="{07D98A8B-D674-4D04-8136-0012AE06585C}"/>
</file>

<file path=customXml/itemProps2.xml><?xml version="1.0" encoding="utf-8"?>
<ds:datastoreItem xmlns:ds="http://schemas.openxmlformats.org/officeDocument/2006/customXml" ds:itemID="{2635323C-4EA3-416D-AD3E-31A667E6E334}"/>
</file>

<file path=customXml/itemProps3.xml><?xml version="1.0" encoding="utf-8"?>
<ds:datastoreItem xmlns:ds="http://schemas.openxmlformats.org/officeDocument/2006/customXml" ds:itemID="{E5677E7B-4D8B-43B9-85E0-5EB4A984ADE9}"/>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0x0101006616A0415F2466438F9962867B11602B</vt:lpwstr>
  </property>
</Properties>
</file>